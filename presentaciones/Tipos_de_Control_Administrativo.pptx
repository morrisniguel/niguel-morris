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755b1107-f145-89b2-f636-ef687e15911e}">
          <p14:sldIdLst>
            <p14:sldId id="256"/>
          </p14:sldIdLst>
        </p14:section>
        <p14:section name="Introducción" id="{03075dcc-299a-530f-b875-8fd737d86a39}">
          <p14:sldIdLst>
            <p14:sldId id="257"/>
            <p14:sldId id="258"/>
          </p14:sldIdLst>
        </p14:section>
        <p14:section name="Estándares de desempeño" id="{5f960c0b-d596-87e1-72e5-4780e9e35309}">
          <p14:sldIdLst>
            <p14:sldId id="259"/>
            <p14:sldId id="260"/>
            <p14:sldId id="261"/>
          </p14:sldIdLst>
        </p14:section>
        <p14:section name="Técnicas de planificación" id="{780d57f0-18ff-cf89-e7c1-af1e189e58f8}">
          <p14:sldIdLst>
            <p14:sldId id="262"/>
          </p14:sldIdLst>
        </p14:section>
        <p14:section name="Benchmarking" id="{59efe9b0-d575-a8a7-3917-5fc723bf6c1a}">
          <p14:sldIdLst>
            <p14:sldId id="263"/>
            <p14:sldId id="264"/>
          </p14:sldIdLst>
        </p14:section>
        <p14:section name="Diagrama de Gantt" id="{a6e93279-9b3b-edde-7be2-78e17a07298d}">
          <p14:sldIdLst>
            <p14:sldId id="265"/>
            <p14:sldId id="266"/>
          </p14:sldIdLst>
        </p14:section>
        <p14:section name="Técnica PERT" id="{bfa4d86f-49b0-171c-b0e8-26c2951b05e2}">
          <p14:sldIdLst>
            <p14:sldId id="267"/>
            <p14:sldId id="268"/>
            <p14:sldId id="269"/>
            <p14:sldId id="270"/>
            <p14:sldId id="271"/>
            <p14:sldId id="272"/>
            <p14:sldId id="273"/>
          </p14:sldIdLst>
        </p14:section>
        <p14:section name="Método de la ruta crítica" id="{41108fcb-322e-5dc6-e64d-d0acf4495445}">
          <p14:sldIdLst>
            <p14:sldId id="274"/>
            <p14:sldId id="275"/>
            <p14:sldId id="276"/>
          </p14:sldIdLst>
        </p14:section>
        <p14:section name="Conclusión" id="{7229924f-6fd6-3f9b-729f-c38e9290c9ff}">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grupo y del tema. Cada integrante presenta su sección.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control no es un final sino un mecanismo de retroalimentación constante. Robbins y Coulter (2018): monitorear, comparar con lo planificado y corregir. Koontz et al. (2017): planificación y control son inseparables; muchas herramientas de planificación sirven también para controlar.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la presentación y quién presenta cada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proceso de control tiene tres pasos: medir el desempeño real, compararlo contra un estándar y tomar acción gerencial. De estos, el estándar es el punto de 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Chiavenato (2014): cantidad, calidad, tiempo y costo. Características: medible, alcanzable y alineado con los objetivos. Koontz et al. (2017): como no se puede vigilar todo, se seleccionan puntos críticos de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las organizaciones modernas los estándares se expresan con KPI. Ejemplo: resolver cada llamada en un promedio de seis minutos y mantener la satisfacción sobre 90 %. Se define un rango aceptable; fuera de él se corrige el desempeño o se ajusta el estándar.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técnicas de planificación generan, de manera natural, los criterios para medir el avance. Hay técnicas orientadas al entorno, como el benchmarking, y orientadas a la programación, como Gantt, PERT y ruta crítica. Juntas convierten la planificación en un plan concreto que se puede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 (1989) documentó la experiencia pionera de Xerox: el benchmarking es la búsqueda de las mejores prácticas de la industria que conducen a un desempeño superior. Tipos: interno, competitivo, funcional y genérico.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herramienta de control, el benchmarking evita que la organización se conforme con superar su propio desempeño pasado cuando el mercado exige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Henry L. Gantt lo desarrolló a principios del siglo XX y Clark (1922) lo difundió. Al marcar el avance real sobre las barras, el gerente ve qué va adelantado, a tiempo o atrasado. Ejemplo: permisos semanas 1-2, voluntarios 2-4, promoción 4-7 y la feria en la semana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 las técnicas de redes (Kerzner,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 surgió en 1958 en la Oficina de Proyectos Especiales de la Marina, con Booz Allen Hamilton y Lockheed, para el programa Polaris. Se diseñó para proyectos con alta incertidumbre. Hoy se usa en cualquier proyecto con inicio y final definidos, actividades interdependientes y fechas de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red es un diagrama de flujo con la secuencia de actividades y su tiempo o costo. A veces se usan actividades ficticias, que no consumen tiempo, para representar una dependencia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fórmula le da cuatro veces más peso al tiempo más probable, pero toma en cuenta los extremos. Supone una distribución beta: es más fácil atrasarse que adelantarse. Cálculo en vivo: (4 + 24 + 14) / 6 =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sumar los tiempos esperados de la ruta crítica se obtienen 20 semanas; la varianza total es 4, así que la desviación estándar es 2. Si el grupo se hubiera guiado solo por los tiempos más probables, habría calculado 17 semanas (2 + 3 + 4 + 8).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duración total se asume aproximadamente normal. Con estos datos el gerente puede negociar plazos realistas, justificar recursos o advertir a tiempo que una fecha tiene poca probabilidad de cumplirse.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 compara el avance real contra la red planificada. El gerente concentra su atención en las actividades que determinan el calendario. Cada vez que se completa una actividad, la red se actualiza con los tiempos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 con estas limitaciones, PERT sigue siendo valiosa para proyectos complejos con incertidumbre y es la base de muchas prácticas modernas de administración de proyectos.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diferencia de PERT, CPM trabaja con un solo estimado de tiempo por actividad, porque se aplica cuando hay experiencia previa y las duraciones son relativamente conocidas.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calculan el inicio y la terminación más tempranos (recorrido hacia adelante) y más tardíos (hacia atrás). La diferencia es la holgura. En el ejemplo, la ruta A-B-D-E suma 15 días y la A-C-E suma 8. La actividad C puede retrasarse hasta una semana sin afectar la fecha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CPM permite analizar la relación entre tiempo y costo mediante la técnica de compresión.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integrador del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286000"/>
            <a:ext cx="8046720" cy="45720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
        <p:nvSpPr>
          <p:cNvPr id="4" name="Text 0"/>
          <p:cNvSpPr/>
          <p:nvPr>
            <p:ph idx="102" type="body" hasCustomPrompt="1"/>
          </p:nvPr>
        </p:nvSpPr>
        <p:spPr>
          <a:xfrm>
            <a:off x="548640" y="3063240"/>
            <a:ext cx="8046720" cy="1554480"/>
          </a:xfrm>
          <a:prstGeom prst="rect">
            <a:avLst/>
          </a:prstGeom>
          <a:noFill/>
          <a:ln/>
        </p:spPr>
        <p:txBody>
          <a:bodyPr wrap="square" rtlCol="0"/>
          <a:lstStyle>
            <a:lvl1pPr indent="0" marL="0">
              <a:buNone/>
              <a:defRPr lang="en-US" sz="1300" dirty="0">
                <a:solidFill>
                  <a:schemeClr val="bg2"/>
                </a:solidFill>
              </a:defRPr>
            </a:lvl1pPr>
          </a:lstStyle>
          <a:p>
            <a:pPr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rtlCol="0"/>
          <a:lstStyle>
            <a:lvl1pPr indent="0" marL="0">
              <a:buNone/>
              <a:defRPr lang="en-US" sz="1100" i="1" dirty="0">
                <a:solidFill>
                  <a:schemeClr val="accent4"/>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Tipos de Control Administrativo</a:t>
            </a:r>
            <a:endParaRPr lang="en-US" sz="4000" dirty="0"/>
          </a:p>
        </p:txBody>
      </p:sp>
      <p:sp>
        <p:nvSpPr>
          <p:cNvPr id="3" name="Text 0"/>
          <p:cNvSpPr/>
          <p:nvPr>
            <p:ph idx="101" type="body" hasCustomPrompt="1"/>
          </p:nvPr>
        </p:nvSpPr>
        <p:spPr>
          <a:xfrm>
            <a:off x="548640" y="2286000"/>
            <a:ext cx="8046720" cy="457200"/>
          </a:xfrm>
          <a:prstGeom prst="rect">
            <a:avLst/>
          </a:prstGeom>
          <a:noFill/>
          <a:ln/>
        </p:spPr>
        <p:txBody>
          <a:bodyPr wrap="square" lIns="0" tIns="0" rIns="0" bIns="0" rtlCol="0"/>
          <a:lstStyle/>
          <a:p>
            <a:pPr indent="0" marL="0">
              <a:buNone/>
            </a:pPr>
            <a:r>
              <a:rPr lang="en-US" sz="1800" dirty="0">
                <a:solidFill>
                  <a:schemeClr val="accent2"/>
                </a:solidFill>
              </a:rPr>
              <a:t>Estándares, benchmarking, Gantt, PERT y ruta crítica</a:t>
            </a:r>
            <a:endParaRPr lang="en-US" sz="1800" dirty="0"/>
          </a:p>
        </p:txBody>
      </p:sp>
      <p:sp>
        <p:nvSpPr>
          <p:cNvPr id="4" name="Text 0"/>
          <p:cNvSpPr/>
          <p:nvPr>
            <p:ph idx="102" type="body" hasCustomPrompt="1"/>
          </p:nvPr>
        </p:nvSpPr>
        <p:spPr>
          <a:xfrm>
            <a:off x="548640" y="3063240"/>
            <a:ext cx="8046720" cy="1554480"/>
          </a:xfrm>
          <a:prstGeom prst="rect">
            <a:avLst/>
          </a:prstGeom>
          <a:noFill/>
          <a:ln/>
        </p:spPr>
        <p:txBody>
          <a:bodyPr wrap="square" lIns="0" tIns="0" rIns="0" bIns="0" rtlCol="0" anchor="t"/>
          <a:lstStyle/>
          <a:p>
            <a:pPr indent="0" marL="0">
              <a:buNone/>
            </a:pPr>
            <a:r>
              <a:rPr lang="en-US" sz="1300" b="1" dirty="0">
                <a:solidFill>
                  <a:schemeClr val="bg2"/>
                </a:solidFill>
              </a:rPr>
              <a:t>Alayla Arbonies · Suheil Collazo · Yadiel Cruz · Niguel Morris-Santiago · Suheily Ramos · Joan Rios</a:t>
            </a:r>
            <a:endParaRPr lang="en-US" sz="1300" dirty="0"/>
          </a:p>
          <a:p>
            <a:pPr indent="0" marL="0">
              <a:buNone/>
            </a:pPr>
            <a:r>
              <a:rPr lang="en-US" sz="800" dirty="0">
                <a:solidFill>
                  <a:schemeClr val="bg2"/>
                </a:solidFill>
              </a:rPr>
              <a:t> </a:t>
            </a:r>
            <a:endParaRPr lang="en-US" sz="1300" dirty="0"/>
          </a:p>
          <a:p>
            <a:pPr indent="0" marL="0">
              <a:buNone/>
            </a:pPr>
            <a:r>
              <a:rPr lang="en-US" sz="1300" dirty="0">
                <a:solidFill>
                  <a:schemeClr val="bg2"/>
                </a:solidFill>
              </a:rPr>
              <a:t>Universidad Ana G. Méndez, Recinto de Cupey</a:t>
            </a:r>
            <a:endParaRPr lang="en-US" sz="1300" dirty="0"/>
          </a:p>
          <a:p>
            <a:pPr indent="0" marL="0">
              <a:buNone/>
            </a:pPr>
            <a:r>
              <a:rPr lang="en-US" sz="1300" dirty="0">
                <a:solidFill>
                  <a:schemeClr val="bg2"/>
                </a:solidFill>
              </a:rPr>
              <a:t>MANA 210 CRN 22460 · Prof. René Berríos</a:t>
            </a:r>
            <a:endParaRPr lang="en-US" sz="1300" dirty="0"/>
          </a:p>
          <a:p>
            <a:pPr indent="0" marL="0">
              <a:buNone/>
            </a:pPr>
            <a:r>
              <a:rPr lang="en-US" sz="1300" dirty="0">
                <a:solidFill>
                  <a:schemeClr val="bg2"/>
                </a:solidFill>
              </a:rPr>
              <a:t>26 de octubre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El control cierra el ciclo administrativo</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Introducción · Robbins y Coulter (2018); Koontz et al. (2017)</a:t>
            </a:r>
            <a:endParaRPr lang="en-US" sz="1100" dirty="0"/>
          </a:p>
        </p:txBody>
      </p:sp>
      <p:sp>
        <p:nvSpPr>
          <p:cNvPr id="4" name="Círculo de icono"/>
          <p:cNvSpPr/>
          <p:nvPr/>
        </p:nvSpPr>
        <p:spPr>
          <a:xfrm>
            <a:off x="1005840" y="1234440"/>
            <a:ext cx="822960" cy="822960"/>
          </a:xfrm>
          <a:prstGeom prst="ellipse">
            <a:avLst/>
          </a:prstGeom>
          <a:solidFill>
            <a:schemeClr val="accent1"/>
          </a:solidFill>
          <a:ln/>
        </p:spPr>
      </p:sp>
      <p:pic>
        <p:nvPicPr>
          <p:cNvPr id="5" name="Icono" descr="FaBullseye">    </p:cNvPr>
          <p:cNvPicPr>
            <a:picLocks noChangeAspect="1"/>
          </p:cNvPicPr>
          <p:nvPr/>
        </p:nvPicPr>
        <p:blipFill>
          <a:blip r:embed="rId1"/>
          <a:stretch>
            <a:fillRect/>
          </a:stretch>
        </p:blipFill>
        <p:spPr>
          <a:xfrm>
            <a:off x="1186891" y="1415491"/>
            <a:ext cx="460858" cy="460858"/>
          </a:xfrm>
          <a:prstGeom prst="rect">
            <a:avLst/>
          </a:prstGeom>
        </p:spPr>
      </p:pic>
      <p:sp>
        <p:nvSpPr>
          <p:cNvPr id="6" name="Text 3"/>
          <p:cNvSpPr txBox="1"/>
          <p:nvPr/>
        </p:nvSpPr>
        <p:spPr>
          <a:xfrm>
            <a:off x="594360" y="2148840"/>
            <a:ext cx="1645920" cy="320040"/>
          </a:xfrm>
          <a:prstGeom prst="rect">
            <a:avLst/>
          </a:prstGeom>
          <a:noFill/>
          <a:ln/>
        </p:spPr>
        <p:txBody>
          <a:bodyPr wrap="square" lIns="0" tIns="0" rIns="0" bIns="0" rtlCol="0" anchor="t"/>
          <a:lstStyle/>
          <a:p>
            <a:pPr algn="ctr" indent="0" marL="0">
              <a:buNone/>
            </a:pPr>
            <a:r>
              <a:rPr lang="en-US" sz="1500" b="1" dirty="0">
                <a:solidFill>
                  <a:schemeClr val="tx2"/>
                </a:solidFill>
              </a:rPr>
              <a:t>Planificación</a:t>
            </a:r>
            <a:endParaRPr lang="en-US" sz="1500" dirty="0"/>
          </a:p>
        </p:txBody>
      </p:sp>
      <p:sp>
        <p:nvSpPr>
          <p:cNvPr id="7" name="Flecha"/>
          <p:cNvSpPr/>
          <p:nvPr/>
        </p:nvSpPr>
        <p:spPr>
          <a:xfrm>
            <a:off x="1965960" y="1645920"/>
            <a:ext cx="640080" cy="0"/>
          </a:xfrm>
          <a:prstGeom prst="line">
            <a:avLst/>
          </a:prstGeom>
          <a:noFill/>
          <a:ln w="25400">
            <a:solidFill>
              <a:schemeClr val="accent4"/>
            </a:solidFill>
            <a:prstDash val="solid"/>
            <a:tailEnd type="triangle"/>
          </a:ln>
        </p:spPr>
      </p:sp>
      <p:sp>
        <p:nvSpPr>
          <p:cNvPr id="8" name="Círculo de icono"/>
          <p:cNvSpPr/>
          <p:nvPr/>
        </p:nvSpPr>
        <p:spPr>
          <a:xfrm>
            <a:off x="3063240" y="1234440"/>
            <a:ext cx="822960" cy="822960"/>
          </a:xfrm>
          <a:prstGeom prst="ellipse">
            <a:avLst/>
          </a:prstGeom>
          <a:solidFill>
            <a:schemeClr val="accent1"/>
          </a:solidFill>
          <a:ln/>
        </p:spPr>
      </p:sp>
      <p:pic>
        <p:nvPicPr>
          <p:cNvPr id="9" name="Icono" descr="FaDiagramProject">    </p:cNvPr>
          <p:cNvPicPr>
            <a:picLocks noChangeAspect="1"/>
          </p:cNvPicPr>
          <p:nvPr/>
        </p:nvPicPr>
        <p:blipFill>
          <a:blip r:embed="rId2"/>
          <a:stretch>
            <a:fillRect/>
          </a:stretch>
        </p:blipFill>
        <p:spPr>
          <a:xfrm>
            <a:off x="3244291" y="1415491"/>
            <a:ext cx="460858" cy="460858"/>
          </a:xfrm>
          <a:prstGeom prst="rect">
            <a:avLst/>
          </a:prstGeom>
        </p:spPr>
      </p:pic>
      <p:sp>
        <p:nvSpPr>
          <p:cNvPr id="10" name="Text 6"/>
          <p:cNvSpPr txBox="1"/>
          <p:nvPr/>
        </p:nvSpPr>
        <p:spPr>
          <a:xfrm>
            <a:off x="2651760" y="2148840"/>
            <a:ext cx="1645920" cy="320040"/>
          </a:xfrm>
          <a:prstGeom prst="rect">
            <a:avLst/>
          </a:prstGeom>
          <a:noFill/>
          <a:ln/>
        </p:spPr>
        <p:txBody>
          <a:bodyPr wrap="square" lIns="0" tIns="0" rIns="0" bIns="0" rtlCol="0" anchor="t"/>
          <a:lstStyle/>
          <a:p>
            <a:pPr algn="ctr" indent="0" marL="0">
              <a:buNone/>
            </a:pPr>
            <a:r>
              <a:rPr lang="en-US" sz="1500" b="1" dirty="0">
                <a:solidFill>
                  <a:schemeClr val="tx2"/>
                </a:solidFill>
              </a:rPr>
              <a:t>Organización</a:t>
            </a:r>
            <a:endParaRPr lang="en-US" sz="1500" dirty="0"/>
          </a:p>
        </p:txBody>
      </p:sp>
      <p:sp>
        <p:nvSpPr>
          <p:cNvPr id="11" name="Flecha"/>
          <p:cNvSpPr/>
          <p:nvPr/>
        </p:nvSpPr>
        <p:spPr>
          <a:xfrm>
            <a:off x="4023360" y="1645920"/>
            <a:ext cx="640080" cy="0"/>
          </a:xfrm>
          <a:prstGeom prst="line">
            <a:avLst/>
          </a:prstGeom>
          <a:noFill/>
          <a:ln w="25400">
            <a:solidFill>
              <a:schemeClr val="accent4"/>
            </a:solidFill>
            <a:prstDash val="solid"/>
            <a:tailEnd type="triangle"/>
          </a:ln>
        </p:spPr>
      </p:sp>
      <p:sp>
        <p:nvSpPr>
          <p:cNvPr id="12" name="Círculo de icono"/>
          <p:cNvSpPr/>
          <p:nvPr/>
        </p:nvSpPr>
        <p:spPr>
          <a:xfrm>
            <a:off x="5120640" y="1234440"/>
            <a:ext cx="822960" cy="822960"/>
          </a:xfrm>
          <a:prstGeom prst="ellipse">
            <a:avLst/>
          </a:prstGeom>
          <a:solidFill>
            <a:schemeClr val="accent1"/>
          </a:solidFill>
          <a:ln/>
        </p:spPr>
      </p:sp>
      <p:pic>
        <p:nvPicPr>
          <p:cNvPr id="13" name="Icono" descr="FaPeopleGroup">    </p:cNvPr>
          <p:cNvPicPr>
            <a:picLocks noChangeAspect="1"/>
          </p:cNvPicPr>
          <p:nvPr/>
        </p:nvPicPr>
        <p:blipFill>
          <a:blip r:embed="rId3"/>
          <a:stretch>
            <a:fillRect/>
          </a:stretch>
        </p:blipFill>
        <p:spPr>
          <a:xfrm>
            <a:off x="5301691" y="1415491"/>
            <a:ext cx="460858" cy="460858"/>
          </a:xfrm>
          <a:prstGeom prst="rect">
            <a:avLst/>
          </a:prstGeom>
        </p:spPr>
      </p:pic>
      <p:sp>
        <p:nvSpPr>
          <p:cNvPr id="14" name="Text 9"/>
          <p:cNvSpPr txBox="1"/>
          <p:nvPr/>
        </p:nvSpPr>
        <p:spPr>
          <a:xfrm>
            <a:off x="4709160" y="2148840"/>
            <a:ext cx="1645920" cy="320040"/>
          </a:xfrm>
          <a:prstGeom prst="rect">
            <a:avLst/>
          </a:prstGeom>
          <a:noFill/>
          <a:ln/>
        </p:spPr>
        <p:txBody>
          <a:bodyPr wrap="square" lIns="0" tIns="0" rIns="0" bIns="0" rtlCol="0" anchor="t"/>
          <a:lstStyle/>
          <a:p>
            <a:pPr algn="ctr" indent="0" marL="0">
              <a:buNone/>
            </a:pPr>
            <a:r>
              <a:rPr lang="en-US" sz="1500" b="1" dirty="0">
                <a:solidFill>
                  <a:schemeClr val="tx2"/>
                </a:solidFill>
              </a:rPr>
              <a:t>Dirección</a:t>
            </a:r>
            <a:endParaRPr lang="en-US" sz="1500" dirty="0"/>
          </a:p>
        </p:txBody>
      </p:sp>
      <p:sp>
        <p:nvSpPr>
          <p:cNvPr id="15" name="Flecha"/>
          <p:cNvSpPr/>
          <p:nvPr/>
        </p:nvSpPr>
        <p:spPr>
          <a:xfrm>
            <a:off x="6080760" y="1645920"/>
            <a:ext cx="640080" cy="0"/>
          </a:xfrm>
          <a:prstGeom prst="line">
            <a:avLst/>
          </a:prstGeom>
          <a:noFill/>
          <a:ln w="25400">
            <a:solidFill>
              <a:schemeClr val="accent4"/>
            </a:solidFill>
            <a:prstDash val="solid"/>
            <a:tailEnd type="triangle"/>
          </a:ln>
        </p:spPr>
      </p:sp>
      <p:sp>
        <p:nvSpPr>
          <p:cNvPr id="16" name="Círculo de icono"/>
          <p:cNvSpPr/>
          <p:nvPr/>
        </p:nvSpPr>
        <p:spPr>
          <a:xfrm>
            <a:off x="7178040" y="1234440"/>
            <a:ext cx="822960" cy="822960"/>
          </a:xfrm>
          <a:prstGeom prst="ellipse">
            <a:avLst/>
          </a:prstGeom>
          <a:solidFill>
            <a:schemeClr val="accent2"/>
          </a:solidFill>
          <a:ln/>
        </p:spPr>
      </p:sp>
      <p:pic>
        <p:nvPicPr>
          <p:cNvPr id="17" name="Icono" descr="FaGaugeHigh">    </p:cNvPr>
          <p:cNvPicPr>
            <a:picLocks noChangeAspect="1"/>
          </p:cNvPicPr>
          <p:nvPr/>
        </p:nvPicPr>
        <p:blipFill>
          <a:blip r:embed="rId4"/>
          <a:stretch>
            <a:fillRect/>
          </a:stretch>
        </p:blipFill>
        <p:spPr>
          <a:xfrm>
            <a:off x="7359091" y="1415491"/>
            <a:ext cx="460858" cy="460858"/>
          </a:xfrm>
          <a:prstGeom prst="rect">
            <a:avLst/>
          </a:prstGeom>
        </p:spPr>
      </p:pic>
      <p:sp>
        <p:nvSpPr>
          <p:cNvPr id="18" name="Text 12"/>
          <p:cNvSpPr txBox="1"/>
          <p:nvPr/>
        </p:nvSpPr>
        <p:spPr>
          <a:xfrm>
            <a:off x="6766560" y="2148840"/>
            <a:ext cx="1645920" cy="320040"/>
          </a:xfrm>
          <a:prstGeom prst="rect">
            <a:avLst/>
          </a:prstGeom>
          <a:noFill/>
          <a:ln/>
        </p:spPr>
        <p:txBody>
          <a:bodyPr wrap="square" lIns="0" tIns="0" rIns="0" bIns="0" rtlCol="0" anchor="t"/>
          <a:lstStyle/>
          <a:p>
            <a:pPr algn="ctr" indent="0" marL="0">
              <a:buNone/>
            </a:pPr>
            <a:r>
              <a:rPr lang="en-US" sz="1500" b="1" dirty="0">
                <a:solidFill>
                  <a:schemeClr val="tx2"/>
                </a:solidFill>
              </a:rPr>
              <a:t>Control</a:t>
            </a:r>
            <a:endParaRPr lang="en-US" sz="1500" dirty="0"/>
          </a:p>
        </p:txBody>
      </p:sp>
      <p:sp>
        <p:nvSpPr>
          <p:cNvPr id="19" name="Retroalimentación"/>
          <p:cNvSpPr/>
          <p:nvPr/>
        </p:nvSpPr>
        <p:spPr>
          <a:xfrm>
            <a:off x="1417320" y="2606040"/>
            <a:ext cx="6172200" cy="0"/>
          </a:xfrm>
          <a:prstGeom prst="line">
            <a:avLst/>
          </a:prstGeom>
          <a:noFill/>
          <a:ln w="25400">
            <a:solidFill>
              <a:schemeClr val="accent2"/>
            </a:solidFill>
            <a:prstDash val="dash"/>
            <a:headEnd type="triangle"/>
          </a:ln>
        </p:spPr>
      </p:sp>
      <p:sp>
        <p:nvSpPr>
          <p:cNvPr id="20" name="Text 14"/>
          <p:cNvSpPr txBox="1"/>
          <p:nvPr/>
        </p:nvSpPr>
        <p:spPr>
          <a:xfrm>
            <a:off x="3108960" y="2670048"/>
            <a:ext cx="2926080" cy="274320"/>
          </a:xfrm>
          <a:prstGeom prst="rect">
            <a:avLst/>
          </a:prstGeom>
          <a:noFill/>
          <a:ln/>
        </p:spPr>
        <p:txBody>
          <a:bodyPr wrap="square" lIns="0" tIns="0" rIns="0" bIns="0" rtlCol="0" anchor="t"/>
          <a:lstStyle/>
          <a:p>
            <a:pPr algn="ctr" indent="0" marL="0">
              <a:buNone/>
            </a:pPr>
            <a:r>
              <a:rPr lang="en-US" sz="1200" i="1" dirty="0">
                <a:solidFill>
                  <a:schemeClr val="accent4"/>
                </a:solidFill>
              </a:rPr>
              <a:t>retroalimentación constante</a:t>
            </a:r>
            <a:endParaRPr lang="en-US" sz="1200" dirty="0"/>
          </a:p>
        </p:txBody>
      </p:sp>
      <p:sp>
        <p:nvSpPr>
          <p:cNvPr id="21" name="Tarjeta"/>
          <p:cNvSpPr/>
          <p:nvPr/>
        </p:nvSpPr>
        <p:spPr>
          <a:xfrm>
            <a:off x="457200" y="3154680"/>
            <a:ext cx="3977640" cy="1371600"/>
          </a:xfrm>
          <a:prstGeom prst="roundRect">
            <a:avLst>
              <a:gd name="adj" fmla="val 5333"/>
            </a:avLst>
          </a:prstGeom>
          <a:solidFill>
            <a:schemeClr val="bg2"/>
          </a:solidFill>
          <a:ln/>
        </p:spPr>
      </p:sp>
      <p:sp>
        <p:nvSpPr>
          <p:cNvPr id="22" name="Text 16"/>
          <p:cNvSpPr txBox="1"/>
          <p:nvPr/>
        </p:nvSpPr>
        <p:spPr>
          <a:xfrm>
            <a:off x="640080" y="3291840"/>
            <a:ext cx="3611880" cy="1143000"/>
          </a:xfrm>
          <a:prstGeom prst="rect">
            <a:avLst/>
          </a:prstGeom>
          <a:noFill/>
          <a:ln/>
        </p:spPr>
        <p:txBody>
          <a:bodyPr wrap="square" lIns="0" tIns="0" rIns="0" bIns="0" rtlCol="0" anchor="t"/>
          <a:lstStyle/>
          <a:p>
            <a:pPr indent="0" marL="0">
              <a:buNone/>
            </a:pPr>
            <a:r>
              <a:rPr lang="en-US" sz="1400" b="1" dirty="0">
                <a:solidFill>
                  <a:schemeClr val="tx2"/>
                </a:solidFill>
              </a:rPr>
              <a:t>¿Qué es controlar?</a:t>
            </a:r>
            <a:endParaRPr lang="en-US" sz="1400" dirty="0"/>
          </a:p>
          <a:p>
            <a:pPr indent="0" marL="0">
              <a:buNone/>
            </a:pPr>
            <a:r>
              <a:rPr lang="en-US" sz="1400" dirty="0">
                <a:solidFill>
                  <a:schemeClr val="tx1"/>
                </a:solidFill>
              </a:rPr>
              <a:t>Monitorear las actividades, compararlas con lo planificado y corregir las desviaciones importantes.</a:t>
            </a:r>
            <a:endParaRPr lang="en-US" sz="1400" dirty="0"/>
          </a:p>
        </p:txBody>
      </p:sp>
      <p:sp>
        <p:nvSpPr>
          <p:cNvPr id="23" name="Tarjeta"/>
          <p:cNvSpPr/>
          <p:nvPr/>
        </p:nvSpPr>
        <p:spPr>
          <a:xfrm>
            <a:off x="4709160" y="3154680"/>
            <a:ext cx="3977640" cy="1371600"/>
          </a:xfrm>
          <a:prstGeom prst="roundRect">
            <a:avLst>
              <a:gd name="adj" fmla="val 5333"/>
            </a:avLst>
          </a:prstGeom>
          <a:solidFill>
            <a:schemeClr val="bg2"/>
          </a:solidFill>
          <a:ln/>
        </p:spPr>
      </p:sp>
      <p:sp>
        <p:nvSpPr>
          <p:cNvPr id="24" name="Text 18"/>
          <p:cNvSpPr txBox="1"/>
          <p:nvPr/>
        </p:nvSpPr>
        <p:spPr>
          <a:xfrm>
            <a:off x="4892040" y="3291840"/>
            <a:ext cx="3611880" cy="1143000"/>
          </a:xfrm>
          <a:prstGeom prst="rect">
            <a:avLst/>
          </a:prstGeom>
          <a:noFill/>
          <a:ln/>
        </p:spPr>
        <p:txBody>
          <a:bodyPr wrap="square" lIns="0" tIns="0" rIns="0" bIns="0" rtlCol="0" anchor="t"/>
          <a:lstStyle/>
          <a:p>
            <a:pPr indent="0" marL="0">
              <a:buNone/>
            </a:pPr>
            <a:r>
              <a:rPr lang="en-US" sz="1400" b="1" dirty="0">
                <a:solidFill>
                  <a:schemeClr val="tx2"/>
                </a:solidFill>
              </a:rPr>
              <a:t>Planificar y controlar van juntos</a:t>
            </a:r>
            <a:endParaRPr lang="en-US" sz="1400" dirty="0"/>
          </a:p>
          <a:p>
            <a:pPr indent="0" marL="0">
              <a:buNone/>
            </a:pPr>
            <a:r>
              <a:rPr lang="en-US" sz="1400" dirty="0">
                <a:solidFill>
                  <a:schemeClr val="tx1"/>
                </a:solidFill>
              </a:rPr>
              <a:t>Los planes dicen qué lograr; el control verifica que ocurra. Gantt, PERT y la ruta crítica sirven para ambas cosas.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Lo que veremos hoy</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Introducción</a:t>
            </a:r>
            <a:endParaRPr lang="en-US" sz="1100" dirty="0"/>
          </a:p>
        </p:txBody>
      </p:sp>
      <p:sp>
        <p:nvSpPr>
          <p:cNvPr id="4" name="Tarjeta"/>
          <p:cNvSpPr/>
          <p:nvPr/>
        </p:nvSpPr>
        <p:spPr>
          <a:xfrm>
            <a:off x="457200" y="1188720"/>
            <a:ext cx="4023360" cy="960120"/>
          </a:xfrm>
          <a:prstGeom prst="roundRect">
            <a:avLst>
              <a:gd name="adj" fmla="val 7619"/>
            </a:avLst>
          </a:prstGeom>
          <a:solidFill>
            <a:schemeClr val="bg2"/>
          </a:solidFill>
          <a:ln/>
        </p:spPr>
      </p:sp>
      <p:sp>
        <p:nvSpPr>
          <p:cNvPr id="5" name="Círculo de icono"/>
          <p:cNvSpPr/>
          <p:nvPr/>
        </p:nvSpPr>
        <p:spPr>
          <a:xfrm>
            <a:off x="640080" y="1371600"/>
            <a:ext cx="594360" cy="594360"/>
          </a:xfrm>
          <a:prstGeom prst="ellipse">
            <a:avLst/>
          </a:prstGeom>
          <a:solidFill>
            <a:schemeClr val="accent1"/>
          </a:solidFill>
          <a:ln/>
        </p:spPr>
      </p:sp>
      <p:pic>
        <p:nvPicPr>
          <p:cNvPr id="6" name="Icono" descr="FaRulerCombined">    </p:cNvPr>
          <p:cNvPicPr>
            <a:picLocks noChangeAspect="1"/>
          </p:cNvPicPr>
          <p:nvPr/>
        </p:nvPicPr>
        <p:blipFill>
          <a:blip r:embed="rId1"/>
          <a:stretch>
            <a:fillRect/>
          </a:stretch>
        </p:blipFill>
        <p:spPr>
          <a:xfrm>
            <a:off x="770839" y="1502359"/>
            <a:ext cx="332842" cy="332842"/>
          </a:xfrm>
          <a:prstGeom prst="rect">
            <a:avLst/>
          </a:prstGeom>
        </p:spPr>
      </p:pic>
      <p:sp>
        <p:nvSpPr>
          <p:cNvPr id="7" name="Text 4"/>
          <p:cNvSpPr txBox="1"/>
          <p:nvPr/>
        </p:nvSpPr>
        <p:spPr>
          <a:xfrm>
            <a:off x="1417320" y="1371600"/>
            <a:ext cx="2926080" cy="640080"/>
          </a:xfrm>
          <a:prstGeom prst="rect">
            <a:avLst/>
          </a:prstGeom>
          <a:noFill/>
          <a:ln/>
        </p:spPr>
        <p:txBody>
          <a:bodyPr wrap="square" lIns="0" tIns="0" rIns="0" bIns="0" rtlCol="0" anchor="t"/>
          <a:lstStyle/>
          <a:p>
            <a:pPr indent="0" marL="0">
              <a:buNone/>
            </a:pPr>
            <a:r>
              <a:rPr lang="en-US" sz="1600" b="1" dirty="0">
                <a:solidFill>
                  <a:schemeClr val="tx2"/>
                </a:solidFill>
              </a:rPr>
              <a:t>1. Estándares de desempeño</a:t>
            </a:r>
            <a:endParaRPr lang="en-US" sz="1400" dirty="0"/>
          </a:p>
          <a:p>
            <a:pPr indent="0" marL="0">
              <a:buNone/>
            </a:pPr>
            <a:r>
              <a:rPr lang="en-US" sz="1400" dirty="0">
                <a:solidFill>
                  <a:schemeClr val="accent4"/>
                </a:solidFill>
              </a:rPr>
              <a:t>Yadiel Cruz</a:t>
            </a:r>
            <a:endParaRPr lang="en-US" sz="1400" dirty="0"/>
          </a:p>
        </p:txBody>
      </p:sp>
      <p:sp>
        <p:nvSpPr>
          <p:cNvPr id="8" name="Tarjeta"/>
          <p:cNvSpPr/>
          <p:nvPr/>
        </p:nvSpPr>
        <p:spPr>
          <a:xfrm>
            <a:off x="4663440" y="1188720"/>
            <a:ext cx="4023360" cy="960120"/>
          </a:xfrm>
          <a:prstGeom prst="roundRect">
            <a:avLst>
              <a:gd name="adj" fmla="val 7619"/>
            </a:avLst>
          </a:prstGeom>
          <a:solidFill>
            <a:schemeClr val="bg2"/>
          </a:solidFill>
          <a:ln/>
        </p:spPr>
      </p:sp>
      <p:sp>
        <p:nvSpPr>
          <p:cNvPr id="9" name="Círculo de icono"/>
          <p:cNvSpPr/>
          <p:nvPr/>
        </p:nvSpPr>
        <p:spPr>
          <a:xfrm>
            <a:off x="4846320" y="1371600"/>
            <a:ext cx="594360" cy="594360"/>
          </a:xfrm>
          <a:prstGeom prst="ellipse">
            <a:avLst/>
          </a:prstGeom>
          <a:solidFill>
            <a:schemeClr val="accent1"/>
          </a:solidFill>
          <a:ln/>
        </p:spPr>
      </p:sp>
      <p:pic>
        <p:nvPicPr>
          <p:cNvPr id="10" name="Icono" descr="FaListCheck">    </p:cNvPr>
          <p:cNvPicPr>
            <a:picLocks noChangeAspect="1"/>
          </p:cNvPicPr>
          <p:nvPr/>
        </p:nvPicPr>
        <p:blipFill>
          <a:blip r:embed="rId2"/>
          <a:stretch>
            <a:fillRect/>
          </a:stretch>
        </p:blipFill>
        <p:spPr>
          <a:xfrm>
            <a:off x="4977079" y="1502359"/>
            <a:ext cx="332842" cy="332842"/>
          </a:xfrm>
          <a:prstGeom prst="rect">
            <a:avLst/>
          </a:prstGeom>
        </p:spPr>
      </p:pic>
      <p:sp>
        <p:nvSpPr>
          <p:cNvPr id="11" name="Text 7"/>
          <p:cNvSpPr txBox="1"/>
          <p:nvPr/>
        </p:nvSpPr>
        <p:spPr>
          <a:xfrm>
            <a:off x="5623560" y="1371600"/>
            <a:ext cx="2926080" cy="640080"/>
          </a:xfrm>
          <a:prstGeom prst="rect">
            <a:avLst/>
          </a:prstGeom>
          <a:noFill/>
          <a:ln/>
        </p:spPr>
        <p:txBody>
          <a:bodyPr wrap="square" lIns="0" tIns="0" rIns="0" bIns="0" rtlCol="0" anchor="t"/>
          <a:lstStyle/>
          <a:p>
            <a:pPr indent="0" marL="0">
              <a:buNone/>
            </a:pPr>
            <a:r>
              <a:rPr lang="en-US" sz="1600" b="1" dirty="0">
                <a:solidFill>
                  <a:schemeClr val="tx2"/>
                </a:solidFill>
              </a:rPr>
              <a:t>2. Técnicas de planificación</a:t>
            </a:r>
            <a:endParaRPr lang="en-US" sz="1400" dirty="0"/>
          </a:p>
          <a:p>
            <a:pPr indent="0" marL="0">
              <a:buNone/>
            </a:pPr>
            <a:r>
              <a:rPr lang="en-US" sz="1400" dirty="0">
                <a:solidFill>
                  <a:schemeClr val="accent4"/>
                </a:solidFill>
              </a:rPr>
              <a:t>Joan Rios</a:t>
            </a:r>
            <a:endParaRPr lang="en-US" sz="1400" dirty="0"/>
          </a:p>
        </p:txBody>
      </p:sp>
      <p:sp>
        <p:nvSpPr>
          <p:cNvPr id="12" name="Tarjeta"/>
          <p:cNvSpPr/>
          <p:nvPr/>
        </p:nvSpPr>
        <p:spPr>
          <a:xfrm>
            <a:off x="457200" y="2331720"/>
            <a:ext cx="4023360" cy="960120"/>
          </a:xfrm>
          <a:prstGeom prst="roundRect">
            <a:avLst>
              <a:gd name="adj" fmla="val 7619"/>
            </a:avLst>
          </a:prstGeom>
          <a:solidFill>
            <a:schemeClr val="bg2"/>
          </a:solidFill>
          <a:ln/>
        </p:spPr>
      </p:sp>
      <p:sp>
        <p:nvSpPr>
          <p:cNvPr id="13" name="Círculo de icono"/>
          <p:cNvSpPr/>
          <p:nvPr/>
        </p:nvSpPr>
        <p:spPr>
          <a:xfrm>
            <a:off x="640080" y="2514600"/>
            <a:ext cx="594360" cy="594360"/>
          </a:xfrm>
          <a:prstGeom prst="ellipse">
            <a:avLst/>
          </a:prstGeom>
          <a:solidFill>
            <a:schemeClr val="accent1"/>
          </a:solidFill>
          <a:ln/>
        </p:spPr>
      </p:sp>
      <p:pic>
        <p:nvPicPr>
          <p:cNvPr id="14" name="Icono" descr="FaMagnifyingGlassChart">    </p:cNvPr>
          <p:cNvPicPr>
            <a:picLocks noChangeAspect="1"/>
          </p:cNvPicPr>
          <p:nvPr/>
        </p:nvPicPr>
        <p:blipFill>
          <a:blip r:embed="rId3"/>
          <a:stretch>
            <a:fillRect/>
          </a:stretch>
        </p:blipFill>
        <p:spPr>
          <a:xfrm>
            <a:off x="770839" y="2645359"/>
            <a:ext cx="332842" cy="332842"/>
          </a:xfrm>
          <a:prstGeom prst="rect">
            <a:avLst/>
          </a:prstGeom>
        </p:spPr>
      </p:pic>
      <p:sp>
        <p:nvSpPr>
          <p:cNvPr id="15" name="Text 10"/>
          <p:cNvSpPr txBox="1"/>
          <p:nvPr/>
        </p:nvSpPr>
        <p:spPr>
          <a:xfrm>
            <a:off x="1417320" y="2514600"/>
            <a:ext cx="2926080" cy="640080"/>
          </a:xfrm>
          <a:prstGeom prst="rect">
            <a:avLst/>
          </a:prstGeom>
          <a:noFill/>
          <a:ln/>
        </p:spPr>
        <p:txBody>
          <a:bodyPr wrap="square" lIns="0" tIns="0" rIns="0" bIns="0" rtlCol="0" anchor="t"/>
          <a:lstStyle/>
          <a:p>
            <a:pPr indent="0" marL="0">
              <a:buNone/>
            </a:pPr>
            <a:r>
              <a:rPr lang="en-US" sz="1600" b="1" dirty="0">
                <a:solidFill>
                  <a:schemeClr val="tx2"/>
                </a:solidFill>
              </a:rPr>
              <a:t>3. Benchmarking</a:t>
            </a:r>
            <a:endParaRPr lang="en-US" sz="1400" dirty="0"/>
          </a:p>
          <a:p>
            <a:pPr indent="0" marL="0">
              <a:buNone/>
            </a:pPr>
            <a:r>
              <a:rPr lang="en-US" sz="1400" dirty="0">
                <a:solidFill>
                  <a:schemeClr val="accent4"/>
                </a:solidFill>
              </a:rPr>
              <a:t>Alayla Arbonies</a:t>
            </a:r>
            <a:endParaRPr lang="en-US" sz="1400" dirty="0"/>
          </a:p>
        </p:txBody>
      </p:sp>
      <p:sp>
        <p:nvSpPr>
          <p:cNvPr id="16" name="Tarjeta"/>
          <p:cNvSpPr/>
          <p:nvPr/>
        </p:nvSpPr>
        <p:spPr>
          <a:xfrm>
            <a:off x="4663440" y="2331720"/>
            <a:ext cx="4023360" cy="960120"/>
          </a:xfrm>
          <a:prstGeom prst="roundRect">
            <a:avLst>
              <a:gd name="adj" fmla="val 7619"/>
            </a:avLst>
          </a:prstGeom>
          <a:solidFill>
            <a:schemeClr val="bg2"/>
          </a:solidFill>
          <a:ln/>
        </p:spPr>
      </p:sp>
      <p:sp>
        <p:nvSpPr>
          <p:cNvPr id="17" name="Círculo de icono"/>
          <p:cNvSpPr/>
          <p:nvPr/>
        </p:nvSpPr>
        <p:spPr>
          <a:xfrm>
            <a:off x="4846320" y="2514600"/>
            <a:ext cx="594360" cy="594360"/>
          </a:xfrm>
          <a:prstGeom prst="ellipse">
            <a:avLst/>
          </a:prstGeom>
          <a:solidFill>
            <a:schemeClr val="accent1"/>
          </a:solidFill>
          <a:ln/>
        </p:spPr>
      </p:sp>
      <p:pic>
        <p:nvPicPr>
          <p:cNvPr id="18" name="Icono" descr="FaChartGantt">    </p:cNvPr>
          <p:cNvPicPr>
            <a:picLocks noChangeAspect="1"/>
          </p:cNvPicPr>
          <p:nvPr/>
        </p:nvPicPr>
        <p:blipFill>
          <a:blip r:embed="rId4"/>
          <a:stretch>
            <a:fillRect/>
          </a:stretch>
        </p:blipFill>
        <p:spPr>
          <a:xfrm>
            <a:off x="4977079" y="2645359"/>
            <a:ext cx="332842" cy="332842"/>
          </a:xfrm>
          <a:prstGeom prst="rect">
            <a:avLst/>
          </a:prstGeom>
        </p:spPr>
      </p:pic>
      <p:sp>
        <p:nvSpPr>
          <p:cNvPr id="19" name="Text 13"/>
          <p:cNvSpPr txBox="1"/>
          <p:nvPr/>
        </p:nvSpPr>
        <p:spPr>
          <a:xfrm>
            <a:off x="5623560" y="2514600"/>
            <a:ext cx="2926080" cy="640080"/>
          </a:xfrm>
          <a:prstGeom prst="rect">
            <a:avLst/>
          </a:prstGeom>
          <a:noFill/>
          <a:ln/>
        </p:spPr>
        <p:txBody>
          <a:bodyPr wrap="square" lIns="0" tIns="0" rIns="0" bIns="0" rtlCol="0" anchor="t"/>
          <a:lstStyle/>
          <a:p>
            <a:pPr indent="0" marL="0">
              <a:buNone/>
            </a:pPr>
            <a:r>
              <a:rPr lang="en-US" sz="1600" b="1" dirty="0">
                <a:solidFill>
                  <a:schemeClr val="tx2"/>
                </a:solidFill>
              </a:rPr>
              <a:t>4. Diagrama de Gantt</a:t>
            </a:r>
            <a:endParaRPr lang="en-US" sz="1400" dirty="0"/>
          </a:p>
          <a:p>
            <a:pPr indent="0" marL="0">
              <a:buNone/>
            </a:pPr>
            <a:r>
              <a:rPr lang="en-US" sz="1400" dirty="0">
                <a:solidFill>
                  <a:schemeClr val="accent4"/>
                </a:solidFill>
              </a:rPr>
              <a:t>Suheily Ramos</a:t>
            </a:r>
            <a:endParaRPr lang="en-US" sz="1400" dirty="0"/>
          </a:p>
        </p:txBody>
      </p:sp>
      <p:sp>
        <p:nvSpPr>
          <p:cNvPr id="20" name="Tarjeta"/>
          <p:cNvSpPr/>
          <p:nvPr/>
        </p:nvSpPr>
        <p:spPr>
          <a:xfrm>
            <a:off x="457200" y="3474720"/>
            <a:ext cx="4023360" cy="960120"/>
          </a:xfrm>
          <a:prstGeom prst="roundRect">
            <a:avLst>
              <a:gd name="adj" fmla="val 7619"/>
            </a:avLst>
          </a:prstGeom>
          <a:solidFill>
            <a:schemeClr val="bg2"/>
          </a:solidFill>
          <a:ln/>
        </p:spPr>
      </p:sp>
      <p:sp>
        <p:nvSpPr>
          <p:cNvPr id="21" name="Círculo de icono"/>
          <p:cNvSpPr/>
          <p:nvPr/>
        </p:nvSpPr>
        <p:spPr>
          <a:xfrm>
            <a:off x="640080" y="3657600"/>
            <a:ext cx="594360" cy="594360"/>
          </a:xfrm>
          <a:prstGeom prst="ellipse">
            <a:avLst/>
          </a:prstGeom>
          <a:solidFill>
            <a:schemeClr val="accent1"/>
          </a:solidFill>
          <a:ln/>
        </p:spPr>
      </p:sp>
      <p:pic>
        <p:nvPicPr>
          <p:cNvPr id="22" name="Icono" descr="FaDiagramProject">    </p:cNvPr>
          <p:cNvPicPr>
            <a:picLocks noChangeAspect="1"/>
          </p:cNvPicPr>
          <p:nvPr/>
        </p:nvPicPr>
        <p:blipFill>
          <a:blip r:embed="rId5"/>
          <a:stretch>
            <a:fillRect/>
          </a:stretch>
        </p:blipFill>
        <p:spPr>
          <a:xfrm>
            <a:off x="770839" y="3788359"/>
            <a:ext cx="332842" cy="332842"/>
          </a:xfrm>
          <a:prstGeom prst="rect">
            <a:avLst/>
          </a:prstGeom>
        </p:spPr>
      </p:pic>
      <p:sp>
        <p:nvSpPr>
          <p:cNvPr id="23" name="Text 16"/>
          <p:cNvSpPr txBox="1"/>
          <p:nvPr/>
        </p:nvSpPr>
        <p:spPr>
          <a:xfrm>
            <a:off x="1417320" y="3657600"/>
            <a:ext cx="2926080" cy="640080"/>
          </a:xfrm>
          <a:prstGeom prst="rect">
            <a:avLst/>
          </a:prstGeom>
          <a:noFill/>
          <a:ln/>
        </p:spPr>
        <p:txBody>
          <a:bodyPr wrap="square" lIns="0" tIns="0" rIns="0" bIns="0" rtlCol="0" anchor="t"/>
          <a:lstStyle/>
          <a:p>
            <a:pPr indent="0" marL="0">
              <a:buNone/>
            </a:pPr>
            <a:r>
              <a:rPr lang="en-US" sz="1600" b="1" dirty="0">
                <a:solidFill>
                  <a:schemeClr val="tx2"/>
                </a:solidFill>
              </a:rPr>
              <a:t>5. Técnica PERT</a:t>
            </a:r>
            <a:endParaRPr lang="en-US" sz="1400" dirty="0"/>
          </a:p>
          <a:p>
            <a:pPr indent="0" marL="0">
              <a:buNone/>
            </a:pPr>
            <a:r>
              <a:rPr lang="en-US" sz="1400" dirty="0">
                <a:solidFill>
                  <a:schemeClr val="accent4"/>
                </a:solidFill>
              </a:rPr>
              <a:t>Niguel Morris-Santiago</a:t>
            </a:r>
            <a:endParaRPr lang="en-US" sz="1400" dirty="0"/>
          </a:p>
        </p:txBody>
      </p:sp>
      <p:sp>
        <p:nvSpPr>
          <p:cNvPr id="24" name="Tarjeta"/>
          <p:cNvSpPr/>
          <p:nvPr/>
        </p:nvSpPr>
        <p:spPr>
          <a:xfrm>
            <a:off x="4663440" y="3474720"/>
            <a:ext cx="4023360" cy="960120"/>
          </a:xfrm>
          <a:prstGeom prst="roundRect">
            <a:avLst>
              <a:gd name="adj" fmla="val 7619"/>
            </a:avLst>
          </a:prstGeom>
          <a:solidFill>
            <a:schemeClr val="bg2"/>
          </a:solidFill>
          <a:ln/>
        </p:spPr>
      </p:sp>
      <p:sp>
        <p:nvSpPr>
          <p:cNvPr id="25" name="Círculo de icono"/>
          <p:cNvSpPr/>
          <p:nvPr/>
        </p:nvSpPr>
        <p:spPr>
          <a:xfrm>
            <a:off x="4846320" y="3657600"/>
            <a:ext cx="594360" cy="594360"/>
          </a:xfrm>
          <a:prstGeom prst="ellipse">
            <a:avLst/>
          </a:prstGeom>
          <a:solidFill>
            <a:schemeClr val="accent1"/>
          </a:solidFill>
          <a:ln/>
        </p:spPr>
      </p:sp>
      <p:pic>
        <p:nvPicPr>
          <p:cNvPr id="26" name="Icono" descr="FaRoute">    </p:cNvPr>
          <p:cNvPicPr>
            <a:picLocks noChangeAspect="1"/>
          </p:cNvPicPr>
          <p:nvPr/>
        </p:nvPicPr>
        <p:blipFill>
          <a:blip r:embed="rId6"/>
          <a:stretch>
            <a:fillRect/>
          </a:stretch>
        </p:blipFill>
        <p:spPr>
          <a:xfrm>
            <a:off x="4977079" y="3788359"/>
            <a:ext cx="332842" cy="332842"/>
          </a:xfrm>
          <a:prstGeom prst="rect">
            <a:avLst/>
          </a:prstGeom>
        </p:spPr>
      </p:pic>
      <p:sp>
        <p:nvSpPr>
          <p:cNvPr id="27" name="Text 19"/>
          <p:cNvSpPr txBox="1"/>
          <p:nvPr/>
        </p:nvSpPr>
        <p:spPr>
          <a:xfrm>
            <a:off x="5623560" y="3657600"/>
            <a:ext cx="2926080" cy="640080"/>
          </a:xfrm>
          <a:prstGeom prst="rect">
            <a:avLst/>
          </a:prstGeom>
          <a:noFill/>
          <a:ln/>
        </p:spPr>
        <p:txBody>
          <a:bodyPr wrap="square" lIns="0" tIns="0" rIns="0" bIns="0" rtlCol="0" anchor="t"/>
          <a:lstStyle/>
          <a:p>
            <a:pPr indent="0" marL="0">
              <a:buNone/>
            </a:pPr>
            <a:r>
              <a:rPr lang="en-US" sz="1600" b="1" dirty="0">
                <a:solidFill>
                  <a:schemeClr val="tx2"/>
                </a:solidFill>
              </a:rPr>
              <a:t>6. Método de la ruta crítica</a:t>
            </a:r>
            <a:endParaRPr lang="en-US" sz="1400" dirty="0"/>
          </a:p>
          <a:p>
            <a:pPr indent="0" marL="0">
              <a:buNone/>
            </a:pPr>
            <a:r>
              <a:rPr lang="en-US" sz="1400" dirty="0">
                <a:solidFill>
                  <a:schemeClr val="accent4"/>
                </a:solidFill>
              </a:rPr>
              <a:t>Suheil Collazo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El control empieza con un estándar</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Yadiel Cruz · Robbins y Coulter (2018)</a:t>
            </a:r>
            <a:endParaRPr lang="en-US" sz="1100" dirty="0"/>
          </a:p>
        </p:txBody>
      </p:sp>
      <p:sp>
        <p:nvSpPr>
          <p:cNvPr id="4" name="Paso"/>
          <p:cNvSpPr/>
          <p:nvPr/>
        </p:nvSpPr>
        <p:spPr>
          <a:xfrm>
            <a:off x="457200" y="1280160"/>
            <a:ext cx="2606040" cy="1188720"/>
          </a:xfrm>
          <a:prstGeom prst="chevron">
            <a:avLst/>
          </a:prstGeom>
          <a:solidFill>
            <a:schemeClr val="accent1"/>
          </a:solidFill>
          <a:ln/>
        </p:spPr>
      </p:sp>
      <p:sp>
        <p:nvSpPr>
          <p:cNvPr id="5" name="Text 3"/>
          <p:cNvSpPr txBox="1"/>
          <p:nvPr/>
        </p:nvSpPr>
        <p:spPr>
          <a:xfrm>
            <a:off x="960120" y="1371600"/>
            <a:ext cx="1783080" cy="1005840"/>
          </a:xfrm>
          <a:prstGeom prst="rect">
            <a:avLst/>
          </a:prstGeom>
          <a:noFill/>
          <a:ln/>
        </p:spPr>
        <p:txBody>
          <a:bodyPr wrap="square" lIns="0" tIns="0" rIns="0" bIns="0" rtlCol="0" anchor="ctr"/>
          <a:lstStyle/>
          <a:p>
            <a:pPr algn="ctr" indent="0" marL="0">
              <a:buNone/>
            </a:pPr>
            <a:r>
              <a:rPr lang="en-US" sz="2000" b="1" dirty="0">
                <a:solidFill>
                  <a:schemeClr val="bg1"/>
                </a:solidFill>
              </a:rPr>
              <a:t>Medir</a:t>
            </a:r>
            <a:endParaRPr lang="en-US" sz="1400" dirty="0"/>
          </a:p>
          <a:p>
            <a:pPr algn="ctr" indent="0" marL="0">
              <a:buNone/>
            </a:pPr>
            <a:r>
              <a:rPr lang="en-US" sz="1200" dirty="0">
                <a:solidFill>
                  <a:schemeClr val="bg1"/>
                </a:solidFill>
              </a:rPr>
              <a:t>el desempeño real</a:t>
            </a:r>
            <a:endParaRPr lang="en-US" sz="1400" dirty="0"/>
          </a:p>
        </p:txBody>
      </p:sp>
      <p:sp>
        <p:nvSpPr>
          <p:cNvPr id="6" name="Paso"/>
          <p:cNvSpPr/>
          <p:nvPr/>
        </p:nvSpPr>
        <p:spPr>
          <a:xfrm>
            <a:off x="3246120" y="1280160"/>
            <a:ext cx="2606040" cy="1188720"/>
          </a:xfrm>
          <a:prstGeom prst="chevron">
            <a:avLst/>
          </a:prstGeom>
          <a:solidFill>
            <a:schemeClr val="accent2"/>
          </a:solidFill>
          <a:ln/>
        </p:spPr>
      </p:sp>
      <p:sp>
        <p:nvSpPr>
          <p:cNvPr id="7" name="Text 5"/>
          <p:cNvSpPr txBox="1"/>
          <p:nvPr/>
        </p:nvSpPr>
        <p:spPr>
          <a:xfrm>
            <a:off x="3749040" y="1371600"/>
            <a:ext cx="1783080" cy="1005840"/>
          </a:xfrm>
          <a:prstGeom prst="rect">
            <a:avLst/>
          </a:prstGeom>
          <a:noFill/>
          <a:ln/>
        </p:spPr>
        <p:txBody>
          <a:bodyPr wrap="square" lIns="0" tIns="0" rIns="0" bIns="0" rtlCol="0" anchor="ctr"/>
          <a:lstStyle/>
          <a:p>
            <a:pPr algn="ctr" indent="0" marL="0">
              <a:buNone/>
            </a:pPr>
            <a:r>
              <a:rPr lang="en-US" sz="2000" b="1" dirty="0">
                <a:solidFill>
                  <a:schemeClr val="bg1"/>
                </a:solidFill>
              </a:rPr>
              <a:t>Comparar</a:t>
            </a:r>
            <a:endParaRPr lang="en-US" sz="1400" dirty="0"/>
          </a:p>
          <a:p>
            <a:pPr algn="ctr" indent="0" marL="0">
              <a:buNone/>
            </a:pPr>
            <a:r>
              <a:rPr lang="en-US" sz="1200" dirty="0">
                <a:solidFill>
                  <a:schemeClr val="bg1"/>
                </a:solidFill>
              </a:rPr>
              <a:t>contra un estándar</a:t>
            </a:r>
            <a:endParaRPr lang="en-US" sz="1400" dirty="0"/>
          </a:p>
        </p:txBody>
      </p:sp>
      <p:sp>
        <p:nvSpPr>
          <p:cNvPr id="8" name="Paso"/>
          <p:cNvSpPr/>
          <p:nvPr/>
        </p:nvSpPr>
        <p:spPr>
          <a:xfrm>
            <a:off x="6035040" y="1280160"/>
            <a:ext cx="2606040" cy="1188720"/>
          </a:xfrm>
          <a:prstGeom prst="chevron">
            <a:avLst/>
          </a:prstGeom>
          <a:solidFill>
            <a:schemeClr val="accent1"/>
          </a:solidFill>
          <a:ln/>
        </p:spPr>
      </p:sp>
      <p:sp>
        <p:nvSpPr>
          <p:cNvPr id="9" name="Text 7"/>
          <p:cNvSpPr txBox="1"/>
          <p:nvPr/>
        </p:nvSpPr>
        <p:spPr>
          <a:xfrm>
            <a:off x="6537960" y="1371600"/>
            <a:ext cx="1783080" cy="1005840"/>
          </a:xfrm>
          <a:prstGeom prst="rect">
            <a:avLst/>
          </a:prstGeom>
          <a:noFill/>
          <a:ln/>
        </p:spPr>
        <p:txBody>
          <a:bodyPr wrap="square" lIns="0" tIns="0" rIns="0" bIns="0" rtlCol="0" anchor="ctr"/>
          <a:lstStyle/>
          <a:p>
            <a:pPr algn="ctr" indent="0" marL="0">
              <a:buNone/>
            </a:pPr>
            <a:r>
              <a:rPr lang="en-US" sz="2000" b="1" dirty="0">
                <a:solidFill>
                  <a:schemeClr val="bg1"/>
                </a:solidFill>
              </a:rPr>
              <a:t>Actuar</a:t>
            </a:r>
            <a:endParaRPr lang="en-US" sz="1400" dirty="0"/>
          </a:p>
          <a:p>
            <a:pPr algn="ctr" indent="0" marL="0">
              <a:buNone/>
            </a:pPr>
            <a:r>
              <a:rPr lang="en-US" sz="1200" dirty="0">
                <a:solidFill>
                  <a:schemeClr val="bg1"/>
                </a:solidFill>
              </a:rPr>
              <a:t>corregir desviaciones o estándares inadecuados</a:t>
            </a:r>
            <a:endParaRPr lang="en-US" sz="1400" dirty="0"/>
          </a:p>
        </p:txBody>
      </p:sp>
      <p:sp>
        <p:nvSpPr>
          <p:cNvPr id="10" name="Tarjeta"/>
          <p:cNvSpPr/>
          <p:nvPr/>
        </p:nvSpPr>
        <p:spPr>
          <a:xfrm>
            <a:off x="457200" y="2880360"/>
            <a:ext cx="8229600" cy="1554480"/>
          </a:xfrm>
          <a:prstGeom prst="roundRect">
            <a:avLst>
              <a:gd name="adj" fmla="val 4706"/>
            </a:avLst>
          </a:prstGeom>
          <a:solidFill>
            <a:schemeClr val="bg2"/>
          </a:solidFill>
          <a:ln/>
        </p:spPr>
      </p:sp>
      <p:sp>
        <p:nvSpPr>
          <p:cNvPr id="11" name="Círculo de icono"/>
          <p:cNvSpPr/>
          <p:nvPr/>
        </p:nvSpPr>
        <p:spPr>
          <a:xfrm>
            <a:off x="731520" y="3200400"/>
            <a:ext cx="914400" cy="914400"/>
          </a:xfrm>
          <a:prstGeom prst="ellipse">
            <a:avLst/>
          </a:prstGeom>
          <a:solidFill>
            <a:schemeClr val="accent2"/>
          </a:solidFill>
          <a:ln/>
        </p:spPr>
      </p:sp>
      <p:pic>
        <p:nvPicPr>
          <p:cNvPr id="12" name="Icono" descr="FaRulerCombined">    </p:cNvPr>
          <p:cNvPicPr>
            <a:picLocks noChangeAspect="1"/>
          </p:cNvPicPr>
          <p:nvPr/>
        </p:nvPicPr>
        <p:blipFill>
          <a:blip r:embed="rId1"/>
          <a:stretch>
            <a:fillRect/>
          </a:stretch>
        </p:blipFill>
        <p:spPr>
          <a:xfrm>
            <a:off x="932688" y="3401568"/>
            <a:ext cx="512064" cy="512064"/>
          </a:xfrm>
          <a:prstGeom prst="rect">
            <a:avLst/>
          </a:prstGeom>
        </p:spPr>
      </p:pic>
      <p:sp>
        <p:nvSpPr>
          <p:cNvPr id="13" name="Text 10"/>
          <p:cNvSpPr txBox="1"/>
          <p:nvPr/>
        </p:nvSpPr>
        <p:spPr>
          <a:xfrm>
            <a:off x="1920240" y="3108960"/>
            <a:ext cx="6492240" cy="1188720"/>
          </a:xfrm>
          <a:prstGeom prst="rect">
            <a:avLst/>
          </a:prstGeom>
          <a:noFill/>
          <a:ln/>
        </p:spPr>
        <p:txBody>
          <a:bodyPr wrap="square" lIns="0" tIns="0" rIns="0" bIns="0" rtlCol="0" anchor="t"/>
          <a:lstStyle/>
          <a:p>
            <a:pPr indent="0" marL="0">
              <a:buNone/>
            </a:pPr>
            <a:r>
              <a:rPr lang="en-US" sz="1800" b="1" dirty="0">
                <a:solidFill>
                  <a:schemeClr val="tx2"/>
                </a:solidFill>
              </a:rPr>
              <a:t>El estándar es el punto de partida</a:t>
            </a:r>
            <a:endParaRPr lang="en-US" sz="1400" dirty="0"/>
          </a:p>
          <a:p>
            <a:pPr indent="0" marL="0">
              <a:buNone/>
            </a:pPr>
            <a:r>
              <a:rPr lang="en-US" sz="1400" dirty="0">
                <a:solidFill>
                  <a:schemeClr val="tx1"/>
                </a:solidFill>
              </a:rPr>
              <a:t>Es una unidad de medida que sirve de modelo para evaluar el desempeño. Sin una referencia clara no hay forma objetiva de saber si un resultado es bueno, aceptable o deficiente.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Cuatro tipos de estándares</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Yadiel Cruz · Chiavenato (2014); Koontz et al. (2017)</a:t>
            </a:r>
            <a:endParaRPr lang="en-US" sz="1100" dirty="0"/>
          </a:p>
        </p:txBody>
      </p:sp>
      <p:sp>
        <p:nvSpPr>
          <p:cNvPr id="4" name="Tarjeta"/>
          <p:cNvSpPr/>
          <p:nvPr/>
        </p:nvSpPr>
        <p:spPr>
          <a:xfrm>
            <a:off x="457200" y="1188720"/>
            <a:ext cx="2560320" cy="1554480"/>
          </a:xfrm>
          <a:prstGeom prst="roundRect">
            <a:avLst>
              <a:gd name="adj" fmla="val 4706"/>
            </a:avLst>
          </a:prstGeom>
          <a:solidFill>
            <a:schemeClr val="bg2"/>
          </a:solidFill>
          <a:ln/>
        </p:spPr>
      </p:sp>
      <p:sp>
        <p:nvSpPr>
          <p:cNvPr id="5" name="Círculo de icono"/>
          <p:cNvSpPr/>
          <p:nvPr/>
        </p:nvSpPr>
        <p:spPr>
          <a:xfrm>
            <a:off x="640080" y="1371600"/>
            <a:ext cx="548640" cy="548640"/>
          </a:xfrm>
          <a:prstGeom prst="ellipse">
            <a:avLst/>
          </a:prstGeom>
          <a:solidFill>
            <a:schemeClr val="accent1"/>
          </a:solidFill>
          <a:ln/>
        </p:spPr>
      </p:sp>
      <p:pic>
        <p:nvPicPr>
          <p:cNvPr id="6" name="Icono" descr="FaBoxesStacked">    </p:cNvPr>
          <p:cNvPicPr>
            <a:picLocks noChangeAspect="1"/>
          </p:cNvPicPr>
          <p:nvPr/>
        </p:nvPicPr>
        <p:blipFill>
          <a:blip r:embed="rId1"/>
          <a:stretch>
            <a:fillRect/>
          </a:stretch>
        </p:blipFill>
        <p:spPr>
          <a:xfrm>
            <a:off x="760781" y="1492301"/>
            <a:ext cx="307238" cy="307238"/>
          </a:xfrm>
          <a:prstGeom prst="rect">
            <a:avLst/>
          </a:prstGeom>
        </p:spPr>
      </p:pic>
      <p:sp>
        <p:nvSpPr>
          <p:cNvPr id="7" name="Text 4"/>
          <p:cNvSpPr txBox="1"/>
          <p:nvPr/>
        </p:nvSpPr>
        <p:spPr>
          <a:xfrm>
            <a:off x="1325880" y="1463040"/>
            <a:ext cx="1554480" cy="365760"/>
          </a:xfrm>
          <a:prstGeom prst="rect">
            <a:avLst/>
          </a:prstGeom>
          <a:noFill/>
          <a:ln/>
        </p:spPr>
        <p:txBody>
          <a:bodyPr wrap="square" lIns="0" tIns="0" rIns="0" bIns="0" rtlCol="0" anchor="t"/>
          <a:lstStyle/>
          <a:p>
            <a:pPr indent="0" marL="0">
              <a:buNone/>
            </a:pPr>
            <a:r>
              <a:rPr lang="en-US" sz="1700" b="1" dirty="0">
                <a:solidFill>
                  <a:schemeClr val="tx2"/>
                </a:solidFill>
              </a:rPr>
              <a:t>Cantidad</a:t>
            </a:r>
            <a:endParaRPr lang="en-US" sz="1700" dirty="0"/>
          </a:p>
        </p:txBody>
      </p:sp>
      <p:sp>
        <p:nvSpPr>
          <p:cNvPr id="8" name="Text 5"/>
          <p:cNvSpPr txBox="1"/>
          <p:nvPr/>
        </p:nvSpPr>
        <p:spPr>
          <a:xfrm>
            <a:off x="640080" y="2011680"/>
            <a:ext cx="2240280" cy="640080"/>
          </a:xfrm>
          <a:prstGeom prst="rect">
            <a:avLst/>
          </a:prstGeom>
          <a:noFill/>
          <a:ln/>
        </p:spPr>
        <p:txBody>
          <a:bodyPr wrap="square" lIns="0" tIns="0" rIns="0" bIns="0" rtlCol="0" anchor="t"/>
          <a:lstStyle/>
          <a:p>
            <a:pPr indent="0" marL="0">
              <a:buNone/>
            </a:pPr>
            <a:r>
              <a:rPr lang="en-US" sz="1300" dirty="0">
                <a:solidFill>
                  <a:schemeClr val="tx1"/>
                </a:solidFill>
              </a:rPr>
              <a:t>Unidades producidas o casos atendidos por día</a:t>
            </a:r>
            <a:endParaRPr lang="en-US" sz="1300" dirty="0"/>
          </a:p>
        </p:txBody>
      </p:sp>
      <p:sp>
        <p:nvSpPr>
          <p:cNvPr id="9" name="Tarjeta"/>
          <p:cNvSpPr/>
          <p:nvPr/>
        </p:nvSpPr>
        <p:spPr>
          <a:xfrm>
            <a:off x="3154680" y="1188720"/>
            <a:ext cx="2560320" cy="1554480"/>
          </a:xfrm>
          <a:prstGeom prst="roundRect">
            <a:avLst>
              <a:gd name="adj" fmla="val 4706"/>
            </a:avLst>
          </a:prstGeom>
          <a:solidFill>
            <a:schemeClr val="bg2"/>
          </a:solidFill>
          <a:ln/>
        </p:spPr>
      </p:sp>
      <p:sp>
        <p:nvSpPr>
          <p:cNvPr id="10" name="Círculo de icono"/>
          <p:cNvSpPr/>
          <p:nvPr/>
        </p:nvSpPr>
        <p:spPr>
          <a:xfrm>
            <a:off x="3337560" y="1371600"/>
            <a:ext cx="548640" cy="548640"/>
          </a:xfrm>
          <a:prstGeom prst="ellipse">
            <a:avLst/>
          </a:prstGeom>
          <a:solidFill>
            <a:schemeClr val="accent1"/>
          </a:solidFill>
          <a:ln/>
        </p:spPr>
      </p:sp>
      <p:pic>
        <p:nvPicPr>
          <p:cNvPr id="11" name="Icono" descr="FaCheck">    </p:cNvPr>
          <p:cNvPicPr>
            <a:picLocks noChangeAspect="1"/>
          </p:cNvPicPr>
          <p:nvPr/>
        </p:nvPicPr>
        <p:blipFill>
          <a:blip r:embed="rId2"/>
          <a:stretch>
            <a:fillRect/>
          </a:stretch>
        </p:blipFill>
        <p:spPr>
          <a:xfrm>
            <a:off x="3458261" y="1492301"/>
            <a:ext cx="307238" cy="307238"/>
          </a:xfrm>
          <a:prstGeom prst="rect">
            <a:avLst/>
          </a:prstGeom>
        </p:spPr>
      </p:pic>
      <p:sp>
        <p:nvSpPr>
          <p:cNvPr id="12" name="Text 8"/>
          <p:cNvSpPr txBox="1"/>
          <p:nvPr/>
        </p:nvSpPr>
        <p:spPr>
          <a:xfrm>
            <a:off x="4023360" y="1463040"/>
            <a:ext cx="1554480" cy="365760"/>
          </a:xfrm>
          <a:prstGeom prst="rect">
            <a:avLst/>
          </a:prstGeom>
          <a:noFill/>
          <a:ln/>
        </p:spPr>
        <p:txBody>
          <a:bodyPr wrap="square" lIns="0" tIns="0" rIns="0" bIns="0" rtlCol="0" anchor="t"/>
          <a:lstStyle/>
          <a:p>
            <a:pPr indent="0" marL="0">
              <a:buNone/>
            </a:pPr>
            <a:r>
              <a:rPr lang="en-US" sz="1700" b="1" dirty="0">
                <a:solidFill>
                  <a:schemeClr val="tx2"/>
                </a:solidFill>
              </a:rPr>
              <a:t>Calidad</a:t>
            </a:r>
            <a:endParaRPr lang="en-US" sz="1700" dirty="0"/>
          </a:p>
        </p:txBody>
      </p:sp>
      <p:sp>
        <p:nvSpPr>
          <p:cNvPr id="13" name="Text 9"/>
          <p:cNvSpPr txBox="1"/>
          <p:nvPr/>
        </p:nvSpPr>
        <p:spPr>
          <a:xfrm>
            <a:off x="3337560" y="2011680"/>
            <a:ext cx="2240280" cy="640080"/>
          </a:xfrm>
          <a:prstGeom prst="rect">
            <a:avLst/>
          </a:prstGeom>
          <a:noFill/>
          <a:ln/>
        </p:spPr>
        <p:txBody>
          <a:bodyPr wrap="square" lIns="0" tIns="0" rIns="0" bIns="0" rtlCol="0" anchor="t"/>
          <a:lstStyle/>
          <a:p>
            <a:pPr indent="0" marL="0">
              <a:buNone/>
            </a:pPr>
            <a:r>
              <a:rPr lang="en-US" sz="1300" dirty="0">
                <a:solidFill>
                  <a:schemeClr val="tx1"/>
                </a:solidFill>
              </a:rPr>
              <a:t>Especificaciones, como el % de errores permitido</a:t>
            </a:r>
            <a:endParaRPr lang="en-US" sz="1300" dirty="0"/>
          </a:p>
        </p:txBody>
      </p:sp>
      <p:sp>
        <p:nvSpPr>
          <p:cNvPr id="14" name="Tarjeta"/>
          <p:cNvSpPr/>
          <p:nvPr/>
        </p:nvSpPr>
        <p:spPr>
          <a:xfrm>
            <a:off x="457200" y="2880360"/>
            <a:ext cx="2560320" cy="1554480"/>
          </a:xfrm>
          <a:prstGeom prst="roundRect">
            <a:avLst>
              <a:gd name="adj" fmla="val 4706"/>
            </a:avLst>
          </a:prstGeom>
          <a:solidFill>
            <a:schemeClr val="bg2"/>
          </a:solidFill>
          <a:ln/>
        </p:spPr>
      </p:sp>
      <p:sp>
        <p:nvSpPr>
          <p:cNvPr id="15" name="Círculo de icono"/>
          <p:cNvSpPr/>
          <p:nvPr/>
        </p:nvSpPr>
        <p:spPr>
          <a:xfrm>
            <a:off x="640080" y="3063240"/>
            <a:ext cx="548640" cy="548640"/>
          </a:xfrm>
          <a:prstGeom prst="ellipse">
            <a:avLst/>
          </a:prstGeom>
          <a:solidFill>
            <a:schemeClr val="accent1"/>
          </a:solidFill>
          <a:ln/>
        </p:spPr>
      </p:sp>
      <p:pic>
        <p:nvPicPr>
          <p:cNvPr id="16" name="Icono" descr="FaClock">    </p:cNvPr>
          <p:cNvPicPr>
            <a:picLocks noChangeAspect="1"/>
          </p:cNvPicPr>
          <p:nvPr/>
        </p:nvPicPr>
        <p:blipFill>
          <a:blip r:embed="rId3"/>
          <a:stretch>
            <a:fillRect/>
          </a:stretch>
        </p:blipFill>
        <p:spPr>
          <a:xfrm>
            <a:off x="760781" y="3183941"/>
            <a:ext cx="307238" cy="307238"/>
          </a:xfrm>
          <a:prstGeom prst="rect">
            <a:avLst/>
          </a:prstGeom>
        </p:spPr>
      </p:pic>
      <p:sp>
        <p:nvSpPr>
          <p:cNvPr id="17" name="Text 12"/>
          <p:cNvSpPr txBox="1"/>
          <p:nvPr/>
        </p:nvSpPr>
        <p:spPr>
          <a:xfrm>
            <a:off x="1325880" y="3154680"/>
            <a:ext cx="1554480" cy="365760"/>
          </a:xfrm>
          <a:prstGeom prst="rect">
            <a:avLst/>
          </a:prstGeom>
          <a:noFill/>
          <a:ln/>
        </p:spPr>
        <p:txBody>
          <a:bodyPr wrap="square" lIns="0" tIns="0" rIns="0" bIns="0" rtlCol="0" anchor="t"/>
          <a:lstStyle/>
          <a:p>
            <a:pPr indent="0" marL="0">
              <a:buNone/>
            </a:pPr>
            <a:r>
              <a:rPr lang="en-US" sz="1700" b="1" dirty="0">
                <a:solidFill>
                  <a:schemeClr val="tx2"/>
                </a:solidFill>
              </a:rPr>
              <a:t>Tiempo</a:t>
            </a:r>
            <a:endParaRPr lang="en-US" sz="1700" dirty="0"/>
          </a:p>
        </p:txBody>
      </p:sp>
      <p:sp>
        <p:nvSpPr>
          <p:cNvPr id="18" name="Text 13"/>
          <p:cNvSpPr txBox="1"/>
          <p:nvPr/>
        </p:nvSpPr>
        <p:spPr>
          <a:xfrm>
            <a:off x="640080" y="3703320"/>
            <a:ext cx="2240280" cy="640080"/>
          </a:xfrm>
          <a:prstGeom prst="rect">
            <a:avLst/>
          </a:prstGeom>
          <a:noFill/>
          <a:ln/>
        </p:spPr>
        <p:txBody>
          <a:bodyPr wrap="square" lIns="0" tIns="0" rIns="0" bIns="0" rtlCol="0" anchor="t"/>
          <a:lstStyle/>
          <a:p>
            <a:pPr indent="0" marL="0">
              <a:buNone/>
            </a:pPr>
            <a:r>
              <a:rPr lang="en-US" sz="1300" dirty="0">
                <a:solidFill>
                  <a:schemeClr val="tx1"/>
                </a:solidFill>
              </a:rPr>
              <a:t>Duración de una tarea o plazo de entrega</a:t>
            </a:r>
            <a:endParaRPr lang="en-US" sz="1300" dirty="0"/>
          </a:p>
        </p:txBody>
      </p:sp>
      <p:sp>
        <p:nvSpPr>
          <p:cNvPr id="19" name="Tarjeta"/>
          <p:cNvSpPr/>
          <p:nvPr/>
        </p:nvSpPr>
        <p:spPr>
          <a:xfrm>
            <a:off x="3154680" y="2880360"/>
            <a:ext cx="2560320" cy="1554480"/>
          </a:xfrm>
          <a:prstGeom prst="roundRect">
            <a:avLst>
              <a:gd name="adj" fmla="val 4706"/>
            </a:avLst>
          </a:prstGeom>
          <a:solidFill>
            <a:schemeClr val="bg2"/>
          </a:solidFill>
          <a:ln/>
        </p:spPr>
      </p:sp>
      <p:sp>
        <p:nvSpPr>
          <p:cNvPr id="20" name="Círculo de icono"/>
          <p:cNvSpPr/>
          <p:nvPr/>
        </p:nvSpPr>
        <p:spPr>
          <a:xfrm>
            <a:off x="3337560" y="3063240"/>
            <a:ext cx="548640" cy="548640"/>
          </a:xfrm>
          <a:prstGeom prst="ellipse">
            <a:avLst/>
          </a:prstGeom>
          <a:solidFill>
            <a:schemeClr val="accent1"/>
          </a:solidFill>
          <a:ln/>
        </p:spPr>
      </p:sp>
      <p:pic>
        <p:nvPicPr>
          <p:cNvPr id="21" name="Icono" descr="FaDollarSign">    </p:cNvPr>
          <p:cNvPicPr>
            <a:picLocks noChangeAspect="1"/>
          </p:cNvPicPr>
          <p:nvPr/>
        </p:nvPicPr>
        <p:blipFill>
          <a:blip r:embed="rId4"/>
          <a:stretch>
            <a:fillRect/>
          </a:stretch>
        </p:blipFill>
        <p:spPr>
          <a:xfrm>
            <a:off x="3458261" y="3183941"/>
            <a:ext cx="307238" cy="307238"/>
          </a:xfrm>
          <a:prstGeom prst="rect">
            <a:avLst/>
          </a:prstGeom>
        </p:spPr>
      </p:pic>
      <p:sp>
        <p:nvSpPr>
          <p:cNvPr id="22" name="Text 16"/>
          <p:cNvSpPr txBox="1"/>
          <p:nvPr/>
        </p:nvSpPr>
        <p:spPr>
          <a:xfrm>
            <a:off x="4023360" y="3154680"/>
            <a:ext cx="1554480" cy="365760"/>
          </a:xfrm>
          <a:prstGeom prst="rect">
            <a:avLst/>
          </a:prstGeom>
          <a:noFill/>
          <a:ln/>
        </p:spPr>
        <p:txBody>
          <a:bodyPr wrap="square" lIns="0" tIns="0" rIns="0" bIns="0" rtlCol="0" anchor="t"/>
          <a:lstStyle/>
          <a:p>
            <a:pPr indent="0" marL="0">
              <a:buNone/>
            </a:pPr>
            <a:r>
              <a:rPr lang="en-US" sz="1700" b="1" dirty="0">
                <a:solidFill>
                  <a:schemeClr val="tx2"/>
                </a:solidFill>
              </a:rPr>
              <a:t>Costo</a:t>
            </a:r>
            <a:endParaRPr lang="en-US" sz="1700" dirty="0"/>
          </a:p>
        </p:txBody>
      </p:sp>
      <p:sp>
        <p:nvSpPr>
          <p:cNvPr id="23" name="Text 17"/>
          <p:cNvSpPr txBox="1"/>
          <p:nvPr/>
        </p:nvSpPr>
        <p:spPr>
          <a:xfrm>
            <a:off x="3337560" y="3703320"/>
            <a:ext cx="2240280" cy="640080"/>
          </a:xfrm>
          <a:prstGeom prst="rect">
            <a:avLst/>
          </a:prstGeom>
          <a:noFill/>
          <a:ln/>
        </p:spPr>
        <p:txBody>
          <a:bodyPr wrap="square" lIns="0" tIns="0" rIns="0" bIns="0" rtlCol="0" anchor="t"/>
          <a:lstStyle/>
          <a:p>
            <a:pPr indent="0" marL="0">
              <a:buNone/>
            </a:pPr>
            <a:r>
              <a:rPr lang="en-US" sz="1300" dirty="0">
                <a:solidFill>
                  <a:schemeClr val="tx1"/>
                </a:solidFill>
              </a:rPr>
              <a:t>Costo por unidad o presupuesto de un departamento</a:t>
            </a:r>
            <a:endParaRPr lang="en-US" sz="1300" dirty="0"/>
          </a:p>
        </p:txBody>
      </p:sp>
      <p:sp>
        <p:nvSpPr>
          <p:cNvPr id="24" name="Panel"/>
          <p:cNvSpPr/>
          <p:nvPr/>
        </p:nvSpPr>
        <p:spPr>
          <a:xfrm>
            <a:off x="5943600" y="1188720"/>
            <a:ext cx="2743200" cy="3246120"/>
          </a:xfrm>
          <a:prstGeom prst="rect">
            <a:avLst/>
          </a:prstGeom>
          <a:solidFill>
            <a:schemeClr val="tx2"/>
          </a:solidFill>
          <a:ln/>
        </p:spPr>
      </p:sp>
      <p:sp>
        <p:nvSpPr>
          <p:cNvPr id="25" name="Text 19"/>
          <p:cNvSpPr txBox="1"/>
          <p:nvPr/>
        </p:nvSpPr>
        <p:spPr>
          <a:xfrm>
            <a:off x="6126480" y="1325880"/>
            <a:ext cx="2423160" cy="3017520"/>
          </a:xfrm>
          <a:prstGeom prst="rect">
            <a:avLst/>
          </a:prstGeom>
          <a:noFill/>
          <a:ln/>
        </p:spPr>
        <p:txBody>
          <a:bodyPr wrap="square" lIns="0" tIns="0" rIns="0" bIns="0" rtlCol="0" anchor="t"/>
          <a:lstStyle/>
          <a:p>
            <a:pPr indent="0" marL="0">
              <a:buNone/>
            </a:pPr>
            <a:r>
              <a:rPr lang="en-US" sz="1600" b="1" dirty="0">
                <a:solidFill>
                  <a:schemeClr val="accent2"/>
                </a:solidFill>
              </a:rPr>
              <a:t>Un buen estándar es…</a:t>
            </a:r>
            <a:endParaRPr lang="en-US" sz="1400" dirty="0"/>
          </a:p>
          <a:p>
            <a:pPr indent="0" marL="0">
              <a:buNone/>
            </a:pPr>
            <a:r>
              <a:rPr lang="en-US" sz="600" dirty="0">
                <a:solidFill>
                  <a:schemeClr val="bg1"/>
                </a:solidFill>
              </a:rPr>
              <a:t> </a:t>
            </a:r>
            <a:endParaRPr lang="en-US" sz="1400" dirty="0"/>
          </a:p>
          <a:p>
            <a:pPr marL="342900" indent="-342900">
              <a:spcAft>
                <a:spcPts val="600"/>
              </a:spcAft>
              <a:buSzPct val="100000"/>
              <a:buChar char="•"/>
            </a:pPr>
            <a:r>
              <a:rPr lang="en-US" sz="1400" dirty="0">
                <a:solidFill>
                  <a:schemeClr val="bg1"/>
                </a:solidFill>
              </a:rPr>
              <a:t>Medible: se expresa en datos</a:t>
            </a:r>
            <a:endParaRPr lang="en-US" sz="1400" dirty="0"/>
          </a:p>
          <a:p>
            <a:pPr marL="342900" indent="-342900">
              <a:spcAft>
                <a:spcPts val="600"/>
              </a:spcAft>
              <a:buSzPct val="100000"/>
              <a:buChar char="•"/>
            </a:pPr>
            <a:r>
              <a:rPr lang="en-US" sz="1400" dirty="0">
                <a:solidFill>
                  <a:schemeClr val="bg1"/>
                </a:solidFill>
              </a:rPr>
              <a:t>Alcanzable: ni irreal ni demasiado fácil</a:t>
            </a:r>
            <a:endParaRPr lang="en-US" sz="1400" dirty="0"/>
          </a:p>
          <a:p>
            <a:pPr marL="342900" indent="-342900">
              <a:spcAft>
                <a:spcPts val="600"/>
              </a:spcAft>
              <a:buSzPct val="100000"/>
              <a:buChar char="•"/>
            </a:pPr>
            <a:r>
              <a:rPr lang="en-US" sz="1400" dirty="0">
                <a:solidFill>
                  <a:schemeClr val="bg1"/>
                </a:solidFill>
              </a:rPr>
              <a:t>Alineado con la estrategia</a:t>
            </a:r>
            <a:endParaRPr lang="en-US" sz="1400" dirty="0"/>
          </a:p>
          <a:p>
            <a:pPr indent="0" marL="0">
              <a:buNone/>
            </a:pPr>
            <a:r>
              <a:rPr lang="en-US" sz="600" dirty="0">
                <a:solidFill>
                  <a:schemeClr val="bg1"/>
                </a:solidFill>
              </a:rPr>
              <a:t> </a:t>
            </a:r>
            <a:endParaRPr lang="en-US" sz="1400" dirty="0"/>
          </a:p>
          <a:p>
            <a:pPr indent="0" marL="0">
              <a:buNone/>
            </a:pPr>
            <a:r>
              <a:rPr lang="en-US" sz="1300" i="1" dirty="0">
                <a:solidFill>
                  <a:schemeClr val="bg1"/>
                </a:solidFill>
              </a:rPr>
              <a:t>Se vigilan los puntos críticos: donde una desviación tiene más impacto.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Los KPI convierten el estándar en números</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Yadiel Cruz</a:t>
            </a:r>
            <a:endParaRPr lang="en-US" sz="1100" dirty="0"/>
          </a:p>
        </p:txBody>
      </p:sp>
      <p:sp>
        <p:nvSpPr>
          <p:cNvPr id="4" name="Text 2"/>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500" i="1" dirty="0">
                <a:solidFill>
                  <a:schemeClr val="accent4"/>
                </a:solidFill>
              </a:rPr>
              <a:t>Ejemplo: un centro de servicio al cliente</a:t>
            </a:r>
            <a:endParaRPr lang="en-US" sz="1500" dirty="0"/>
          </a:p>
        </p:txBody>
      </p:sp>
      <p:sp>
        <p:nvSpPr>
          <p:cNvPr id="5" name="Tarjeta"/>
          <p:cNvSpPr/>
          <p:nvPr/>
        </p:nvSpPr>
        <p:spPr>
          <a:xfrm>
            <a:off x="457200" y="1554480"/>
            <a:ext cx="2560320" cy="1828800"/>
          </a:xfrm>
          <a:prstGeom prst="roundRect">
            <a:avLst>
              <a:gd name="adj" fmla="val 4000"/>
            </a:avLst>
          </a:prstGeom>
          <a:solidFill>
            <a:schemeClr val="bg2"/>
          </a:solidFill>
          <a:ln/>
        </p:spPr>
      </p:sp>
      <p:sp>
        <p:nvSpPr>
          <p:cNvPr id="6" name="Text 4"/>
          <p:cNvSpPr txBox="1"/>
          <p:nvPr/>
        </p:nvSpPr>
        <p:spPr>
          <a:xfrm>
            <a:off x="640080" y="1691640"/>
            <a:ext cx="2194560" cy="868680"/>
          </a:xfrm>
          <a:prstGeom prst="rect">
            <a:avLst/>
          </a:prstGeom>
          <a:noFill/>
          <a:ln/>
        </p:spPr>
        <p:txBody>
          <a:bodyPr wrap="square" lIns="0" tIns="0" rIns="0" bIns="0"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6 min</a:t>
            </a:r>
            <a:endParaRPr lang="en-US" sz="4800" dirty="0"/>
          </a:p>
        </p:txBody>
      </p:sp>
      <p:sp>
        <p:nvSpPr>
          <p:cNvPr id="7" name="Text 5"/>
          <p:cNvSpPr txBox="1"/>
          <p:nvPr/>
        </p:nvSpPr>
        <p:spPr>
          <a:xfrm>
            <a:off x="640080" y="2606040"/>
            <a:ext cx="2194560" cy="640080"/>
          </a:xfrm>
          <a:prstGeom prst="rect">
            <a:avLst/>
          </a:prstGeom>
          <a:noFill/>
          <a:ln/>
        </p:spPr>
        <p:txBody>
          <a:bodyPr wrap="square" lIns="0" tIns="0" rIns="0" bIns="0" rtlCol="0" anchor="t"/>
          <a:lstStyle/>
          <a:p>
            <a:pPr algn="ctr" indent="0" marL="0">
              <a:buNone/>
            </a:pPr>
            <a:r>
              <a:rPr lang="en-US" sz="1400" dirty="0">
                <a:solidFill>
                  <a:schemeClr val="tx1"/>
                </a:solidFill>
              </a:rPr>
              <a:t>promedio para resolver cada llamada</a:t>
            </a:r>
            <a:endParaRPr lang="en-US" sz="1400" dirty="0"/>
          </a:p>
        </p:txBody>
      </p:sp>
      <p:sp>
        <p:nvSpPr>
          <p:cNvPr id="8" name="Tarjeta"/>
          <p:cNvSpPr/>
          <p:nvPr/>
        </p:nvSpPr>
        <p:spPr>
          <a:xfrm>
            <a:off x="3200400" y="1554480"/>
            <a:ext cx="2560320" cy="1828800"/>
          </a:xfrm>
          <a:prstGeom prst="roundRect">
            <a:avLst>
              <a:gd name="adj" fmla="val 4000"/>
            </a:avLst>
          </a:prstGeom>
          <a:solidFill>
            <a:schemeClr val="bg2"/>
          </a:solidFill>
          <a:ln/>
        </p:spPr>
      </p:sp>
      <p:sp>
        <p:nvSpPr>
          <p:cNvPr id="9" name="Text 7"/>
          <p:cNvSpPr txBox="1"/>
          <p:nvPr/>
        </p:nvSpPr>
        <p:spPr>
          <a:xfrm>
            <a:off x="3383280" y="1691640"/>
            <a:ext cx="2194560" cy="868680"/>
          </a:xfrm>
          <a:prstGeom prst="rect">
            <a:avLst/>
          </a:prstGeom>
          <a:noFill/>
          <a:ln/>
        </p:spPr>
        <p:txBody>
          <a:bodyPr wrap="square" lIns="0" tIns="0" rIns="0" bIns="0" rtlCol="0" anchor="ctr"/>
          <a:lstStyle/>
          <a:p>
            <a:pPr algn="ctr" indent="0" marL="0">
              <a:buNone/>
            </a:pPr>
            <a:r>
              <a:rPr lang="en-US" sz="4800" b="1" dirty="0">
                <a:solidFill>
                  <a:schemeClr val="accent1"/>
                </a:solidFill>
                <a:latin typeface="Cambria" pitchFamily="34" charset="0"/>
                <a:ea typeface="Cambria" pitchFamily="34" charset="-122"/>
                <a:cs typeface="Cambria" pitchFamily="34" charset="-120"/>
              </a:rPr>
              <a:t>90 %</a:t>
            </a:r>
            <a:endParaRPr lang="en-US" sz="4800" dirty="0"/>
          </a:p>
        </p:txBody>
      </p:sp>
      <p:sp>
        <p:nvSpPr>
          <p:cNvPr id="10" name="Text 8"/>
          <p:cNvSpPr txBox="1"/>
          <p:nvPr/>
        </p:nvSpPr>
        <p:spPr>
          <a:xfrm>
            <a:off x="3383280" y="2606040"/>
            <a:ext cx="2194560" cy="640080"/>
          </a:xfrm>
          <a:prstGeom prst="rect">
            <a:avLst/>
          </a:prstGeom>
          <a:noFill/>
          <a:ln/>
        </p:spPr>
        <p:txBody>
          <a:bodyPr wrap="square" lIns="0" tIns="0" rIns="0" bIns="0" rtlCol="0" anchor="t"/>
          <a:lstStyle/>
          <a:p>
            <a:pPr algn="ctr" indent="0" marL="0">
              <a:buNone/>
            </a:pPr>
            <a:r>
              <a:rPr lang="en-US" sz="1400" dirty="0">
                <a:solidFill>
                  <a:schemeClr val="tx1"/>
                </a:solidFill>
              </a:rPr>
              <a:t>índice mínimo de satisfacción del cliente</a:t>
            </a:r>
            <a:endParaRPr lang="en-US" sz="1400" dirty="0"/>
          </a:p>
        </p:txBody>
      </p:sp>
      <p:sp>
        <p:nvSpPr>
          <p:cNvPr id="11" name="Tarjeta"/>
          <p:cNvSpPr/>
          <p:nvPr/>
        </p:nvSpPr>
        <p:spPr>
          <a:xfrm>
            <a:off x="5943600" y="1554480"/>
            <a:ext cx="2743200" cy="2880360"/>
          </a:xfrm>
          <a:prstGeom prst="roundRect">
            <a:avLst>
              <a:gd name="adj" fmla="val 2667"/>
            </a:avLst>
          </a:prstGeom>
          <a:solidFill>
            <a:schemeClr val="accent2"/>
          </a:solidFill>
          <a:ln/>
        </p:spPr>
      </p:sp>
      <p:sp>
        <p:nvSpPr>
          <p:cNvPr id="12" name="Text 10"/>
          <p:cNvSpPr txBox="1"/>
          <p:nvPr/>
        </p:nvSpPr>
        <p:spPr>
          <a:xfrm>
            <a:off x="6126480" y="1691640"/>
            <a:ext cx="2377440" cy="2651760"/>
          </a:xfrm>
          <a:prstGeom prst="rect">
            <a:avLst/>
          </a:prstGeom>
          <a:noFill/>
          <a:ln/>
        </p:spPr>
        <p:txBody>
          <a:bodyPr wrap="square" lIns="0" tIns="0" rIns="0" bIns="0" rtlCol="0" anchor="t"/>
          <a:lstStyle/>
          <a:p>
            <a:pPr indent="0" marL="0">
              <a:buNone/>
            </a:pPr>
            <a:r>
              <a:rPr lang="en-US" sz="1600" b="1" dirty="0">
                <a:solidFill>
                  <a:schemeClr val="tx1"/>
                </a:solidFill>
              </a:rPr>
              <a:t>Rango de variación aceptable</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No toda diferencia requiere intervención. Si la desviación sale del rango, el gerente analiza la causa y decide:</a:t>
            </a:r>
            <a:endParaRPr lang="en-US" sz="1400" dirty="0"/>
          </a:p>
          <a:p>
            <a:pPr indent="0" marL="0">
              <a:buNone/>
            </a:pPr>
            <a:r>
              <a:rPr lang="en-US" sz="600" dirty="0">
                <a:solidFill>
                  <a:schemeClr val="tx1"/>
                </a:solidFill>
              </a:rPr>
              <a:t> </a:t>
            </a:r>
            <a:endParaRPr lang="en-US" sz="1400" dirty="0"/>
          </a:p>
          <a:p>
            <a:pPr marL="342900" indent="-342900">
              <a:spcAft>
                <a:spcPts val="600"/>
              </a:spcAft>
              <a:buSzPct val="100000"/>
              <a:buChar char="•"/>
            </a:pPr>
            <a:r>
              <a:rPr lang="en-US" sz="1400" dirty="0">
                <a:solidFill>
                  <a:schemeClr val="tx1"/>
                </a:solidFill>
              </a:rPr>
              <a:t>corregir el desempeño, o</a:t>
            </a:r>
            <a:endParaRPr lang="en-US" sz="1400" dirty="0"/>
          </a:p>
          <a:p>
            <a:pPr marL="342900" indent="-342900">
              <a:spcAft>
                <a:spcPts val="600"/>
              </a:spcAft>
              <a:buSzPct val="100000"/>
              <a:buChar char="•"/>
            </a:pPr>
            <a:r>
              <a:rPr lang="en-US" sz="1400" dirty="0">
                <a:solidFill>
                  <a:schemeClr val="tx1"/>
                </a:solidFill>
              </a:rPr>
              <a:t>ajustar el estándar</a:t>
            </a:r>
            <a:endParaRPr lang="en-US" sz="1400" dirty="0"/>
          </a:p>
        </p:txBody>
      </p:sp>
      <p:sp>
        <p:nvSpPr>
          <p:cNvPr id="13" name="Text 11"/>
          <p:cNvSpPr txBox="1"/>
          <p:nvPr/>
        </p:nvSpPr>
        <p:spPr>
          <a:xfrm>
            <a:off x="457200" y="3657600"/>
            <a:ext cx="5303520" cy="548640"/>
          </a:xfrm>
          <a:prstGeom prst="rect">
            <a:avLst/>
          </a:prstGeom>
          <a:noFill/>
          <a:ln/>
        </p:spPr>
        <p:txBody>
          <a:bodyPr wrap="square" lIns="0" tIns="0" rIns="0" bIns="0" rtlCol="0" anchor="t"/>
          <a:lstStyle/>
          <a:p>
            <a:pPr indent="0" marL="0">
              <a:buNone/>
            </a:pPr>
            <a:r>
              <a:rPr lang="en-US" sz="1300" dirty="0">
                <a:solidFill>
                  <a:schemeClr val="accent4"/>
                </a:solidFill>
              </a:rPr>
              <a:t>KPI: indicadores clave de desempeño (Key Performance Indicators).</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Todo buen plan trae su forma de medirse</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Joan Rios · Robbins y Coulter (2018)</a:t>
            </a:r>
            <a:endParaRPr lang="en-US" sz="1100" dirty="0"/>
          </a:p>
        </p:txBody>
      </p:sp>
      <p:sp>
        <p:nvSpPr>
          <p:cNvPr id="4" name="Text 2"/>
          <p:cNvSpPr txBox="1"/>
          <p:nvPr/>
        </p:nvSpPr>
        <p:spPr>
          <a:xfrm>
            <a:off x="457200" y="1097280"/>
            <a:ext cx="8229600" cy="594360"/>
          </a:xfrm>
          <a:prstGeom prst="rect">
            <a:avLst/>
          </a:prstGeom>
          <a:noFill/>
          <a:ln/>
        </p:spPr>
        <p:txBody>
          <a:bodyPr wrap="square" lIns="0" tIns="0" rIns="0" bIns="0" rtlCol="0" anchor="t"/>
          <a:lstStyle/>
          <a:p>
            <a:pPr indent="0" marL="0">
              <a:buNone/>
            </a:pPr>
            <a:r>
              <a:rPr lang="en-US" sz="1500" dirty="0">
                <a:solidFill>
                  <a:schemeClr val="tx1"/>
                </a:solidFill>
              </a:rPr>
              <a:t>Las técnicas de planificación anticipan el trabajo, asignan recursos y fijan secuencias y plazos. Así generan los criterios para medir el avance.</a:t>
            </a:r>
            <a:endParaRPr lang="en-US" sz="1500" dirty="0"/>
          </a:p>
        </p:txBody>
      </p:sp>
      <p:sp>
        <p:nvSpPr>
          <p:cNvPr id="5" name="Tarjeta"/>
          <p:cNvSpPr/>
          <p:nvPr/>
        </p:nvSpPr>
        <p:spPr>
          <a:xfrm>
            <a:off x="457200" y="1874520"/>
            <a:ext cx="4023360" cy="2560320"/>
          </a:xfrm>
          <a:prstGeom prst="roundRect">
            <a:avLst>
              <a:gd name="adj" fmla="val 2857"/>
            </a:avLst>
          </a:prstGeom>
          <a:solidFill>
            <a:schemeClr val="bg2"/>
          </a:solidFill>
          <a:ln/>
        </p:spPr>
      </p:sp>
      <p:sp>
        <p:nvSpPr>
          <p:cNvPr id="6" name="Círculo de icono"/>
          <p:cNvSpPr/>
          <p:nvPr/>
        </p:nvSpPr>
        <p:spPr>
          <a:xfrm>
            <a:off x="685800" y="2103120"/>
            <a:ext cx="731520" cy="731520"/>
          </a:xfrm>
          <a:prstGeom prst="ellipse">
            <a:avLst/>
          </a:prstGeom>
          <a:solidFill>
            <a:schemeClr val="accent1"/>
          </a:solidFill>
          <a:ln/>
        </p:spPr>
      </p:sp>
      <p:pic>
        <p:nvPicPr>
          <p:cNvPr id="7" name="Icono" descr="FaGlobe">    </p:cNvPr>
          <p:cNvPicPr>
            <a:picLocks noChangeAspect="1"/>
          </p:cNvPicPr>
          <p:nvPr/>
        </p:nvPicPr>
        <p:blipFill>
          <a:blip r:embed="rId1"/>
          <a:stretch>
            <a:fillRect/>
          </a:stretch>
        </p:blipFill>
        <p:spPr>
          <a:xfrm>
            <a:off x="846734" y="2264054"/>
            <a:ext cx="409651" cy="409651"/>
          </a:xfrm>
          <a:prstGeom prst="rect">
            <a:avLst/>
          </a:prstGeom>
        </p:spPr>
      </p:pic>
      <p:sp>
        <p:nvSpPr>
          <p:cNvPr id="8" name="Text 5"/>
          <p:cNvSpPr txBox="1"/>
          <p:nvPr/>
        </p:nvSpPr>
        <p:spPr>
          <a:xfrm>
            <a:off x="1600200" y="2194560"/>
            <a:ext cx="2743200" cy="548640"/>
          </a:xfrm>
          <a:prstGeom prst="rect">
            <a:avLst/>
          </a:prstGeom>
          <a:noFill/>
          <a:ln/>
        </p:spPr>
        <p:txBody>
          <a:bodyPr wrap="square" lIns="0" tIns="0" rIns="0" bIns="0" rtlCol="0" anchor="ctr"/>
          <a:lstStyle/>
          <a:p>
            <a:pPr indent="0" marL="0">
              <a:buNone/>
            </a:pPr>
            <a:r>
              <a:rPr lang="en-US" sz="1700" b="1" dirty="0">
                <a:solidFill>
                  <a:schemeClr val="tx2"/>
                </a:solidFill>
              </a:rPr>
              <a:t>Orientadas al entorno</a:t>
            </a:r>
            <a:endParaRPr lang="en-US" sz="1700" dirty="0"/>
          </a:p>
        </p:txBody>
      </p:sp>
      <p:sp>
        <p:nvSpPr>
          <p:cNvPr id="9" name="Text 6"/>
          <p:cNvSpPr txBox="1"/>
          <p:nvPr/>
        </p:nvSpPr>
        <p:spPr>
          <a:xfrm>
            <a:off x="685800" y="3063240"/>
            <a:ext cx="3566160" cy="411480"/>
          </a:xfrm>
          <a:prstGeom prst="rect">
            <a:avLst/>
          </a:prstGeom>
          <a:noFill/>
          <a:ln/>
        </p:spPr>
        <p:txBody>
          <a:bodyPr wrap="square" lIns="0" tIns="0" rIns="0" bIns="0" rtlCol="0" anchor="t"/>
          <a:lstStyle/>
          <a:p>
            <a:pPr indent="0" marL="0">
              <a:buNone/>
            </a:pPr>
            <a:r>
              <a:rPr lang="en-US" sz="1800" b="1" dirty="0">
                <a:solidFill>
                  <a:schemeClr val="accent1"/>
                </a:solidFill>
              </a:rPr>
              <a:t>Benchmarking</a:t>
            </a:r>
            <a:endParaRPr lang="en-US" sz="1800" dirty="0"/>
          </a:p>
        </p:txBody>
      </p:sp>
      <p:sp>
        <p:nvSpPr>
          <p:cNvPr id="10" name="Text 7"/>
          <p:cNvSpPr txBox="1"/>
          <p:nvPr/>
        </p:nvSpPr>
        <p:spPr>
          <a:xfrm>
            <a:off x="685800" y="3520440"/>
            <a:ext cx="3566160" cy="731520"/>
          </a:xfrm>
          <a:prstGeom prst="rect">
            <a:avLst/>
          </a:prstGeom>
          <a:noFill/>
          <a:ln/>
        </p:spPr>
        <p:txBody>
          <a:bodyPr wrap="square" lIns="0" tIns="0" rIns="0" bIns="0" rtlCol="0" anchor="t"/>
          <a:lstStyle/>
          <a:p>
            <a:pPr indent="0" marL="0">
              <a:buNone/>
            </a:pPr>
            <a:r>
              <a:rPr lang="en-US" sz="1400" dirty="0">
                <a:solidFill>
                  <a:schemeClr val="tx1"/>
                </a:solidFill>
              </a:rPr>
              <a:t>Definen qué tan alto debe ser el estándar.</a:t>
            </a:r>
            <a:endParaRPr lang="en-US" sz="1400" dirty="0"/>
          </a:p>
        </p:txBody>
      </p:sp>
      <p:sp>
        <p:nvSpPr>
          <p:cNvPr id="11" name="Tarjeta"/>
          <p:cNvSpPr/>
          <p:nvPr/>
        </p:nvSpPr>
        <p:spPr>
          <a:xfrm>
            <a:off x="4663440" y="1874520"/>
            <a:ext cx="4023360" cy="2560320"/>
          </a:xfrm>
          <a:prstGeom prst="roundRect">
            <a:avLst>
              <a:gd name="adj" fmla="val 2857"/>
            </a:avLst>
          </a:prstGeom>
          <a:solidFill>
            <a:schemeClr val="bg2"/>
          </a:solidFill>
          <a:ln/>
        </p:spPr>
      </p:sp>
      <p:sp>
        <p:nvSpPr>
          <p:cNvPr id="12" name="Círculo de icono"/>
          <p:cNvSpPr/>
          <p:nvPr/>
        </p:nvSpPr>
        <p:spPr>
          <a:xfrm>
            <a:off x="4892040" y="2103120"/>
            <a:ext cx="731520" cy="731520"/>
          </a:xfrm>
          <a:prstGeom prst="ellipse">
            <a:avLst/>
          </a:prstGeom>
          <a:solidFill>
            <a:schemeClr val="accent2"/>
          </a:solidFill>
          <a:ln/>
        </p:spPr>
      </p:sp>
      <p:pic>
        <p:nvPicPr>
          <p:cNvPr id="13" name="Icono" descr="FaCalendarDays">    </p:cNvPr>
          <p:cNvPicPr>
            <a:picLocks noChangeAspect="1"/>
          </p:cNvPicPr>
          <p:nvPr/>
        </p:nvPicPr>
        <p:blipFill>
          <a:blip r:embed="rId2"/>
          <a:stretch>
            <a:fillRect/>
          </a:stretch>
        </p:blipFill>
        <p:spPr>
          <a:xfrm>
            <a:off x="5052974" y="2264054"/>
            <a:ext cx="409651" cy="409651"/>
          </a:xfrm>
          <a:prstGeom prst="rect">
            <a:avLst/>
          </a:prstGeom>
        </p:spPr>
      </p:pic>
      <p:sp>
        <p:nvSpPr>
          <p:cNvPr id="14" name="Text 10"/>
          <p:cNvSpPr txBox="1"/>
          <p:nvPr/>
        </p:nvSpPr>
        <p:spPr>
          <a:xfrm>
            <a:off x="5806440" y="2194560"/>
            <a:ext cx="2743200" cy="548640"/>
          </a:xfrm>
          <a:prstGeom prst="rect">
            <a:avLst/>
          </a:prstGeom>
          <a:noFill/>
          <a:ln/>
        </p:spPr>
        <p:txBody>
          <a:bodyPr wrap="square" lIns="0" tIns="0" rIns="0" bIns="0" rtlCol="0" anchor="ctr"/>
          <a:lstStyle/>
          <a:p>
            <a:pPr indent="0" marL="0">
              <a:buNone/>
            </a:pPr>
            <a:r>
              <a:rPr lang="en-US" sz="1700" b="1" dirty="0">
                <a:solidFill>
                  <a:schemeClr val="tx2"/>
                </a:solidFill>
              </a:rPr>
              <a:t>Orientadas a la programación</a:t>
            </a:r>
            <a:endParaRPr lang="en-US" sz="1700" dirty="0"/>
          </a:p>
        </p:txBody>
      </p:sp>
      <p:sp>
        <p:nvSpPr>
          <p:cNvPr id="15" name="Text 11"/>
          <p:cNvSpPr txBox="1"/>
          <p:nvPr/>
        </p:nvSpPr>
        <p:spPr>
          <a:xfrm>
            <a:off x="4892040" y="3063240"/>
            <a:ext cx="3566160" cy="411480"/>
          </a:xfrm>
          <a:prstGeom prst="rect">
            <a:avLst/>
          </a:prstGeom>
          <a:noFill/>
          <a:ln/>
        </p:spPr>
        <p:txBody>
          <a:bodyPr wrap="square" lIns="0" tIns="0" rIns="0" bIns="0" rtlCol="0" anchor="t"/>
          <a:lstStyle/>
          <a:p>
            <a:pPr indent="0" marL="0">
              <a:buNone/>
            </a:pPr>
            <a:r>
              <a:rPr lang="en-US" sz="1800" b="1" dirty="0">
                <a:solidFill>
                  <a:schemeClr val="accent3"/>
                </a:solidFill>
              </a:rPr>
              <a:t>Gantt · PERT · Ruta crítica</a:t>
            </a:r>
            <a:endParaRPr lang="en-US" sz="1800" dirty="0"/>
          </a:p>
        </p:txBody>
      </p:sp>
      <p:sp>
        <p:nvSpPr>
          <p:cNvPr id="16" name="Text 12"/>
          <p:cNvSpPr txBox="1"/>
          <p:nvPr/>
        </p:nvSpPr>
        <p:spPr>
          <a:xfrm>
            <a:off x="4892040" y="3520440"/>
            <a:ext cx="3566160" cy="731520"/>
          </a:xfrm>
          <a:prstGeom prst="rect">
            <a:avLst/>
          </a:prstGeom>
          <a:noFill/>
          <a:ln/>
        </p:spPr>
        <p:txBody>
          <a:bodyPr wrap="square" lIns="0" tIns="0" rIns="0" bIns="0" rtlCol="0" anchor="t"/>
          <a:lstStyle/>
          <a:p>
            <a:pPr indent="0" marL="0">
              <a:buNone/>
            </a:pPr>
            <a:r>
              <a:rPr lang="en-US" sz="1400" dirty="0">
                <a:solidFill>
                  <a:schemeClr val="tx1"/>
                </a:solidFill>
              </a:rPr>
              <a:t>Organizan en el tiempo las actividades para alcanzarlo.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Benchmarking: compararse con los mejores</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Alayla Arbonies · Camp (1989)</a:t>
            </a:r>
            <a:endParaRPr lang="en-US" sz="1100" dirty="0"/>
          </a:p>
        </p:txBody>
      </p:sp>
      <p:sp>
        <p:nvSpPr>
          <p:cNvPr id="4" name="Text 2"/>
          <p:cNvSpPr txBox="1"/>
          <p:nvPr/>
        </p:nvSpPr>
        <p:spPr>
          <a:xfrm>
            <a:off x="457200" y="1097280"/>
            <a:ext cx="4754880" cy="868680"/>
          </a:xfrm>
          <a:prstGeom prst="rect">
            <a:avLst/>
          </a:prstGeom>
          <a:noFill/>
          <a:ln/>
        </p:spPr>
        <p:txBody>
          <a:bodyPr wrap="square" lIns="0" tIns="0" rIns="0" bIns="0" rtlCol="0" anchor="t"/>
          <a:lstStyle/>
          <a:p>
            <a:pPr indent="0" marL="0">
              <a:buNone/>
            </a:pPr>
            <a:r>
              <a:rPr lang="en-US" sz="1500" dirty="0">
                <a:solidFill>
                  <a:schemeClr val="tx1"/>
                </a:solidFill>
              </a:rPr>
              <a:t>Comparación sistemática de productos, servicios y prácticas con los de organizaciones líderes, para identificar oportunidades de mejora.</a:t>
            </a:r>
            <a:endParaRPr lang="en-US" sz="1500" dirty="0"/>
          </a:p>
        </p:txBody>
      </p:sp>
      <p:sp>
        <p:nvSpPr>
          <p:cNvPr id="5" name="Tarjeta"/>
          <p:cNvSpPr/>
          <p:nvPr/>
        </p:nvSpPr>
        <p:spPr>
          <a:xfrm>
            <a:off x="457200" y="2103120"/>
            <a:ext cx="4754880" cy="2331720"/>
          </a:xfrm>
          <a:prstGeom prst="roundRect">
            <a:avLst>
              <a:gd name="adj" fmla="val 3137"/>
            </a:avLst>
          </a:prstGeom>
          <a:solidFill>
            <a:schemeClr val="tx2"/>
          </a:solidFill>
          <a:ln/>
        </p:spPr>
      </p:sp>
      <p:sp>
        <p:nvSpPr>
          <p:cNvPr id="6" name="Círculo de icono"/>
          <p:cNvSpPr/>
          <p:nvPr/>
        </p:nvSpPr>
        <p:spPr>
          <a:xfrm>
            <a:off x="685800" y="2331720"/>
            <a:ext cx="640080" cy="640080"/>
          </a:xfrm>
          <a:prstGeom prst="ellipse">
            <a:avLst/>
          </a:prstGeom>
          <a:solidFill>
            <a:schemeClr val="accent2"/>
          </a:solidFill>
          <a:ln/>
        </p:spPr>
      </p:sp>
      <p:pic>
        <p:nvPicPr>
          <p:cNvPr id="7" name="Icono" descr="FaLightbulb">    </p:cNvPr>
          <p:cNvPicPr>
            <a:picLocks noChangeAspect="1"/>
          </p:cNvPicPr>
          <p:nvPr/>
        </p:nvPicPr>
        <p:blipFill>
          <a:blip r:embed="rId1"/>
          <a:stretch>
            <a:fillRect/>
          </a:stretch>
        </p:blipFill>
        <p:spPr>
          <a:xfrm>
            <a:off x="826618" y="2472538"/>
            <a:ext cx="358445" cy="358445"/>
          </a:xfrm>
          <a:prstGeom prst="rect">
            <a:avLst/>
          </a:prstGeom>
        </p:spPr>
      </p:pic>
      <p:sp>
        <p:nvSpPr>
          <p:cNvPr id="8" name="Text 5"/>
          <p:cNvSpPr txBox="1"/>
          <p:nvPr/>
        </p:nvSpPr>
        <p:spPr>
          <a:xfrm>
            <a:off x="1463040" y="2331720"/>
            <a:ext cx="3566160" cy="2011680"/>
          </a:xfrm>
          <a:prstGeom prst="rect">
            <a:avLst/>
          </a:prstGeom>
          <a:noFill/>
          <a:ln/>
        </p:spPr>
        <p:txBody>
          <a:bodyPr wrap="square" lIns="0" tIns="0" rIns="0" bIns="0" rtlCol="0" anchor="t"/>
          <a:lstStyle/>
          <a:p>
            <a:pPr indent="0" marL="0">
              <a:buNone/>
            </a:pPr>
            <a:r>
              <a:rPr lang="en-US" sz="1700" b="1" dirty="0">
                <a:solidFill>
                  <a:schemeClr val="accent2"/>
                </a:solidFill>
              </a:rPr>
              <a:t>El caso Xerox</a:t>
            </a:r>
            <a:endParaRPr lang="en-US" sz="1300" dirty="0"/>
          </a:p>
          <a:p>
            <a:pPr indent="0" marL="0">
              <a:buNone/>
            </a:pPr>
            <a:r>
              <a:rPr lang="en-US" sz="1300" dirty="0">
                <a:solidFill>
                  <a:schemeClr val="bg1"/>
                </a:solidFill>
              </a:rPr>
              <a:t>A finales de los años 70, Xerox se comparó con sus competidores japoneses y descubrió que vendían copiadoras a un precio cercano a lo que a Xerox le costaba fabricarlas. Eso provocó una revisión profunda de sus procesos.</a:t>
            </a:r>
            <a:endParaRPr lang="en-US" sz="1300" dirty="0"/>
          </a:p>
        </p:txBody>
      </p:sp>
      <p:sp>
        <p:nvSpPr>
          <p:cNvPr id="9" name="Tarjeta"/>
          <p:cNvSpPr/>
          <p:nvPr/>
        </p:nvSpPr>
        <p:spPr>
          <a:xfrm>
            <a:off x="5486400" y="1097280"/>
            <a:ext cx="3200400" cy="731520"/>
          </a:xfrm>
          <a:prstGeom prst="roundRect">
            <a:avLst>
              <a:gd name="adj" fmla="val 10000"/>
            </a:avLst>
          </a:prstGeom>
          <a:solidFill>
            <a:schemeClr val="bg2"/>
          </a:solidFill>
          <a:ln/>
        </p:spPr>
      </p:sp>
      <p:sp>
        <p:nvSpPr>
          <p:cNvPr id="10" name="Text 7"/>
          <p:cNvSpPr txBox="1"/>
          <p:nvPr/>
        </p:nvSpPr>
        <p:spPr>
          <a:xfrm>
            <a:off x="5669280" y="1170432"/>
            <a:ext cx="2880360" cy="603504"/>
          </a:xfrm>
          <a:prstGeom prst="rect">
            <a:avLst/>
          </a:prstGeom>
          <a:noFill/>
          <a:ln/>
        </p:spPr>
        <p:txBody>
          <a:bodyPr wrap="square" lIns="0" tIns="0" rIns="0" bIns="0" rtlCol="0" anchor="t"/>
          <a:lstStyle/>
          <a:p>
            <a:pPr indent="0" marL="0">
              <a:buNone/>
            </a:pPr>
            <a:r>
              <a:rPr lang="en-US" sz="1400" b="1" dirty="0">
                <a:solidFill>
                  <a:schemeClr val="accent1"/>
                </a:solidFill>
              </a:rPr>
              <a:t>Interno</a:t>
            </a:r>
            <a:endParaRPr lang="en-US" sz="1400" dirty="0"/>
          </a:p>
          <a:p>
            <a:pPr indent="0" marL="0">
              <a:buNone/>
            </a:pPr>
            <a:r>
              <a:rPr lang="en-US" sz="1200" dirty="0">
                <a:solidFill>
                  <a:schemeClr val="tx1"/>
                </a:solidFill>
              </a:rPr>
              <a:t>Departamentos o sucursales de la misma organización</a:t>
            </a:r>
            <a:endParaRPr lang="en-US" sz="1400" dirty="0"/>
          </a:p>
        </p:txBody>
      </p:sp>
      <p:sp>
        <p:nvSpPr>
          <p:cNvPr id="11" name="Tarjeta"/>
          <p:cNvSpPr/>
          <p:nvPr/>
        </p:nvSpPr>
        <p:spPr>
          <a:xfrm>
            <a:off x="5486400" y="1947672"/>
            <a:ext cx="3200400" cy="731520"/>
          </a:xfrm>
          <a:prstGeom prst="roundRect">
            <a:avLst>
              <a:gd name="adj" fmla="val 10000"/>
            </a:avLst>
          </a:prstGeom>
          <a:solidFill>
            <a:schemeClr val="bg2"/>
          </a:solidFill>
          <a:ln/>
        </p:spPr>
      </p:sp>
      <p:sp>
        <p:nvSpPr>
          <p:cNvPr id="12" name="Text 9"/>
          <p:cNvSpPr txBox="1"/>
          <p:nvPr/>
        </p:nvSpPr>
        <p:spPr>
          <a:xfrm>
            <a:off x="5669280" y="2020824"/>
            <a:ext cx="2880360" cy="603504"/>
          </a:xfrm>
          <a:prstGeom prst="rect">
            <a:avLst/>
          </a:prstGeom>
          <a:noFill/>
          <a:ln/>
        </p:spPr>
        <p:txBody>
          <a:bodyPr wrap="square" lIns="0" tIns="0" rIns="0" bIns="0" rtlCol="0" anchor="t"/>
          <a:lstStyle/>
          <a:p>
            <a:pPr indent="0" marL="0">
              <a:buNone/>
            </a:pPr>
            <a:r>
              <a:rPr lang="en-US" sz="1400" b="1" dirty="0">
                <a:solidFill>
                  <a:schemeClr val="accent1"/>
                </a:solidFill>
              </a:rPr>
              <a:t>Competitivo</a:t>
            </a:r>
            <a:endParaRPr lang="en-US" sz="1400" dirty="0"/>
          </a:p>
          <a:p>
            <a:pPr indent="0" marL="0">
              <a:buNone/>
            </a:pPr>
            <a:r>
              <a:rPr lang="en-US" sz="1200" dirty="0">
                <a:solidFill>
                  <a:schemeClr val="tx1"/>
                </a:solidFill>
              </a:rPr>
              <a:t>Competidores directos</a:t>
            </a:r>
            <a:endParaRPr lang="en-US" sz="1400" dirty="0"/>
          </a:p>
        </p:txBody>
      </p:sp>
      <p:sp>
        <p:nvSpPr>
          <p:cNvPr id="13" name="Tarjeta"/>
          <p:cNvSpPr/>
          <p:nvPr/>
        </p:nvSpPr>
        <p:spPr>
          <a:xfrm>
            <a:off x="5486400" y="2798064"/>
            <a:ext cx="3200400" cy="731520"/>
          </a:xfrm>
          <a:prstGeom prst="roundRect">
            <a:avLst>
              <a:gd name="adj" fmla="val 10000"/>
            </a:avLst>
          </a:prstGeom>
          <a:solidFill>
            <a:schemeClr val="bg2"/>
          </a:solidFill>
          <a:ln/>
        </p:spPr>
      </p:sp>
      <p:sp>
        <p:nvSpPr>
          <p:cNvPr id="14" name="Text 11"/>
          <p:cNvSpPr txBox="1"/>
          <p:nvPr/>
        </p:nvSpPr>
        <p:spPr>
          <a:xfrm>
            <a:off x="5669280" y="2871216"/>
            <a:ext cx="2880360" cy="603504"/>
          </a:xfrm>
          <a:prstGeom prst="rect">
            <a:avLst/>
          </a:prstGeom>
          <a:noFill/>
          <a:ln/>
        </p:spPr>
        <p:txBody>
          <a:bodyPr wrap="square" lIns="0" tIns="0" rIns="0" bIns="0" rtlCol="0" anchor="t"/>
          <a:lstStyle/>
          <a:p>
            <a:pPr indent="0" marL="0">
              <a:buNone/>
            </a:pPr>
            <a:r>
              <a:rPr lang="en-US" sz="1400" b="1" dirty="0">
                <a:solidFill>
                  <a:schemeClr val="accent1"/>
                </a:solidFill>
              </a:rPr>
              <a:t>Funcional</a:t>
            </a:r>
            <a:endParaRPr lang="en-US" sz="1400" dirty="0"/>
          </a:p>
          <a:p>
            <a:pPr indent="0" marL="0">
              <a:buNone/>
            </a:pPr>
            <a:r>
              <a:rPr lang="en-US" sz="1200" dirty="0">
                <a:solidFill>
                  <a:schemeClr val="tx1"/>
                </a:solidFill>
              </a:rPr>
              <a:t>Una función, con líderes de otras industrias</a:t>
            </a:r>
            <a:endParaRPr lang="en-US" sz="1400" dirty="0"/>
          </a:p>
        </p:txBody>
      </p:sp>
      <p:sp>
        <p:nvSpPr>
          <p:cNvPr id="15" name="Tarjeta"/>
          <p:cNvSpPr/>
          <p:nvPr/>
        </p:nvSpPr>
        <p:spPr>
          <a:xfrm>
            <a:off x="5486400" y="3648456"/>
            <a:ext cx="3200400" cy="731520"/>
          </a:xfrm>
          <a:prstGeom prst="roundRect">
            <a:avLst>
              <a:gd name="adj" fmla="val 10000"/>
            </a:avLst>
          </a:prstGeom>
          <a:solidFill>
            <a:schemeClr val="bg2"/>
          </a:solidFill>
          <a:ln/>
        </p:spPr>
      </p:sp>
      <p:sp>
        <p:nvSpPr>
          <p:cNvPr id="16" name="Text 13"/>
          <p:cNvSpPr txBox="1"/>
          <p:nvPr/>
        </p:nvSpPr>
        <p:spPr>
          <a:xfrm>
            <a:off x="5669280" y="3721608"/>
            <a:ext cx="2880360" cy="603504"/>
          </a:xfrm>
          <a:prstGeom prst="rect">
            <a:avLst/>
          </a:prstGeom>
          <a:noFill/>
          <a:ln/>
        </p:spPr>
        <p:txBody>
          <a:bodyPr wrap="square" lIns="0" tIns="0" rIns="0" bIns="0" rtlCol="0" anchor="t"/>
          <a:lstStyle/>
          <a:p>
            <a:pPr indent="0" marL="0">
              <a:buNone/>
            </a:pPr>
            <a:r>
              <a:rPr lang="en-US" sz="1400" b="1" dirty="0">
                <a:solidFill>
                  <a:schemeClr val="accent1"/>
                </a:solidFill>
              </a:rPr>
              <a:t>Genérico</a:t>
            </a:r>
            <a:endParaRPr lang="en-US" sz="1400" dirty="0"/>
          </a:p>
          <a:p>
            <a:pPr indent="0" marL="0">
              <a:buNone/>
            </a:pPr>
            <a:r>
              <a:rPr lang="en-US" sz="1200" dirty="0">
                <a:solidFill>
                  <a:schemeClr val="tx1"/>
                </a:solidFill>
              </a:rPr>
              <a:t>Procesos comunes a cualquier organización</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Cinco pasos del benchmarking</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Alayla Arbonies · Robbins y Coulter (2018)</a:t>
            </a:r>
            <a:endParaRPr lang="en-US" sz="1100" dirty="0"/>
          </a:p>
        </p:txBody>
      </p:sp>
      <p:sp>
        <p:nvSpPr>
          <p:cNvPr id="4" name="Número"/>
          <p:cNvSpPr/>
          <p:nvPr/>
        </p:nvSpPr>
        <p:spPr>
          <a:xfrm>
            <a:off x="886968" y="1188720"/>
            <a:ext cx="640080" cy="640080"/>
          </a:xfrm>
          <a:prstGeom prst="ellipse">
            <a:avLst/>
          </a:prstGeom>
          <a:solidFill>
            <a:schemeClr val="accent1"/>
          </a:solidFill>
          <a:ln/>
        </p:spPr>
      </p:sp>
      <p:sp>
        <p:nvSpPr>
          <p:cNvPr id="5" name="Text 3"/>
          <p:cNvSpPr txBox="1"/>
          <p:nvPr/>
        </p:nvSpPr>
        <p:spPr>
          <a:xfrm>
            <a:off x="886968"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6" name="Conector"/>
          <p:cNvSpPr/>
          <p:nvPr/>
        </p:nvSpPr>
        <p:spPr>
          <a:xfrm>
            <a:off x="1600200" y="1508760"/>
            <a:ext cx="1051560" cy="0"/>
          </a:xfrm>
          <a:prstGeom prst="line">
            <a:avLst/>
          </a:prstGeom>
          <a:noFill/>
          <a:ln w="25400">
            <a:solidFill>
              <a:schemeClr val="accent5"/>
            </a:solidFill>
            <a:prstDash val="solid"/>
          </a:ln>
        </p:spPr>
      </p:sp>
      <p:sp>
        <p:nvSpPr>
          <p:cNvPr id="7" name="Tarjeta"/>
          <p:cNvSpPr/>
          <p:nvPr/>
        </p:nvSpPr>
        <p:spPr>
          <a:xfrm>
            <a:off x="457200" y="2011680"/>
            <a:ext cx="1508760" cy="1234440"/>
          </a:xfrm>
          <a:prstGeom prst="roundRect">
            <a:avLst>
              <a:gd name="adj" fmla="val 5926"/>
            </a:avLst>
          </a:prstGeom>
          <a:solidFill>
            <a:schemeClr val="bg2"/>
          </a:solidFill>
          <a:ln/>
        </p:spPr>
      </p:sp>
      <p:sp>
        <p:nvSpPr>
          <p:cNvPr id="8" name="Text 6"/>
          <p:cNvSpPr txBox="1"/>
          <p:nvPr/>
        </p:nvSpPr>
        <p:spPr>
          <a:xfrm>
            <a:off x="566928" y="2103120"/>
            <a:ext cx="1289304" cy="1051560"/>
          </a:xfrm>
          <a:prstGeom prst="rect">
            <a:avLst/>
          </a:prstGeom>
          <a:noFill/>
          <a:ln/>
        </p:spPr>
        <p:txBody>
          <a:bodyPr wrap="square" lIns="0" tIns="0" rIns="0" bIns="0" rtlCol="0" anchor="ctr"/>
          <a:lstStyle/>
          <a:p>
            <a:pPr algn="ctr" indent="0" marL="0">
              <a:buNone/>
            </a:pPr>
            <a:r>
              <a:rPr lang="en-US" sz="1300" dirty="0">
                <a:solidFill>
                  <a:schemeClr val="tx1"/>
                </a:solidFill>
              </a:rPr>
              <a:t>Identificar qué comparar y con quién</a:t>
            </a:r>
            <a:endParaRPr lang="en-US" sz="1300" dirty="0"/>
          </a:p>
        </p:txBody>
      </p:sp>
      <p:sp>
        <p:nvSpPr>
          <p:cNvPr id="9" name="Número"/>
          <p:cNvSpPr/>
          <p:nvPr/>
        </p:nvSpPr>
        <p:spPr>
          <a:xfrm>
            <a:off x="2560320" y="1188720"/>
            <a:ext cx="640080" cy="640080"/>
          </a:xfrm>
          <a:prstGeom prst="ellipse">
            <a:avLst/>
          </a:prstGeom>
          <a:solidFill>
            <a:schemeClr val="accent1"/>
          </a:solidFill>
          <a:ln/>
        </p:spPr>
      </p:sp>
      <p:sp>
        <p:nvSpPr>
          <p:cNvPr id="10" name="Text 8"/>
          <p:cNvSpPr txBox="1"/>
          <p:nvPr/>
        </p:nvSpPr>
        <p:spPr>
          <a:xfrm>
            <a:off x="2560320"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1" name="Conector"/>
          <p:cNvSpPr/>
          <p:nvPr/>
        </p:nvSpPr>
        <p:spPr>
          <a:xfrm>
            <a:off x="3273552" y="1508760"/>
            <a:ext cx="1051560" cy="0"/>
          </a:xfrm>
          <a:prstGeom prst="line">
            <a:avLst/>
          </a:prstGeom>
          <a:noFill/>
          <a:ln w="25400">
            <a:solidFill>
              <a:schemeClr val="accent5"/>
            </a:solidFill>
            <a:prstDash val="solid"/>
          </a:ln>
        </p:spPr>
      </p:sp>
      <p:sp>
        <p:nvSpPr>
          <p:cNvPr id="12" name="Tarjeta"/>
          <p:cNvSpPr/>
          <p:nvPr/>
        </p:nvSpPr>
        <p:spPr>
          <a:xfrm>
            <a:off x="2130552" y="2011680"/>
            <a:ext cx="1508760" cy="1234440"/>
          </a:xfrm>
          <a:prstGeom prst="roundRect">
            <a:avLst>
              <a:gd name="adj" fmla="val 5926"/>
            </a:avLst>
          </a:prstGeom>
          <a:solidFill>
            <a:schemeClr val="bg2"/>
          </a:solidFill>
          <a:ln/>
        </p:spPr>
      </p:sp>
      <p:sp>
        <p:nvSpPr>
          <p:cNvPr id="13" name="Text 11"/>
          <p:cNvSpPr txBox="1"/>
          <p:nvPr/>
        </p:nvSpPr>
        <p:spPr>
          <a:xfrm>
            <a:off x="2240280" y="2103120"/>
            <a:ext cx="1289304" cy="1051560"/>
          </a:xfrm>
          <a:prstGeom prst="rect">
            <a:avLst/>
          </a:prstGeom>
          <a:noFill/>
          <a:ln/>
        </p:spPr>
        <p:txBody>
          <a:bodyPr wrap="square" lIns="0" tIns="0" rIns="0" bIns="0" rtlCol="0" anchor="ctr"/>
          <a:lstStyle/>
          <a:p>
            <a:pPr algn="ctr" indent="0" marL="0">
              <a:buNone/>
            </a:pPr>
            <a:r>
              <a:rPr lang="en-US" sz="1300" dirty="0">
                <a:solidFill>
                  <a:schemeClr val="tx1"/>
                </a:solidFill>
              </a:rPr>
              <a:t>Recopilar y analizar la información</a:t>
            </a:r>
            <a:endParaRPr lang="en-US" sz="1300" dirty="0"/>
          </a:p>
        </p:txBody>
      </p:sp>
      <p:sp>
        <p:nvSpPr>
          <p:cNvPr id="14" name="Número"/>
          <p:cNvSpPr/>
          <p:nvPr/>
        </p:nvSpPr>
        <p:spPr>
          <a:xfrm>
            <a:off x="4233672" y="1188720"/>
            <a:ext cx="640080" cy="640080"/>
          </a:xfrm>
          <a:prstGeom prst="ellipse">
            <a:avLst/>
          </a:prstGeom>
          <a:solidFill>
            <a:schemeClr val="accent2"/>
          </a:solidFill>
          <a:ln/>
        </p:spPr>
      </p:sp>
      <p:sp>
        <p:nvSpPr>
          <p:cNvPr id="15" name="Text 13"/>
          <p:cNvSpPr txBox="1"/>
          <p:nvPr/>
        </p:nvSpPr>
        <p:spPr>
          <a:xfrm>
            <a:off x="4233672"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6" name="Conector"/>
          <p:cNvSpPr/>
          <p:nvPr/>
        </p:nvSpPr>
        <p:spPr>
          <a:xfrm>
            <a:off x="4946904" y="1508760"/>
            <a:ext cx="1051560" cy="0"/>
          </a:xfrm>
          <a:prstGeom prst="line">
            <a:avLst/>
          </a:prstGeom>
          <a:noFill/>
          <a:ln w="25400">
            <a:solidFill>
              <a:schemeClr val="accent5"/>
            </a:solidFill>
            <a:prstDash val="solid"/>
          </a:ln>
        </p:spPr>
      </p:sp>
      <p:sp>
        <p:nvSpPr>
          <p:cNvPr id="17" name="Tarjeta"/>
          <p:cNvSpPr/>
          <p:nvPr/>
        </p:nvSpPr>
        <p:spPr>
          <a:xfrm>
            <a:off x="3803904" y="2011680"/>
            <a:ext cx="1508760" cy="1234440"/>
          </a:xfrm>
          <a:prstGeom prst="roundRect">
            <a:avLst>
              <a:gd name="adj" fmla="val 5926"/>
            </a:avLst>
          </a:prstGeom>
          <a:solidFill>
            <a:schemeClr val="bg2"/>
          </a:solidFill>
          <a:ln/>
        </p:spPr>
      </p:sp>
      <p:sp>
        <p:nvSpPr>
          <p:cNvPr id="18" name="Text 16"/>
          <p:cNvSpPr txBox="1"/>
          <p:nvPr/>
        </p:nvSpPr>
        <p:spPr>
          <a:xfrm>
            <a:off x="3913632" y="2103120"/>
            <a:ext cx="1289304" cy="1051560"/>
          </a:xfrm>
          <a:prstGeom prst="rect">
            <a:avLst/>
          </a:prstGeom>
          <a:noFill/>
          <a:ln/>
        </p:spPr>
        <p:txBody>
          <a:bodyPr wrap="square" lIns="0" tIns="0" rIns="0" bIns="0" rtlCol="0" anchor="ctr"/>
          <a:lstStyle/>
          <a:p>
            <a:pPr algn="ctr" indent="0" marL="0">
              <a:buNone/>
            </a:pPr>
            <a:r>
              <a:rPr lang="en-US" sz="1300" dirty="0">
                <a:solidFill>
                  <a:schemeClr val="tx1"/>
                </a:solidFill>
              </a:rPr>
              <a:t>Determinar la brecha de desempeño</a:t>
            </a:r>
            <a:endParaRPr lang="en-US" sz="1300" dirty="0"/>
          </a:p>
        </p:txBody>
      </p:sp>
      <p:sp>
        <p:nvSpPr>
          <p:cNvPr id="19" name="Número"/>
          <p:cNvSpPr/>
          <p:nvPr/>
        </p:nvSpPr>
        <p:spPr>
          <a:xfrm>
            <a:off x="5907024" y="1188720"/>
            <a:ext cx="640080" cy="640080"/>
          </a:xfrm>
          <a:prstGeom prst="ellipse">
            <a:avLst/>
          </a:prstGeom>
          <a:solidFill>
            <a:schemeClr val="accent1"/>
          </a:solidFill>
          <a:ln/>
        </p:spPr>
      </p:sp>
      <p:sp>
        <p:nvSpPr>
          <p:cNvPr id="20" name="Text 18"/>
          <p:cNvSpPr txBox="1"/>
          <p:nvPr/>
        </p:nvSpPr>
        <p:spPr>
          <a:xfrm>
            <a:off x="5907024"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21" name="Conector"/>
          <p:cNvSpPr/>
          <p:nvPr/>
        </p:nvSpPr>
        <p:spPr>
          <a:xfrm>
            <a:off x="6620256" y="1508760"/>
            <a:ext cx="1051560" cy="0"/>
          </a:xfrm>
          <a:prstGeom prst="line">
            <a:avLst/>
          </a:prstGeom>
          <a:noFill/>
          <a:ln w="25400">
            <a:solidFill>
              <a:schemeClr val="accent5"/>
            </a:solidFill>
            <a:prstDash val="solid"/>
          </a:ln>
        </p:spPr>
      </p:sp>
      <p:sp>
        <p:nvSpPr>
          <p:cNvPr id="22" name="Tarjeta"/>
          <p:cNvSpPr/>
          <p:nvPr/>
        </p:nvSpPr>
        <p:spPr>
          <a:xfrm>
            <a:off x="5477256" y="2011680"/>
            <a:ext cx="1508760" cy="1234440"/>
          </a:xfrm>
          <a:prstGeom prst="roundRect">
            <a:avLst>
              <a:gd name="adj" fmla="val 5926"/>
            </a:avLst>
          </a:prstGeom>
          <a:solidFill>
            <a:schemeClr val="bg2"/>
          </a:solidFill>
          <a:ln/>
        </p:spPr>
      </p:sp>
      <p:sp>
        <p:nvSpPr>
          <p:cNvPr id="23" name="Text 21"/>
          <p:cNvSpPr txBox="1"/>
          <p:nvPr/>
        </p:nvSpPr>
        <p:spPr>
          <a:xfrm>
            <a:off x="5586984" y="2103120"/>
            <a:ext cx="1289304" cy="1051560"/>
          </a:xfrm>
          <a:prstGeom prst="rect">
            <a:avLst/>
          </a:prstGeom>
          <a:noFill/>
          <a:ln/>
        </p:spPr>
        <p:txBody>
          <a:bodyPr wrap="square" lIns="0" tIns="0" rIns="0" bIns="0" rtlCol="0" anchor="ctr"/>
          <a:lstStyle/>
          <a:p>
            <a:pPr algn="ctr" indent="0" marL="0">
              <a:buNone/>
            </a:pPr>
            <a:r>
              <a:rPr lang="en-US" sz="1300" dirty="0">
                <a:solidFill>
                  <a:schemeClr val="tx1"/>
                </a:solidFill>
              </a:rPr>
              <a:t>Establecer metas y planes de acción</a:t>
            </a:r>
            <a:endParaRPr lang="en-US" sz="1300" dirty="0"/>
          </a:p>
        </p:txBody>
      </p:sp>
      <p:sp>
        <p:nvSpPr>
          <p:cNvPr id="24" name="Número"/>
          <p:cNvSpPr/>
          <p:nvPr/>
        </p:nvSpPr>
        <p:spPr>
          <a:xfrm>
            <a:off x="7580376" y="1188720"/>
            <a:ext cx="640080" cy="640080"/>
          </a:xfrm>
          <a:prstGeom prst="ellipse">
            <a:avLst/>
          </a:prstGeom>
          <a:solidFill>
            <a:schemeClr val="accent1"/>
          </a:solidFill>
          <a:ln/>
        </p:spPr>
      </p:sp>
      <p:sp>
        <p:nvSpPr>
          <p:cNvPr id="25" name="Text 23"/>
          <p:cNvSpPr txBox="1"/>
          <p:nvPr/>
        </p:nvSpPr>
        <p:spPr>
          <a:xfrm>
            <a:off x="7580376"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26" name="Tarjeta"/>
          <p:cNvSpPr/>
          <p:nvPr/>
        </p:nvSpPr>
        <p:spPr>
          <a:xfrm>
            <a:off x="7150608" y="2011680"/>
            <a:ext cx="1508760" cy="1234440"/>
          </a:xfrm>
          <a:prstGeom prst="roundRect">
            <a:avLst>
              <a:gd name="adj" fmla="val 5926"/>
            </a:avLst>
          </a:prstGeom>
          <a:solidFill>
            <a:schemeClr val="bg2"/>
          </a:solidFill>
          <a:ln/>
        </p:spPr>
      </p:sp>
      <p:sp>
        <p:nvSpPr>
          <p:cNvPr id="27" name="Text 25"/>
          <p:cNvSpPr txBox="1"/>
          <p:nvPr/>
        </p:nvSpPr>
        <p:spPr>
          <a:xfrm>
            <a:off x="7260336" y="2103120"/>
            <a:ext cx="1289304" cy="1051560"/>
          </a:xfrm>
          <a:prstGeom prst="rect">
            <a:avLst/>
          </a:prstGeom>
          <a:noFill/>
          <a:ln/>
        </p:spPr>
        <p:txBody>
          <a:bodyPr wrap="square" lIns="0" tIns="0" rIns="0" bIns="0" rtlCol="0" anchor="ctr"/>
          <a:lstStyle/>
          <a:p>
            <a:pPr algn="ctr" indent="0" marL="0">
              <a:buNone/>
            </a:pPr>
            <a:r>
              <a:rPr lang="en-US" sz="1300" dirty="0">
                <a:solidFill>
                  <a:schemeClr val="tx1"/>
                </a:solidFill>
              </a:rPr>
              <a:t>Implantar mejoras y dar seguimiento</a:t>
            </a:r>
            <a:endParaRPr lang="en-US" sz="1300" dirty="0"/>
          </a:p>
        </p:txBody>
      </p:sp>
      <p:sp>
        <p:nvSpPr>
          <p:cNvPr id="28" name="Tarjeta"/>
          <p:cNvSpPr/>
          <p:nvPr/>
        </p:nvSpPr>
        <p:spPr>
          <a:xfrm>
            <a:off x="457200" y="3520440"/>
            <a:ext cx="8229600" cy="914400"/>
          </a:xfrm>
          <a:prstGeom prst="roundRect">
            <a:avLst>
              <a:gd name="adj" fmla="val 8000"/>
            </a:avLst>
          </a:prstGeom>
          <a:solidFill>
            <a:schemeClr val="tx2"/>
          </a:solidFill>
          <a:ln/>
        </p:spPr>
      </p:sp>
      <p:sp>
        <p:nvSpPr>
          <p:cNvPr id="29" name="Círculo de icono"/>
          <p:cNvSpPr/>
          <p:nvPr/>
        </p:nvSpPr>
        <p:spPr>
          <a:xfrm>
            <a:off x="640080" y="3657600"/>
            <a:ext cx="640080" cy="640080"/>
          </a:xfrm>
          <a:prstGeom prst="ellipse">
            <a:avLst/>
          </a:prstGeom>
          <a:solidFill>
            <a:schemeClr val="accent2"/>
          </a:solidFill>
          <a:ln/>
        </p:spPr>
      </p:sp>
      <p:pic>
        <p:nvPicPr>
          <p:cNvPr id="30" name="Icono" descr="FaScaleBalanced">    </p:cNvPr>
          <p:cNvPicPr>
            <a:picLocks noChangeAspect="1"/>
          </p:cNvPicPr>
          <p:nvPr/>
        </p:nvPicPr>
        <p:blipFill>
          <a:blip r:embed="rId1"/>
          <a:stretch>
            <a:fillRect/>
          </a:stretch>
        </p:blipFill>
        <p:spPr>
          <a:xfrm>
            <a:off x="780898" y="3798418"/>
            <a:ext cx="358445" cy="358445"/>
          </a:xfrm>
          <a:prstGeom prst="rect">
            <a:avLst/>
          </a:prstGeom>
        </p:spPr>
      </p:pic>
      <p:sp>
        <p:nvSpPr>
          <p:cNvPr id="31" name="Text 28"/>
          <p:cNvSpPr txBox="1"/>
          <p:nvPr/>
        </p:nvSpPr>
        <p:spPr>
          <a:xfrm>
            <a:off x="1463040" y="3611880"/>
            <a:ext cx="7040880" cy="731520"/>
          </a:xfrm>
          <a:prstGeom prst="rect">
            <a:avLst/>
          </a:prstGeom>
          <a:noFill/>
          <a:ln/>
        </p:spPr>
        <p:txBody>
          <a:bodyPr wrap="square" lIns="0" tIns="0" rIns="0" bIns="0" rtlCol="0" anchor="ctr"/>
          <a:lstStyle/>
          <a:p>
            <a:pPr indent="0" marL="0">
              <a:buNone/>
            </a:pPr>
            <a:r>
              <a:rPr lang="en-US" sz="1400" dirty="0">
                <a:solidFill>
                  <a:schemeClr val="bg1"/>
                </a:solidFill>
              </a:rPr>
              <a:t>Aporta un estándar externo, pero debe ser ético: respetar la confidencialidad de otras organizaciones y adaptar las prácticas, no copiarlas sin análisis.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Gantt: el plan contra lo real</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Suheily Ramos · Clark (1922); Robbins y Coulter (2018)</a:t>
            </a:r>
            <a:endParaRPr lang="en-US" sz="1100" dirty="0"/>
          </a:p>
        </p:txBody>
      </p:sp>
      <p:sp>
        <p:nvSpPr>
          <p:cNvPr id="4" name="Text 2"/>
          <p:cNvSpPr txBox="1"/>
          <p:nvPr/>
        </p:nvSpPr>
        <p:spPr>
          <a:xfrm>
            <a:off x="457200" y="1051560"/>
            <a:ext cx="5669280" cy="320040"/>
          </a:xfrm>
          <a:prstGeom prst="rect">
            <a:avLst/>
          </a:prstGeom>
          <a:noFill/>
          <a:ln/>
        </p:spPr>
        <p:txBody>
          <a:bodyPr wrap="square" lIns="0" tIns="0" rIns="0" bIns="0" rtlCol="0" anchor="t"/>
          <a:lstStyle/>
          <a:p>
            <a:pPr indent="0" marL="0">
              <a:buNone/>
            </a:pPr>
            <a:r>
              <a:rPr lang="en-US" sz="1400" i="1" dirty="0">
                <a:solidFill>
                  <a:schemeClr val="accent4"/>
                </a:solidFill>
              </a:rPr>
              <a:t>Ejemplo: feria de salud comunitaria en 8 semanas</a:t>
            </a:r>
            <a:endParaRPr lang="en-US" sz="1400" dirty="0"/>
          </a:p>
        </p:txBody>
      </p:sp>
      <p:sp>
        <p:nvSpPr>
          <p:cNvPr id="5" name="Text 3"/>
          <p:cNvSpPr txBox="1"/>
          <p:nvPr/>
        </p:nvSpPr>
        <p:spPr>
          <a:xfrm>
            <a:off x="182880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S1</a:t>
            </a:r>
            <a:endParaRPr lang="en-US" sz="1100" dirty="0"/>
          </a:p>
        </p:txBody>
      </p:sp>
      <p:sp>
        <p:nvSpPr>
          <p:cNvPr id="6" name="Cuadrícula"/>
          <p:cNvSpPr/>
          <p:nvPr/>
        </p:nvSpPr>
        <p:spPr>
          <a:xfrm>
            <a:off x="1828800" y="1755648"/>
            <a:ext cx="0" cy="2057400"/>
          </a:xfrm>
          <a:prstGeom prst="line">
            <a:avLst/>
          </a:prstGeom>
          <a:noFill/>
          <a:ln w="12700">
            <a:solidFill>
              <a:srgbClr val="E8F1EF"/>
            </a:solidFill>
            <a:prstDash val="solid"/>
          </a:ln>
        </p:spPr>
      </p:sp>
      <p:sp>
        <p:nvSpPr>
          <p:cNvPr id="7" name="Text 5"/>
          <p:cNvSpPr txBox="1"/>
          <p:nvPr/>
        </p:nvSpPr>
        <p:spPr>
          <a:xfrm>
            <a:off x="233172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S2</a:t>
            </a:r>
            <a:endParaRPr lang="en-US" sz="1100" dirty="0"/>
          </a:p>
        </p:txBody>
      </p:sp>
      <p:sp>
        <p:nvSpPr>
          <p:cNvPr id="8" name="Cuadrícula"/>
          <p:cNvSpPr/>
          <p:nvPr/>
        </p:nvSpPr>
        <p:spPr>
          <a:xfrm>
            <a:off x="2331720" y="1755648"/>
            <a:ext cx="0" cy="2057400"/>
          </a:xfrm>
          <a:prstGeom prst="line">
            <a:avLst/>
          </a:prstGeom>
          <a:noFill/>
          <a:ln w="12700">
            <a:solidFill>
              <a:srgbClr val="E8F1EF"/>
            </a:solidFill>
            <a:prstDash val="solid"/>
          </a:ln>
        </p:spPr>
      </p:sp>
      <p:sp>
        <p:nvSpPr>
          <p:cNvPr id="9" name="Text 7"/>
          <p:cNvSpPr txBox="1"/>
          <p:nvPr/>
        </p:nvSpPr>
        <p:spPr>
          <a:xfrm>
            <a:off x="283464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S3</a:t>
            </a:r>
            <a:endParaRPr lang="en-US" sz="1100" dirty="0"/>
          </a:p>
        </p:txBody>
      </p:sp>
      <p:sp>
        <p:nvSpPr>
          <p:cNvPr id="10" name="Cuadrícula"/>
          <p:cNvSpPr/>
          <p:nvPr/>
        </p:nvSpPr>
        <p:spPr>
          <a:xfrm>
            <a:off x="2834640" y="1755648"/>
            <a:ext cx="0" cy="2057400"/>
          </a:xfrm>
          <a:prstGeom prst="line">
            <a:avLst/>
          </a:prstGeom>
          <a:noFill/>
          <a:ln w="12700">
            <a:solidFill>
              <a:srgbClr val="E8F1EF"/>
            </a:solidFill>
            <a:prstDash val="solid"/>
          </a:ln>
        </p:spPr>
      </p:sp>
      <p:sp>
        <p:nvSpPr>
          <p:cNvPr id="11" name="Text 9"/>
          <p:cNvSpPr txBox="1"/>
          <p:nvPr/>
        </p:nvSpPr>
        <p:spPr>
          <a:xfrm>
            <a:off x="333756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S4</a:t>
            </a:r>
            <a:endParaRPr lang="en-US" sz="1100" dirty="0"/>
          </a:p>
        </p:txBody>
      </p:sp>
      <p:sp>
        <p:nvSpPr>
          <p:cNvPr id="12" name="Cuadrícula"/>
          <p:cNvSpPr/>
          <p:nvPr/>
        </p:nvSpPr>
        <p:spPr>
          <a:xfrm>
            <a:off x="3337560" y="1755648"/>
            <a:ext cx="0" cy="2057400"/>
          </a:xfrm>
          <a:prstGeom prst="line">
            <a:avLst/>
          </a:prstGeom>
          <a:noFill/>
          <a:ln w="12700">
            <a:solidFill>
              <a:srgbClr val="E8F1EF"/>
            </a:solidFill>
            <a:prstDash val="solid"/>
          </a:ln>
        </p:spPr>
      </p:sp>
      <p:sp>
        <p:nvSpPr>
          <p:cNvPr id="13" name="Text 11"/>
          <p:cNvSpPr txBox="1"/>
          <p:nvPr/>
        </p:nvSpPr>
        <p:spPr>
          <a:xfrm>
            <a:off x="384048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S5</a:t>
            </a:r>
            <a:endParaRPr lang="en-US" sz="1100" dirty="0"/>
          </a:p>
        </p:txBody>
      </p:sp>
      <p:sp>
        <p:nvSpPr>
          <p:cNvPr id="14" name="Cuadrícula"/>
          <p:cNvSpPr/>
          <p:nvPr/>
        </p:nvSpPr>
        <p:spPr>
          <a:xfrm>
            <a:off x="3840480" y="1755648"/>
            <a:ext cx="0" cy="2057400"/>
          </a:xfrm>
          <a:prstGeom prst="line">
            <a:avLst/>
          </a:prstGeom>
          <a:noFill/>
          <a:ln w="12700">
            <a:solidFill>
              <a:srgbClr val="E8F1EF"/>
            </a:solidFill>
            <a:prstDash val="solid"/>
          </a:ln>
        </p:spPr>
      </p:sp>
      <p:sp>
        <p:nvSpPr>
          <p:cNvPr id="15" name="Text 13"/>
          <p:cNvSpPr txBox="1"/>
          <p:nvPr/>
        </p:nvSpPr>
        <p:spPr>
          <a:xfrm>
            <a:off x="434340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S6</a:t>
            </a:r>
            <a:endParaRPr lang="en-US" sz="1100" dirty="0"/>
          </a:p>
        </p:txBody>
      </p:sp>
      <p:sp>
        <p:nvSpPr>
          <p:cNvPr id="16" name="Cuadrícula"/>
          <p:cNvSpPr/>
          <p:nvPr/>
        </p:nvSpPr>
        <p:spPr>
          <a:xfrm>
            <a:off x="4343400" y="1755648"/>
            <a:ext cx="0" cy="2057400"/>
          </a:xfrm>
          <a:prstGeom prst="line">
            <a:avLst/>
          </a:prstGeom>
          <a:noFill/>
          <a:ln w="12700">
            <a:solidFill>
              <a:srgbClr val="E8F1EF"/>
            </a:solidFill>
            <a:prstDash val="solid"/>
          </a:ln>
        </p:spPr>
      </p:sp>
      <p:sp>
        <p:nvSpPr>
          <p:cNvPr id="17" name="Text 15"/>
          <p:cNvSpPr txBox="1"/>
          <p:nvPr/>
        </p:nvSpPr>
        <p:spPr>
          <a:xfrm>
            <a:off x="484632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S7</a:t>
            </a:r>
            <a:endParaRPr lang="en-US" sz="1100" dirty="0"/>
          </a:p>
        </p:txBody>
      </p:sp>
      <p:sp>
        <p:nvSpPr>
          <p:cNvPr id="18" name="Cuadrícula"/>
          <p:cNvSpPr/>
          <p:nvPr/>
        </p:nvSpPr>
        <p:spPr>
          <a:xfrm>
            <a:off x="4846320" y="1755648"/>
            <a:ext cx="0" cy="2057400"/>
          </a:xfrm>
          <a:prstGeom prst="line">
            <a:avLst/>
          </a:prstGeom>
          <a:noFill/>
          <a:ln w="12700">
            <a:solidFill>
              <a:srgbClr val="E8F1EF"/>
            </a:solidFill>
            <a:prstDash val="solid"/>
          </a:ln>
        </p:spPr>
      </p:sp>
      <p:sp>
        <p:nvSpPr>
          <p:cNvPr id="19" name="Text 17"/>
          <p:cNvSpPr txBox="1"/>
          <p:nvPr/>
        </p:nvSpPr>
        <p:spPr>
          <a:xfrm>
            <a:off x="5349240" y="1463040"/>
            <a:ext cx="502920" cy="274320"/>
          </a:xfrm>
          <a:prstGeom prst="rect">
            <a:avLst/>
          </a:prstGeom>
          <a:noFill/>
          <a:ln/>
        </p:spPr>
        <p:txBody>
          <a:bodyPr wrap="square" lIns="0" tIns="0" rIns="0" bIns="0" rtlCol="0" anchor="t"/>
          <a:lstStyle/>
          <a:p>
            <a:pPr algn="ctr" indent="0" marL="0">
              <a:buNone/>
            </a:pPr>
            <a:r>
              <a:rPr lang="en-US" sz="1100" dirty="0">
                <a:solidFill>
                  <a:schemeClr val="accent4"/>
                </a:solidFill>
              </a:rPr>
              <a:t>S8</a:t>
            </a:r>
            <a:endParaRPr lang="en-US" sz="1100" dirty="0"/>
          </a:p>
        </p:txBody>
      </p:sp>
      <p:sp>
        <p:nvSpPr>
          <p:cNvPr id="20" name="Cuadrícula"/>
          <p:cNvSpPr/>
          <p:nvPr/>
        </p:nvSpPr>
        <p:spPr>
          <a:xfrm>
            <a:off x="5349240" y="1755648"/>
            <a:ext cx="0" cy="2057400"/>
          </a:xfrm>
          <a:prstGeom prst="line">
            <a:avLst/>
          </a:prstGeom>
          <a:noFill/>
          <a:ln w="12700">
            <a:solidFill>
              <a:srgbClr val="E8F1EF"/>
            </a:solidFill>
            <a:prstDash val="solid"/>
          </a:ln>
        </p:spPr>
      </p:sp>
      <p:sp>
        <p:nvSpPr>
          <p:cNvPr id="21" name="Text 19"/>
          <p:cNvSpPr txBox="1"/>
          <p:nvPr/>
        </p:nvSpPr>
        <p:spPr>
          <a:xfrm>
            <a:off x="457200" y="1810512"/>
            <a:ext cx="1280160" cy="365760"/>
          </a:xfrm>
          <a:prstGeom prst="rect">
            <a:avLst/>
          </a:prstGeom>
          <a:noFill/>
          <a:ln/>
        </p:spPr>
        <p:txBody>
          <a:bodyPr wrap="square" lIns="0" tIns="0" rIns="0" bIns="0" rtlCol="0" anchor="ctr"/>
          <a:lstStyle/>
          <a:p>
            <a:pPr indent="0" marL="0">
              <a:buNone/>
            </a:pPr>
            <a:r>
              <a:rPr lang="en-US" sz="1300" dirty="0">
                <a:solidFill>
                  <a:schemeClr val="tx1"/>
                </a:solidFill>
              </a:rPr>
              <a:t>Permisos</a:t>
            </a:r>
            <a:endParaRPr lang="en-US" sz="1300" dirty="0"/>
          </a:p>
        </p:txBody>
      </p:sp>
      <p:sp>
        <p:nvSpPr>
          <p:cNvPr id="22" name="Barra"/>
          <p:cNvSpPr/>
          <p:nvPr/>
        </p:nvSpPr>
        <p:spPr>
          <a:xfrm>
            <a:off x="1856232" y="1856232"/>
            <a:ext cx="950976" cy="274320"/>
          </a:xfrm>
          <a:prstGeom prst="roundRect">
            <a:avLst>
              <a:gd name="adj" fmla="val 16667"/>
            </a:avLst>
          </a:prstGeom>
          <a:solidFill>
            <a:schemeClr val="accent3"/>
          </a:solidFill>
          <a:ln/>
        </p:spPr>
      </p:sp>
      <p:sp>
        <p:nvSpPr>
          <p:cNvPr id="23" name="Text 21"/>
          <p:cNvSpPr txBox="1"/>
          <p:nvPr/>
        </p:nvSpPr>
        <p:spPr>
          <a:xfrm>
            <a:off x="457200" y="2313432"/>
            <a:ext cx="1280160" cy="365760"/>
          </a:xfrm>
          <a:prstGeom prst="rect">
            <a:avLst/>
          </a:prstGeom>
          <a:noFill/>
          <a:ln/>
        </p:spPr>
        <p:txBody>
          <a:bodyPr wrap="square" lIns="0" tIns="0" rIns="0" bIns="0" rtlCol="0" anchor="ctr"/>
          <a:lstStyle/>
          <a:p>
            <a:pPr indent="0" marL="0">
              <a:buNone/>
            </a:pPr>
            <a:r>
              <a:rPr lang="en-US" sz="1300" dirty="0">
                <a:solidFill>
                  <a:schemeClr val="tx1"/>
                </a:solidFill>
              </a:rPr>
              <a:t>Voluntarios</a:t>
            </a:r>
            <a:endParaRPr lang="en-US" sz="1300" dirty="0"/>
          </a:p>
        </p:txBody>
      </p:sp>
      <p:sp>
        <p:nvSpPr>
          <p:cNvPr id="24" name="Barra"/>
          <p:cNvSpPr/>
          <p:nvPr/>
        </p:nvSpPr>
        <p:spPr>
          <a:xfrm>
            <a:off x="2359152" y="2359152"/>
            <a:ext cx="1453896" cy="274320"/>
          </a:xfrm>
          <a:prstGeom prst="roundRect">
            <a:avLst>
              <a:gd name="adj" fmla="val 16667"/>
            </a:avLst>
          </a:prstGeom>
          <a:solidFill>
            <a:schemeClr val="accent1"/>
          </a:solidFill>
          <a:ln/>
        </p:spPr>
      </p:sp>
      <p:sp>
        <p:nvSpPr>
          <p:cNvPr id="25" name="Text 23"/>
          <p:cNvSpPr txBox="1"/>
          <p:nvPr/>
        </p:nvSpPr>
        <p:spPr>
          <a:xfrm>
            <a:off x="457200" y="2816352"/>
            <a:ext cx="1280160" cy="365760"/>
          </a:xfrm>
          <a:prstGeom prst="rect">
            <a:avLst/>
          </a:prstGeom>
          <a:noFill/>
          <a:ln/>
        </p:spPr>
        <p:txBody>
          <a:bodyPr wrap="square" lIns="0" tIns="0" rIns="0" bIns="0" rtlCol="0" anchor="ctr"/>
          <a:lstStyle/>
          <a:p>
            <a:pPr indent="0" marL="0">
              <a:buNone/>
            </a:pPr>
            <a:r>
              <a:rPr lang="en-US" sz="1300" dirty="0">
                <a:solidFill>
                  <a:schemeClr val="tx1"/>
                </a:solidFill>
              </a:rPr>
              <a:t>Promoción</a:t>
            </a:r>
            <a:endParaRPr lang="en-US" sz="1300" dirty="0"/>
          </a:p>
        </p:txBody>
      </p:sp>
      <p:sp>
        <p:nvSpPr>
          <p:cNvPr id="26" name="Barra"/>
          <p:cNvSpPr/>
          <p:nvPr/>
        </p:nvSpPr>
        <p:spPr>
          <a:xfrm>
            <a:off x="3364992" y="2862072"/>
            <a:ext cx="1956816" cy="274320"/>
          </a:xfrm>
          <a:prstGeom prst="roundRect">
            <a:avLst>
              <a:gd name="adj" fmla="val 16667"/>
            </a:avLst>
          </a:prstGeom>
          <a:solidFill>
            <a:schemeClr val="accent1"/>
          </a:solidFill>
          <a:ln/>
        </p:spPr>
      </p:sp>
      <p:sp>
        <p:nvSpPr>
          <p:cNvPr id="27" name="Text 25"/>
          <p:cNvSpPr txBox="1"/>
          <p:nvPr/>
        </p:nvSpPr>
        <p:spPr>
          <a:xfrm>
            <a:off x="457200" y="3319272"/>
            <a:ext cx="1280160" cy="365760"/>
          </a:xfrm>
          <a:prstGeom prst="rect">
            <a:avLst/>
          </a:prstGeom>
          <a:noFill/>
          <a:ln/>
        </p:spPr>
        <p:txBody>
          <a:bodyPr wrap="square" lIns="0" tIns="0" rIns="0" bIns="0" rtlCol="0" anchor="ctr"/>
          <a:lstStyle/>
          <a:p>
            <a:pPr indent="0" marL="0">
              <a:buNone/>
            </a:pPr>
            <a:r>
              <a:rPr lang="en-US" sz="1300" dirty="0">
                <a:solidFill>
                  <a:schemeClr val="tx1"/>
                </a:solidFill>
              </a:rPr>
              <a:t>Feria</a:t>
            </a:r>
            <a:endParaRPr lang="en-US" sz="1300" dirty="0"/>
          </a:p>
        </p:txBody>
      </p:sp>
      <p:sp>
        <p:nvSpPr>
          <p:cNvPr id="28" name="Barra"/>
          <p:cNvSpPr/>
          <p:nvPr/>
        </p:nvSpPr>
        <p:spPr>
          <a:xfrm>
            <a:off x="5376672" y="3364992"/>
            <a:ext cx="448056" cy="274320"/>
          </a:xfrm>
          <a:prstGeom prst="roundRect">
            <a:avLst>
              <a:gd name="adj" fmla="val 16667"/>
            </a:avLst>
          </a:prstGeom>
          <a:solidFill>
            <a:schemeClr val="accent1"/>
          </a:solidFill>
          <a:ln/>
        </p:spPr>
      </p:sp>
      <p:sp>
        <p:nvSpPr>
          <p:cNvPr id="29" name="Hoy"/>
          <p:cNvSpPr/>
          <p:nvPr/>
        </p:nvSpPr>
        <p:spPr>
          <a:xfrm>
            <a:off x="3086100" y="1737360"/>
            <a:ext cx="0" cy="2057400"/>
          </a:xfrm>
          <a:prstGeom prst="line">
            <a:avLst/>
          </a:prstGeom>
          <a:noFill/>
          <a:ln w="31750">
            <a:solidFill>
              <a:schemeClr val="accent2"/>
            </a:solidFill>
            <a:prstDash val="dash"/>
          </a:ln>
        </p:spPr>
      </p:sp>
      <p:sp>
        <p:nvSpPr>
          <p:cNvPr id="30" name="Text 28"/>
          <p:cNvSpPr txBox="1"/>
          <p:nvPr/>
        </p:nvSpPr>
        <p:spPr>
          <a:xfrm>
            <a:off x="457200" y="3931920"/>
            <a:ext cx="5669280" cy="502920"/>
          </a:xfrm>
          <a:prstGeom prst="rect">
            <a:avLst/>
          </a:prstGeom>
          <a:noFill/>
          <a:ln/>
        </p:spPr>
        <p:txBody>
          <a:bodyPr wrap="square" lIns="0" tIns="0" rIns="0" bIns="0" rtlCol="0" anchor="t"/>
          <a:lstStyle/>
          <a:p>
            <a:pPr indent="0" marL="0">
              <a:buNone/>
            </a:pPr>
            <a:r>
              <a:rPr lang="en-US" sz="1300" i="1" dirty="0">
                <a:solidFill>
                  <a:schemeClr val="accent3"/>
                </a:solidFill>
              </a:rPr>
              <a:t>Semana 3: los permisos aún no están → la gráfica lo revela y se actúa a tiempo.</a:t>
            </a:r>
            <a:endParaRPr lang="en-US" sz="1300" dirty="0"/>
          </a:p>
        </p:txBody>
      </p:sp>
      <p:sp>
        <p:nvSpPr>
          <p:cNvPr id="31" name="Tarjeta"/>
          <p:cNvSpPr/>
          <p:nvPr/>
        </p:nvSpPr>
        <p:spPr>
          <a:xfrm>
            <a:off x="6309360" y="1097280"/>
            <a:ext cx="2377440" cy="3337560"/>
          </a:xfrm>
          <a:prstGeom prst="roundRect">
            <a:avLst>
              <a:gd name="adj" fmla="val 3077"/>
            </a:avLst>
          </a:prstGeom>
          <a:solidFill>
            <a:schemeClr val="bg2"/>
          </a:solidFill>
          <a:ln/>
        </p:spPr>
      </p:sp>
      <p:sp>
        <p:nvSpPr>
          <p:cNvPr id="32" name="Text 30"/>
          <p:cNvSpPr txBox="1"/>
          <p:nvPr/>
        </p:nvSpPr>
        <p:spPr>
          <a:xfrm>
            <a:off x="6492240" y="1234440"/>
            <a:ext cx="2103120" cy="3108960"/>
          </a:xfrm>
          <a:prstGeom prst="rect">
            <a:avLst/>
          </a:prstGeom>
          <a:noFill/>
          <a:ln/>
        </p:spPr>
        <p:txBody>
          <a:bodyPr wrap="square" lIns="0" tIns="0" rIns="0" bIns="0" rtlCol="0" anchor="t"/>
          <a:lstStyle/>
          <a:p>
            <a:pPr indent="0" marL="0">
              <a:buNone/>
            </a:pPr>
            <a:r>
              <a:rPr lang="en-US" sz="1600" b="1" dirty="0">
                <a:solidFill>
                  <a:schemeClr val="tx2"/>
                </a:solidFill>
              </a:rPr>
              <a:t>Cómo funciona</a:t>
            </a:r>
            <a:endParaRPr lang="en-US" sz="1300" dirty="0"/>
          </a:p>
          <a:p>
            <a:pPr indent="0" marL="0">
              <a:buNone/>
            </a:pPr>
            <a:r>
              <a:rPr lang="en-US" sz="600" dirty="0">
                <a:solidFill>
                  <a:schemeClr val="tx1"/>
                </a:solidFill>
              </a:rPr>
              <a:t> </a:t>
            </a:r>
            <a:endParaRPr lang="en-US" sz="1300" dirty="0"/>
          </a:p>
          <a:p>
            <a:pPr marL="342900" indent="-342900">
              <a:spcAft>
                <a:spcPts val="600"/>
              </a:spcAft>
              <a:buSzPct val="100000"/>
              <a:buChar char="•"/>
            </a:pPr>
            <a:r>
              <a:rPr lang="en-US" sz="1300" dirty="0">
                <a:solidFill>
                  <a:schemeClr val="tx1"/>
                </a:solidFill>
              </a:rPr>
              <a:t>Eje vertical: actividades</a:t>
            </a:r>
            <a:endParaRPr lang="en-US" sz="1300" dirty="0"/>
          </a:p>
          <a:p>
            <a:pPr marL="342900" indent="-342900">
              <a:spcAft>
                <a:spcPts val="600"/>
              </a:spcAft>
              <a:buSzPct val="100000"/>
              <a:buChar char="•"/>
            </a:pPr>
            <a:r>
              <a:rPr lang="en-US" sz="1300" dirty="0">
                <a:solidFill>
                  <a:schemeClr val="tx1"/>
                </a:solidFill>
              </a:rPr>
              <a:t>Eje horizontal: tiempo</a:t>
            </a:r>
            <a:endParaRPr lang="en-US" sz="1300" dirty="0"/>
          </a:p>
          <a:p>
            <a:pPr marL="342900" indent="-342900">
              <a:spcAft>
                <a:spcPts val="600"/>
              </a:spcAft>
              <a:buSzPct val="100000"/>
              <a:buChar char="•"/>
            </a:pPr>
            <a:r>
              <a:rPr lang="en-US" sz="1300" dirty="0">
                <a:solidFill>
                  <a:schemeClr val="tx1"/>
                </a:solidFill>
              </a:rPr>
              <a:t>Cada barra marca inicio y fin</a:t>
            </a:r>
            <a:endParaRPr lang="en-US" sz="1300" dirty="0"/>
          </a:p>
          <a:p>
            <a:pPr marL="342900" indent="-342900">
              <a:spcAft>
                <a:spcPts val="600"/>
              </a:spcAft>
              <a:buSzPct val="100000"/>
              <a:buChar char="•"/>
            </a:pPr>
            <a:r>
              <a:rPr lang="en-US" sz="1300" dirty="0">
                <a:solidFill>
                  <a:schemeClr val="tx1"/>
                </a:solidFill>
              </a:rPr>
              <a:t>Se sombrea el avance real</a:t>
            </a:r>
            <a:endParaRPr lang="en-US" sz="1300" dirty="0"/>
          </a:p>
          <a:p>
            <a:pPr marL="342900" indent="-342900">
              <a:spcAft>
                <a:spcPts val="600"/>
              </a:spcAft>
              <a:buSzPct val="100000"/>
              <a:buChar char="•"/>
            </a:pPr>
            <a:r>
              <a:rPr lang="en-US" sz="1300" dirty="0">
                <a:solidFill>
                  <a:schemeClr val="tx1"/>
                </a:solidFill>
              </a:rPr>
              <a:t>Hitos: fin de una fase</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Gantt: sencillo, pero con límites</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Suheily Ramos · Kerzner (2017)</a:t>
            </a:r>
            <a:endParaRPr lang="en-US" sz="1100" dirty="0"/>
          </a:p>
        </p:txBody>
      </p:sp>
      <p:sp>
        <p:nvSpPr>
          <p:cNvPr id="4" name="Tarjeta"/>
          <p:cNvSpPr/>
          <p:nvPr/>
        </p:nvSpPr>
        <p:spPr>
          <a:xfrm>
            <a:off x="457200" y="1188720"/>
            <a:ext cx="4023360" cy="2377440"/>
          </a:xfrm>
          <a:prstGeom prst="roundRect">
            <a:avLst>
              <a:gd name="adj" fmla="val 3077"/>
            </a:avLst>
          </a:prstGeom>
          <a:solidFill>
            <a:schemeClr val="bg2"/>
          </a:solidFill>
          <a:ln/>
        </p:spPr>
      </p:sp>
      <p:sp>
        <p:nvSpPr>
          <p:cNvPr id="5" name="Círculo de icono"/>
          <p:cNvSpPr/>
          <p:nvPr/>
        </p:nvSpPr>
        <p:spPr>
          <a:xfrm>
            <a:off x="685800" y="1371600"/>
            <a:ext cx="594360" cy="594360"/>
          </a:xfrm>
          <a:prstGeom prst="ellipse">
            <a:avLst/>
          </a:prstGeom>
          <a:solidFill>
            <a:schemeClr val="accent1"/>
          </a:solidFill>
          <a:ln/>
        </p:spPr>
      </p:sp>
      <p:pic>
        <p:nvPicPr>
          <p:cNvPr id="6" name="Icono" descr="FaCheck">    </p:cNvPr>
          <p:cNvPicPr>
            <a:picLocks noChangeAspect="1"/>
          </p:cNvPicPr>
          <p:nvPr/>
        </p:nvPicPr>
        <p:blipFill>
          <a:blip r:embed="rId1"/>
          <a:stretch>
            <a:fillRect/>
          </a:stretch>
        </p:blipFill>
        <p:spPr>
          <a:xfrm>
            <a:off x="816559" y="1502359"/>
            <a:ext cx="332842" cy="332842"/>
          </a:xfrm>
          <a:prstGeom prst="rect">
            <a:avLst/>
          </a:prstGeom>
        </p:spPr>
      </p:pic>
      <p:sp>
        <p:nvSpPr>
          <p:cNvPr id="7" name="Text 4"/>
          <p:cNvSpPr txBox="1"/>
          <p:nvPr/>
        </p:nvSpPr>
        <p:spPr>
          <a:xfrm>
            <a:off x="1417320" y="1463040"/>
            <a:ext cx="2743200" cy="411480"/>
          </a:xfrm>
          <a:prstGeom prst="rect">
            <a:avLst/>
          </a:prstGeom>
          <a:noFill/>
          <a:ln/>
        </p:spPr>
        <p:txBody>
          <a:bodyPr wrap="square" lIns="0" tIns="0" rIns="0" bIns="0" rtlCol="0" anchor="t"/>
          <a:lstStyle/>
          <a:p>
            <a:pPr indent="0" marL="0">
              <a:buNone/>
            </a:pPr>
            <a:r>
              <a:rPr lang="en-US" sz="1800" b="1" dirty="0">
                <a:solidFill>
                  <a:schemeClr val="tx2"/>
                </a:solidFill>
              </a:rPr>
              <a:t>Ventajas</a:t>
            </a:r>
            <a:endParaRPr lang="en-US" sz="1800" dirty="0"/>
          </a:p>
        </p:txBody>
      </p:sp>
      <p:sp>
        <p:nvSpPr>
          <p:cNvPr id="8" name="Text 5"/>
          <p:cNvSpPr txBox="1"/>
          <p:nvPr/>
        </p:nvSpPr>
        <p:spPr>
          <a:xfrm>
            <a:off x="731520" y="2148840"/>
            <a:ext cx="3566160" cy="1325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Sencillo de hacer y de leer</a:t>
            </a:r>
            <a:endParaRPr lang="en-US" sz="1500" dirty="0"/>
          </a:p>
          <a:p>
            <a:pPr marL="342900" indent="-342900">
              <a:spcAft>
                <a:spcPts val="600"/>
              </a:spcAft>
              <a:buSzPct val="100000"/>
              <a:buChar char="•"/>
            </a:pPr>
            <a:r>
              <a:rPr lang="en-US" sz="1500" dirty="0">
                <a:solidFill>
                  <a:schemeClr val="tx1"/>
                </a:solidFill>
              </a:rPr>
              <a:t>Fácil de comunicar al equipo</a:t>
            </a:r>
            <a:endParaRPr lang="en-US" sz="1500" dirty="0"/>
          </a:p>
          <a:p>
            <a:pPr marL="342900" indent="-342900">
              <a:spcAft>
                <a:spcPts val="600"/>
              </a:spcAft>
              <a:buSzPct val="100000"/>
              <a:buChar char="•"/>
            </a:pPr>
            <a:r>
              <a:rPr lang="en-US" sz="1500" dirty="0">
                <a:solidFill>
                  <a:schemeClr val="tx1"/>
                </a:solidFill>
              </a:rPr>
              <a:t>Útil en proyectos pequeños y medianos</a:t>
            </a:r>
            <a:endParaRPr lang="en-US" sz="1500" dirty="0"/>
          </a:p>
        </p:txBody>
      </p:sp>
      <p:sp>
        <p:nvSpPr>
          <p:cNvPr id="9" name="Tarjeta"/>
          <p:cNvSpPr/>
          <p:nvPr/>
        </p:nvSpPr>
        <p:spPr>
          <a:xfrm>
            <a:off x="4663440" y="1188720"/>
            <a:ext cx="4023360" cy="2377440"/>
          </a:xfrm>
          <a:prstGeom prst="roundRect">
            <a:avLst>
              <a:gd name="adj" fmla="val 3077"/>
            </a:avLst>
          </a:prstGeom>
          <a:solidFill>
            <a:schemeClr val="bg2"/>
          </a:solidFill>
          <a:ln/>
        </p:spPr>
      </p:sp>
      <p:sp>
        <p:nvSpPr>
          <p:cNvPr id="10" name="Círculo de icono"/>
          <p:cNvSpPr/>
          <p:nvPr/>
        </p:nvSpPr>
        <p:spPr>
          <a:xfrm>
            <a:off x="4892040" y="1371600"/>
            <a:ext cx="594360" cy="594360"/>
          </a:xfrm>
          <a:prstGeom prst="ellipse">
            <a:avLst/>
          </a:prstGeom>
          <a:solidFill>
            <a:schemeClr val="accent3"/>
          </a:solidFill>
          <a:ln/>
        </p:spPr>
      </p:sp>
      <p:pic>
        <p:nvPicPr>
          <p:cNvPr id="11" name="Icono" descr="FaXmark">    </p:cNvPr>
          <p:cNvPicPr>
            <a:picLocks noChangeAspect="1"/>
          </p:cNvPicPr>
          <p:nvPr/>
        </p:nvPicPr>
        <p:blipFill>
          <a:blip r:embed="rId2"/>
          <a:stretch>
            <a:fillRect/>
          </a:stretch>
        </p:blipFill>
        <p:spPr>
          <a:xfrm>
            <a:off x="5022799" y="1502359"/>
            <a:ext cx="332842" cy="332842"/>
          </a:xfrm>
          <a:prstGeom prst="rect">
            <a:avLst/>
          </a:prstGeom>
        </p:spPr>
      </p:pic>
      <p:sp>
        <p:nvSpPr>
          <p:cNvPr id="12" name="Text 8"/>
          <p:cNvSpPr txBox="1"/>
          <p:nvPr/>
        </p:nvSpPr>
        <p:spPr>
          <a:xfrm>
            <a:off x="5623560" y="1463040"/>
            <a:ext cx="2743200" cy="411480"/>
          </a:xfrm>
          <a:prstGeom prst="rect">
            <a:avLst/>
          </a:prstGeom>
          <a:noFill/>
          <a:ln/>
        </p:spPr>
        <p:txBody>
          <a:bodyPr wrap="square" lIns="0" tIns="0" rIns="0" bIns="0" rtlCol="0" anchor="t"/>
          <a:lstStyle/>
          <a:p>
            <a:pPr indent="0" marL="0">
              <a:buNone/>
            </a:pPr>
            <a:r>
              <a:rPr lang="en-US" sz="1800" b="1" dirty="0">
                <a:solidFill>
                  <a:schemeClr val="tx2"/>
                </a:solidFill>
              </a:rPr>
              <a:t>Limitaciones</a:t>
            </a:r>
            <a:endParaRPr lang="en-US" sz="1800" dirty="0"/>
          </a:p>
        </p:txBody>
      </p:sp>
      <p:sp>
        <p:nvSpPr>
          <p:cNvPr id="13" name="Text 9"/>
          <p:cNvSpPr txBox="1"/>
          <p:nvPr/>
        </p:nvSpPr>
        <p:spPr>
          <a:xfrm>
            <a:off x="4937760" y="2148840"/>
            <a:ext cx="3566160" cy="1325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No muestra qué depende de qué</a:t>
            </a:r>
            <a:endParaRPr lang="en-US" sz="1500" dirty="0"/>
          </a:p>
          <a:p>
            <a:pPr marL="342900" indent="-342900">
              <a:spcAft>
                <a:spcPts val="600"/>
              </a:spcAft>
              <a:buSzPct val="100000"/>
              <a:buChar char="•"/>
            </a:pPr>
            <a:r>
              <a:rPr lang="en-US" sz="1500" dirty="0">
                <a:solidFill>
                  <a:schemeClr val="tx1"/>
                </a:solidFill>
              </a:rPr>
              <a:t>Difícil de manejar con cientos de tareas</a:t>
            </a:r>
            <a:endParaRPr lang="en-US" sz="1500" dirty="0"/>
          </a:p>
        </p:txBody>
      </p:sp>
      <p:sp>
        <p:nvSpPr>
          <p:cNvPr id="14" name="Tarjeta"/>
          <p:cNvSpPr/>
          <p:nvPr/>
        </p:nvSpPr>
        <p:spPr>
          <a:xfrm>
            <a:off x="457200" y="3749040"/>
            <a:ext cx="8229600" cy="731520"/>
          </a:xfrm>
          <a:prstGeom prst="roundRect">
            <a:avLst>
              <a:gd name="adj" fmla="val 10000"/>
            </a:avLst>
          </a:prstGeom>
          <a:solidFill>
            <a:schemeClr val="tx2"/>
          </a:solidFill>
          <a:ln/>
        </p:spPr>
      </p:sp>
      <p:sp>
        <p:nvSpPr>
          <p:cNvPr id="15" name="Text 11"/>
          <p:cNvSpPr txBox="1"/>
          <p:nvPr/>
        </p:nvSpPr>
        <p:spPr>
          <a:xfrm>
            <a:off x="685800" y="3749040"/>
            <a:ext cx="7772400" cy="731520"/>
          </a:xfrm>
          <a:prstGeom prst="rect">
            <a:avLst/>
          </a:prstGeom>
          <a:noFill/>
          <a:ln/>
        </p:spPr>
        <p:txBody>
          <a:bodyPr wrap="square" lIns="0" tIns="0" rIns="0" bIns="0" rtlCol="0" anchor="ctr"/>
          <a:lstStyle/>
          <a:p>
            <a:pPr indent="0" marL="0">
              <a:buNone/>
            </a:pPr>
            <a:r>
              <a:rPr lang="en-US" sz="1600" b="1" dirty="0">
                <a:solidFill>
                  <a:schemeClr val="bg1"/>
                </a:solidFill>
              </a:rPr>
              <a:t>Esas limitaciones dieron paso a las técnicas de redes: PERT y la ruta crítica.</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PERT: planificar lo que nunca se ha hecho</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Niguel Morris-Santiago · Malcolm et al. (1959); Kerzner (2017)</a:t>
            </a:r>
            <a:endParaRPr lang="en-US" sz="1100" dirty="0"/>
          </a:p>
        </p:txBody>
      </p:sp>
      <p:sp>
        <p:nvSpPr>
          <p:cNvPr id="4" name="Tarjeta"/>
          <p:cNvSpPr/>
          <p:nvPr/>
        </p:nvSpPr>
        <p:spPr>
          <a:xfrm>
            <a:off x="457200" y="1143000"/>
            <a:ext cx="3931920" cy="3291840"/>
          </a:xfrm>
          <a:prstGeom prst="roundRect">
            <a:avLst>
              <a:gd name="adj" fmla="val 2222"/>
            </a:avLst>
          </a:prstGeom>
          <a:solidFill>
            <a:schemeClr val="tx2"/>
          </a:solidFill>
          <a:ln/>
        </p:spPr>
      </p:sp>
      <p:sp>
        <p:nvSpPr>
          <p:cNvPr id="5" name="Text 3"/>
          <p:cNvSpPr txBox="1"/>
          <p:nvPr/>
        </p:nvSpPr>
        <p:spPr>
          <a:xfrm>
            <a:off x="685800" y="1280160"/>
            <a:ext cx="3474720" cy="82296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1958</a:t>
            </a:r>
            <a:endParaRPr lang="en-US" sz="5400" dirty="0"/>
          </a:p>
        </p:txBody>
      </p:sp>
      <p:sp>
        <p:nvSpPr>
          <p:cNvPr id="6" name="Text 4"/>
          <p:cNvSpPr txBox="1"/>
          <p:nvPr/>
        </p:nvSpPr>
        <p:spPr>
          <a:xfrm>
            <a:off x="685800" y="2148840"/>
            <a:ext cx="3520440" cy="2194560"/>
          </a:xfrm>
          <a:prstGeom prst="rect">
            <a:avLst/>
          </a:prstGeom>
          <a:noFill/>
          <a:ln/>
        </p:spPr>
        <p:txBody>
          <a:bodyPr wrap="square" lIns="0" tIns="0" rIns="0" bIns="0" rtlCol="0" anchor="t"/>
          <a:lstStyle/>
          <a:p>
            <a:pPr indent="0" marL="0">
              <a:buNone/>
            </a:pPr>
            <a:r>
              <a:rPr lang="en-US" sz="1700" b="1" dirty="0">
                <a:solidFill>
                  <a:schemeClr val="bg1"/>
                </a:solidFill>
              </a:rPr>
              <a:t>Programa de misiles Polaris</a:t>
            </a:r>
            <a:endParaRPr lang="en-US" sz="1400" dirty="0"/>
          </a:p>
          <a:p>
            <a:pPr indent="0" marL="0">
              <a:buNone/>
            </a:pPr>
            <a:r>
              <a:rPr lang="en-US" sz="1300" dirty="0">
                <a:solidFill>
                  <a:schemeClr val="bg1"/>
                </a:solidFill>
              </a:rPr>
              <a:t>Marina de EE. UU. con Booz Allen Hamilton y Lockheed. Miles de contratistas y actividades sin datos históricos. Se le atribuye haber ayudado a terminar Polaris antes de lo previsto.</a:t>
            </a:r>
            <a:endParaRPr lang="en-US" sz="1400" dirty="0"/>
          </a:p>
        </p:txBody>
      </p:sp>
      <p:sp>
        <p:nvSpPr>
          <p:cNvPr id="7" name="Text 5"/>
          <p:cNvSpPr txBox="1"/>
          <p:nvPr/>
        </p:nvSpPr>
        <p:spPr>
          <a:xfrm>
            <a:off x="4663440" y="1143000"/>
            <a:ext cx="4023360" cy="365760"/>
          </a:xfrm>
          <a:prstGeom prst="rect">
            <a:avLst/>
          </a:prstGeom>
          <a:noFill/>
          <a:ln/>
        </p:spPr>
        <p:txBody>
          <a:bodyPr wrap="square" lIns="0" tIns="0" rIns="0" bIns="0" rtlCol="0" anchor="t"/>
          <a:lstStyle/>
          <a:p>
            <a:pPr indent="0" marL="0">
              <a:buNone/>
            </a:pPr>
            <a:r>
              <a:rPr lang="en-US" sz="1600" b="1" dirty="0">
                <a:solidFill>
                  <a:schemeClr val="tx2"/>
                </a:solidFill>
              </a:rPr>
              <a:t>Hoy se usa en:</a:t>
            </a:r>
            <a:endParaRPr lang="en-US" sz="1600" dirty="0"/>
          </a:p>
        </p:txBody>
      </p:sp>
      <p:sp>
        <p:nvSpPr>
          <p:cNvPr id="8" name="Círculo de icono"/>
          <p:cNvSpPr/>
          <p:nvPr/>
        </p:nvSpPr>
        <p:spPr>
          <a:xfrm>
            <a:off x="4663440" y="1600200"/>
            <a:ext cx="438912" cy="438912"/>
          </a:xfrm>
          <a:prstGeom prst="ellipse">
            <a:avLst/>
          </a:prstGeom>
          <a:solidFill>
            <a:schemeClr val="accent1"/>
          </a:solidFill>
          <a:ln/>
        </p:spPr>
      </p:sp>
      <p:pic>
        <p:nvPicPr>
          <p:cNvPr id="9" name="Icono" descr="FaBuilding">    </p:cNvPr>
          <p:cNvPicPr>
            <a:picLocks noChangeAspect="1"/>
          </p:cNvPicPr>
          <p:nvPr/>
        </p:nvPicPr>
        <p:blipFill>
          <a:blip r:embed="rId1"/>
          <a:stretch>
            <a:fillRect/>
          </a:stretch>
        </p:blipFill>
        <p:spPr>
          <a:xfrm>
            <a:off x="4760001" y="1696761"/>
            <a:ext cx="245791" cy="245791"/>
          </a:xfrm>
          <a:prstGeom prst="rect">
            <a:avLst/>
          </a:prstGeom>
        </p:spPr>
      </p:pic>
      <p:sp>
        <p:nvSpPr>
          <p:cNvPr id="10" name="Text 7"/>
          <p:cNvSpPr txBox="1"/>
          <p:nvPr/>
        </p:nvSpPr>
        <p:spPr>
          <a:xfrm>
            <a:off x="5257800" y="1600200"/>
            <a:ext cx="3383280" cy="438912"/>
          </a:xfrm>
          <a:prstGeom prst="rect">
            <a:avLst/>
          </a:prstGeom>
          <a:noFill/>
          <a:ln/>
        </p:spPr>
        <p:txBody>
          <a:bodyPr wrap="square" lIns="0" tIns="0" rIns="0" bIns="0" rtlCol="0" anchor="ctr"/>
          <a:lstStyle/>
          <a:p>
            <a:pPr indent="0" marL="0">
              <a:buNone/>
            </a:pPr>
            <a:r>
              <a:rPr lang="en-US" sz="1500" dirty="0">
                <a:solidFill>
                  <a:schemeClr val="tx1"/>
                </a:solidFill>
              </a:rPr>
              <a:t>Construcción</a:t>
            </a:r>
            <a:endParaRPr lang="en-US" sz="1500" dirty="0"/>
          </a:p>
        </p:txBody>
      </p:sp>
      <p:sp>
        <p:nvSpPr>
          <p:cNvPr id="11" name="Círculo de icono"/>
          <p:cNvSpPr/>
          <p:nvPr/>
        </p:nvSpPr>
        <p:spPr>
          <a:xfrm>
            <a:off x="4663440" y="2167128"/>
            <a:ext cx="438912" cy="438912"/>
          </a:xfrm>
          <a:prstGeom prst="ellipse">
            <a:avLst/>
          </a:prstGeom>
          <a:solidFill>
            <a:schemeClr val="accent1"/>
          </a:solidFill>
          <a:ln/>
        </p:spPr>
      </p:sp>
      <p:pic>
        <p:nvPicPr>
          <p:cNvPr id="12" name="Icono" descr="FaRocket">    </p:cNvPr>
          <p:cNvPicPr>
            <a:picLocks noChangeAspect="1"/>
          </p:cNvPicPr>
          <p:nvPr/>
        </p:nvPicPr>
        <p:blipFill>
          <a:blip r:embed="rId2"/>
          <a:stretch>
            <a:fillRect/>
          </a:stretch>
        </p:blipFill>
        <p:spPr>
          <a:xfrm>
            <a:off x="4760001" y="2263689"/>
            <a:ext cx="245791" cy="245791"/>
          </a:xfrm>
          <a:prstGeom prst="rect">
            <a:avLst/>
          </a:prstGeom>
        </p:spPr>
      </p:pic>
      <p:sp>
        <p:nvSpPr>
          <p:cNvPr id="13" name="Text 9"/>
          <p:cNvSpPr txBox="1"/>
          <p:nvPr/>
        </p:nvSpPr>
        <p:spPr>
          <a:xfrm>
            <a:off x="5257800" y="2167128"/>
            <a:ext cx="3383280" cy="438912"/>
          </a:xfrm>
          <a:prstGeom prst="rect">
            <a:avLst/>
          </a:prstGeom>
          <a:noFill/>
          <a:ln/>
        </p:spPr>
        <p:txBody>
          <a:bodyPr wrap="square" lIns="0" tIns="0" rIns="0" bIns="0" rtlCol="0" anchor="ctr"/>
          <a:lstStyle/>
          <a:p>
            <a:pPr indent="0" marL="0">
              <a:buNone/>
            </a:pPr>
            <a:r>
              <a:rPr lang="en-US" sz="1500" dirty="0">
                <a:solidFill>
                  <a:schemeClr val="tx1"/>
                </a:solidFill>
              </a:rPr>
              <a:t>Desarrollo de productos</a:t>
            </a:r>
            <a:endParaRPr lang="en-US" sz="1500" dirty="0"/>
          </a:p>
        </p:txBody>
      </p:sp>
      <p:sp>
        <p:nvSpPr>
          <p:cNvPr id="14" name="Círculo de icono"/>
          <p:cNvSpPr/>
          <p:nvPr/>
        </p:nvSpPr>
        <p:spPr>
          <a:xfrm>
            <a:off x="4663440" y="2734056"/>
            <a:ext cx="438912" cy="438912"/>
          </a:xfrm>
          <a:prstGeom prst="ellipse">
            <a:avLst/>
          </a:prstGeom>
          <a:solidFill>
            <a:schemeClr val="accent1"/>
          </a:solidFill>
          <a:ln/>
        </p:spPr>
      </p:sp>
      <p:pic>
        <p:nvPicPr>
          <p:cNvPr id="15" name="Icono" descr="FaCodeBranch">    </p:cNvPr>
          <p:cNvPicPr>
            <a:picLocks noChangeAspect="1"/>
          </p:cNvPicPr>
          <p:nvPr/>
        </p:nvPicPr>
        <p:blipFill>
          <a:blip r:embed="rId3"/>
          <a:stretch>
            <a:fillRect/>
          </a:stretch>
        </p:blipFill>
        <p:spPr>
          <a:xfrm>
            <a:off x="4760001" y="2830617"/>
            <a:ext cx="245791" cy="245791"/>
          </a:xfrm>
          <a:prstGeom prst="rect">
            <a:avLst/>
          </a:prstGeom>
        </p:spPr>
      </p:pic>
      <p:sp>
        <p:nvSpPr>
          <p:cNvPr id="16" name="Text 11"/>
          <p:cNvSpPr txBox="1"/>
          <p:nvPr/>
        </p:nvSpPr>
        <p:spPr>
          <a:xfrm>
            <a:off x="5257800" y="2734056"/>
            <a:ext cx="3383280" cy="438912"/>
          </a:xfrm>
          <a:prstGeom prst="rect">
            <a:avLst/>
          </a:prstGeom>
          <a:noFill/>
          <a:ln/>
        </p:spPr>
        <p:txBody>
          <a:bodyPr wrap="square" lIns="0" tIns="0" rIns="0" bIns="0" rtlCol="0" anchor="ctr"/>
          <a:lstStyle/>
          <a:p>
            <a:pPr indent="0" marL="0">
              <a:buNone/>
            </a:pPr>
            <a:r>
              <a:rPr lang="en-US" sz="1500" dirty="0">
                <a:solidFill>
                  <a:schemeClr val="tx1"/>
                </a:solidFill>
              </a:rPr>
              <a:t>Tecnología de información</a:t>
            </a:r>
            <a:endParaRPr lang="en-US" sz="1500" dirty="0"/>
          </a:p>
        </p:txBody>
      </p:sp>
      <p:sp>
        <p:nvSpPr>
          <p:cNvPr id="17" name="Círculo de icono"/>
          <p:cNvSpPr/>
          <p:nvPr/>
        </p:nvSpPr>
        <p:spPr>
          <a:xfrm>
            <a:off x="4663440" y="3300984"/>
            <a:ext cx="438912" cy="438912"/>
          </a:xfrm>
          <a:prstGeom prst="ellipse">
            <a:avLst/>
          </a:prstGeom>
          <a:solidFill>
            <a:schemeClr val="accent1"/>
          </a:solidFill>
          <a:ln/>
        </p:spPr>
      </p:sp>
      <p:pic>
        <p:nvPicPr>
          <p:cNvPr id="18" name="Icono" descr="FaCalendarDays">    </p:cNvPr>
          <p:cNvPicPr>
            <a:picLocks noChangeAspect="1"/>
          </p:cNvPicPr>
          <p:nvPr/>
        </p:nvPicPr>
        <p:blipFill>
          <a:blip r:embed="rId4"/>
          <a:stretch>
            <a:fillRect/>
          </a:stretch>
        </p:blipFill>
        <p:spPr>
          <a:xfrm>
            <a:off x="4760001" y="3397545"/>
            <a:ext cx="245791" cy="245791"/>
          </a:xfrm>
          <a:prstGeom prst="rect">
            <a:avLst/>
          </a:prstGeom>
        </p:spPr>
      </p:pic>
      <p:sp>
        <p:nvSpPr>
          <p:cNvPr id="19" name="Text 13"/>
          <p:cNvSpPr txBox="1"/>
          <p:nvPr/>
        </p:nvSpPr>
        <p:spPr>
          <a:xfrm>
            <a:off x="5257800" y="3300984"/>
            <a:ext cx="3383280" cy="438912"/>
          </a:xfrm>
          <a:prstGeom prst="rect">
            <a:avLst/>
          </a:prstGeom>
          <a:noFill/>
          <a:ln/>
        </p:spPr>
        <p:txBody>
          <a:bodyPr wrap="square" lIns="0" tIns="0" rIns="0" bIns="0" rtlCol="0" anchor="ctr"/>
          <a:lstStyle/>
          <a:p>
            <a:pPr indent="0" marL="0">
              <a:buNone/>
            </a:pPr>
            <a:r>
              <a:rPr lang="en-US" sz="1500" dirty="0">
                <a:solidFill>
                  <a:schemeClr val="tx1"/>
                </a:solidFill>
              </a:rPr>
              <a:t>Organización de eventos</a:t>
            </a:r>
            <a:endParaRPr lang="en-US" sz="1500" dirty="0"/>
          </a:p>
        </p:txBody>
      </p:sp>
      <p:sp>
        <p:nvSpPr>
          <p:cNvPr id="20" name="Círculo de icono"/>
          <p:cNvSpPr/>
          <p:nvPr/>
        </p:nvSpPr>
        <p:spPr>
          <a:xfrm>
            <a:off x="4663440" y="3867912"/>
            <a:ext cx="438912" cy="438912"/>
          </a:xfrm>
          <a:prstGeom prst="ellipse">
            <a:avLst/>
          </a:prstGeom>
          <a:solidFill>
            <a:schemeClr val="accent1"/>
          </a:solidFill>
          <a:ln/>
        </p:spPr>
      </p:sp>
      <p:pic>
        <p:nvPicPr>
          <p:cNvPr id="21" name="Icono" descr="FaPeopleGroup">    </p:cNvPr>
          <p:cNvPicPr>
            <a:picLocks noChangeAspect="1"/>
          </p:cNvPicPr>
          <p:nvPr/>
        </p:nvPicPr>
        <p:blipFill>
          <a:blip r:embed="rId5"/>
          <a:stretch>
            <a:fillRect/>
          </a:stretch>
        </p:blipFill>
        <p:spPr>
          <a:xfrm>
            <a:off x="4760001" y="3964473"/>
            <a:ext cx="245791" cy="245791"/>
          </a:xfrm>
          <a:prstGeom prst="rect">
            <a:avLst/>
          </a:prstGeom>
        </p:spPr>
      </p:pic>
      <p:sp>
        <p:nvSpPr>
          <p:cNvPr id="22" name="Text 15"/>
          <p:cNvSpPr txBox="1"/>
          <p:nvPr/>
        </p:nvSpPr>
        <p:spPr>
          <a:xfrm>
            <a:off x="5257800" y="3867912"/>
            <a:ext cx="3383280" cy="438912"/>
          </a:xfrm>
          <a:prstGeom prst="rect">
            <a:avLst/>
          </a:prstGeom>
          <a:noFill/>
          <a:ln/>
        </p:spPr>
        <p:txBody>
          <a:bodyPr wrap="square" lIns="0" tIns="0" rIns="0" bIns="0" rtlCol="0" anchor="ctr"/>
          <a:lstStyle/>
          <a:p>
            <a:pPr indent="0" marL="0">
              <a:buNone/>
            </a:pPr>
            <a:r>
              <a:rPr lang="en-US" sz="1500" dirty="0">
                <a:solidFill>
                  <a:schemeClr val="tx1"/>
                </a:solidFill>
              </a:rPr>
              <a:t>Programas públicos</a:t>
            </a:r>
            <a:endParaRPr lang="en-US" sz="15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Los elementos de la red PERT</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Niguel Morris-Santiago · Robbins y Coulter (2018)</a:t>
            </a:r>
            <a:endParaRPr lang="en-US" sz="1100" dirty="0"/>
          </a:p>
        </p:txBody>
      </p:sp>
      <p:sp>
        <p:nvSpPr>
          <p:cNvPr id="4" name="Tarjeta"/>
          <p:cNvSpPr/>
          <p:nvPr/>
        </p:nvSpPr>
        <p:spPr>
          <a:xfrm>
            <a:off x="457200" y="1188720"/>
            <a:ext cx="2606040" cy="2148840"/>
          </a:xfrm>
          <a:prstGeom prst="roundRect">
            <a:avLst>
              <a:gd name="adj" fmla="val 3404"/>
            </a:avLst>
          </a:prstGeom>
          <a:solidFill>
            <a:schemeClr val="bg2"/>
          </a:solidFill>
          <a:ln/>
        </p:spPr>
      </p:sp>
      <p:sp>
        <p:nvSpPr>
          <p:cNvPr id="5" name="Círculo de icono"/>
          <p:cNvSpPr/>
          <p:nvPr/>
        </p:nvSpPr>
        <p:spPr>
          <a:xfrm>
            <a:off x="1371600" y="1371600"/>
            <a:ext cx="777240" cy="777240"/>
          </a:xfrm>
          <a:prstGeom prst="ellipse">
            <a:avLst/>
          </a:prstGeom>
          <a:solidFill>
            <a:schemeClr val="accent1"/>
          </a:solidFill>
          <a:ln/>
        </p:spPr>
      </p:sp>
      <p:pic>
        <p:nvPicPr>
          <p:cNvPr id="6" name="Icono" descr="FaCircleDot">    </p:cNvPr>
          <p:cNvPicPr>
            <a:picLocks noChangeAspect="1"/>
          </p:cNvPicPr>
          <p:nvPr/>
        </p:nvPicPr>
        <p:blipFill>
          <a:blip r:embed="rId1"/>
          <a:stretch>
            <a:fillRect/>
          </a:stretch>
        </p:blipFill>
        <p:spPr>
          <a:xfrm>
            <a:off x="1542593" y="1542593"/>
            <a:ext cx="435254" cy="435254"/>
          </a:xfrm>
          <a:prstGeom prst="rect">
            <a:avLst/>
          </a:prstGeom>
        </p:spPr>
      </p:pic>
      <p:sp>
        <p:nvSpPr>
          <p:cNvPr id="7" name="Text 4"/>
          <p:cNvSpPr txBox="1"/>
          <p:nvPr/>
        </p:nvSpPr>
        <p:spPr>
          <a:xfrm>
            <a:off x="594360" y="2240280"/>
            <a:ext cx="2331720" cy="365760"/>
          </a:xfrm>
          <a:prstGeom prst="rect">
            <a:avLst/>
          </a:prstGeom>
          <a:noFill/>
          <a:ln/>
        </p:spPr>
        <p:txBody>
          <a:bodyPr wrap="square" lIns="0" tIns="0" rIns="0" bIns="0" rtlCol="0" anchor="t"/>
          <a:lstStyle/>
          <a:p>
            <a:pPr algn="ctr" indent="0" marL="0">
              <a:buNone/>
            </a:pPr>
            <a:r>
              <a:rPr lang="en-US" sz="1700" b="1" dirty="0">
                <a:solidFill>
                  <a:schemeClr val="tx2"/>
                </a:solidFill>
              </a:rPr>
              <a:t>Eventos</a:t>
            </a:r>
            <a:endParaRPr lang="en-US" sz="1700" dirty="0"/>
          </a:p>
        </p:txBody>
      </p:sp>
      <p:sp>
        <p:nvSpPr>
          <p:cNvPr id="8" name="Text 5"/>
          <p:cNvSpPr txBox="1"/>
          <p:nvPr/>
        </p:nvSpPr>
        <p:spPr>
          <a:xfrm>
            <a:off x="640080" y="2606040"/>
            <a:ext cx="2240280" cy="685800"/>
          </a:xfrm>
          <a:prstGeom prst="rect">
            <a:avLst/>
          </a:prstGeom>
          <a:noFill/>
          <a:ln/>
        </p:spPr>
        <p:txBody>
          <a:bodyPr wrap="square" lIns="0" tIns="0" rIns="0" bIns="0" rtlCol="0" anchor="t"/>
          <a:lstStyle/>
          <a:p>
            <a:pPr algn="ctr" indent="0" marL="0">
              <a:buNone/>
            </a:pPr>
            <a:r>
              <a:rPr lang="en-US" sz="1300" dirty="0">
                <a:solidFill>
                  <a:schemeClr val="tx1"/>
                </a:solidFill>
              </a:rPr>
              <a:t>Puntos de terminación. No consumen tiempo ni recursos.</a:t>
            </a:r>
            <a:endParaRPr lang="en-US" sz="1300" dirty="0"/>
          </a:p>
        </p:txBody>
      </p:sp>
      <p:sp>
        <p:nvSpPr>
          <p:cNvPr id="9" name="Tarjeta"/>
          <p:cNvSpPr/>
          <p:nvPr/>
        </p:nvSpPr>
        <p:spPr>
          <a:xfrm>
            <a:off x="3246120" y="1188720"/>
            <a:ext cx="2606040" cy="2148840"/>
          </a:xfrm>
          <a:prstGeom prst="roundRect">
            <a:avLst>
              <a:gd name="adj" fmla="val 3404"/>
            </a:avLst>
          </a:prstGeom>
          <a:solidFill>
            <a:schemeClr val="bg2"/>
          </a:solidFill>
          <a:ln/>
        </p:spPr>
      </p:sp>
      <p:sp>
        <p:nvSpPr>
          <p:cNvPr id="10" name="Círculo de icono"/>
          <p:cNvSpPr/>
          <p:nvPr/>
        </p:nvSpPr>
        <p:spPr>
          <a:xfrm>
            <a:off x="4160520" y="1371600"/>
            <a:ext cx="777240" cy="777240"/>
          </a:xfrm>
          <a:prstGeom prst="ellipse">
            <a:avLst/>
          </a:prstGeom>
          <a:solidFill>
            <a:schemeClr val="accent1"/>
          </a:solidFill>
          <a:ln/>
        </p:spPr>
      </p:sp>
      <p:pic>
        <p:nvPicPr>
          <p:cNvPr id="11" name="Icono" descr="FaArrowsRotate">    </p:cNvPr>
          <p:cNvPicPr>
            <a:picLocks noChangeAspect="1"/>
          </p:cNvPicPr>
          <p:nvPr/>
        </p:nvPicPr>
        <p:blipFill>
          <a:blip r:embed="rId2"/>
          <a:stretch>
            <a:fillRect/>
          </a:stretch>
        </p:blipFill>
        <p:spPr>
          <a:xfrm>
            <a:off x="4331513" y="1542593"/>
            <a:ext cx="435254" cy="435254"/>
          </a:xfrm>
          <a:prstGeom prst="rect">
            <a:avLst/>
          </a:prstGeom>
        </p:spPr>
      </p:pic>
      <p:sp>
        <p:nvSpPr>
          <p:cNvPr id="12" name="Text 8"/>
          <p:cNvSpPr txBox="1"/>
          <p:nvPr/>
        </p:nvSpPr>
        <p:spPr>
          <a:xfrm>
            <a:off x="3383280" y="2240280"/>
            <a:ext cx="2331720" cy="365760"/>
          </a:xfrm>
          <a:prstGeom prst="rect">
            <a:avLst/>
          </a:prstGeom>
          <a:noFill/>
          <a:ln/>
        </p:spPr>
        <p:txBody>
          <a:bodyPr wrap="square" lIns="0" tIns="0" rIns="0" bIns="0" rtlCol="0" anchor="t"/>
          <a:lstStyle/>
          <a:p>
            <a:pPr algn="ctr" indent="0" marL="0">
              <a:buNone/>
            </a:pPr>
            <a:r>
              <a:rPr lang="en-US" sz="1700" b="1" dirty="0">
                <a:solidFill>
                  <a:schemeClr val="tx2"/>
                </a:solidFill>
              </a:rPr>
              <a:t>Actividades</a:t>
            </a:r>
            <a:endParaRPr lang="en-US" sz="1700" dirty="0"/>
          </a:p>
        </p:txBody>
      </p:sp>
      <p:sp>
        <p:nvSpPr>
          <p:cNvPr id="13" name="Text 9"/>
          <p:cNvSpPr txBox="1"/>
          <p:nvPr/>
        </p:nvSpPr>
        <p:spPr>
          <a:xfrm>
            <a:off x="3429000" y="2606040"/>
            <a:ext cx="2240280" cy="685800"/>
          </a:xfrm>
          <a:prstGeom prst="rect">
            <a:avLst/>
          </a:prstGeom>
          <a:noFill/>
          <a:ln/>
        </p:spPr>
        <p:txBody>
          <a:bodyPr wrap="square" lIns="0" tIns="0" rIns="0" bIns="0" rtlCol="0" anchor="t"/>
          <a:lstStyle/>
          <a:p>
            <a:pPr algn="ctr" indent="0" marL="0">
              <a:buNone/>
            </a:pPr>
            <a:r>
              <a:rPr lang="en-US" sz="1300" dirty="0">
                <a:solidFill>
                  <a:schemeClr val="tx1"/>
                </a:solidFill>
              </a:rPr>
              <a:t>El trabajo para pasar de un evento a otro. Consumen tiempo o recursos.</a:t>
            </a:r>
            <a:endParaRPr lang="en-US" sz="1300" dirty="0"/>
          </a:p>
        </p:txBody>
      </p:sp>
      <p:sp>
        <p:nvSpPr>
          <p:cNvPr id="14" name="Tarjeta"/>
          <p:cNvSpPr/>
          <p:nvPr/>
        </p:nvSpPr>
        <p:spPr>
          <a:xfrm>
            <a:off x="6035040" y="1188720"/>
            <a:ext cx="2606040" cy="2148840"/>
          </a:xfrm>
          <a:prstGeom prst="roundRect">
            <a:avLst>
              <a:gd name="adj" fmla="val 3404"/>
            </a:avLst>
          </a:prstGeom>
          <a:solidFill>
            <a:schemeClr val="bg2"/>
          </a:solidFill>
          <a:ln/>
        </p:spPr>
      </p:sp>
      <p:sp>
        <p:nvSpPr>
          <p:cNvPr id="15" name="Círculo de icono"/>
          <p:cNvSpPr/>
          <p:nvPr/>
        </p:nvSpPr>
        <p:spPr>
          <a:xfrm>
            <a:off x="6949440" y="1371600"/>
            <a:ext cx="777240" cy="777240"/>
          </a:xfrm>
          <a:prstGeom prst="ellipse">
            <a:avLst/>
          </a:prstGeom>
          <a:solidFill>
            <a:schemeClr val="accent3"/>
          </a:solidFill>
          <a:ln/>
        </p:spPr>
      </p:sp>
      <p:pic>
        <p:nvPicPr>
          <p:cNvPr id="16" name="Icono" descr="FaRoute">    </p:cNvPr>
          <p:cNvPicPr>
            <a:picLocks noChangeAspect="1"/>
          </p:cNvPicPr>
          <p:nvPr/>
        </p:nvPicPr>
        <p:blipFill>
          <a:blip r:embed="rId3"/>
          <a:stretch>
            <a:fillRect/>
          </a:stretch>
        </p:blipFill>
        <p:spPr>
          <a:xfrm>
            <a:off x="7120433" y="1542593"/>
            <a:ext cx="435254" cy="435254"/>
          </a:xfrm>
          <a:prstGeom prst="rect">
            <a:avLst/>
          </a:prstGeom>
        </p:spPr>
      </p:pic>
      <p:sp>
        <p:nvSpPr>
          <p:cNvPr id="17" name="Text 12"/>
          <p:cNvSpPr txBox="1"/>
          <p:nvPr/>
        </p:nvSpPr>
        <p:spPr>
          <a:xfrm>
            <a:off x="6172200" y="2240280"/>
            <a:ext cx="2331720" cy="365760"/>
          </a:xfrm>
          <a:prstGeom prst="rect">
            <a:avLst/>
          </a:prstGeom>
          <a:noFill/>
          <a:ln/>
        </p:spPr>
        <p:txBody>
          <a:bodyPr wrap="square" lIns="0" tIns="0" rIns="0" bIns="0" rtlCol="0" anchor="t"/>
          <a:lstStyle/>
          <a:p>
            <a:pPr algn="ctr" indent="0" marL="0">
              <a:buNone/>
            </a:pPr>
            <a:r>
              <a:rPr lang="en-US" sz="1700" b="1" dirty="0">
                <a:solidFill>
                  <a:schemeClr val="tx2"/>
                </a:solidFill>
              </a:rPr>
              <a:t>Ruta crítica</a:t>
            </a:r>
            <a:endParaRPr lang="en-US" sz="1700" dirty="0"/>
          </a:p>
        </p:txBody>
      </p:sp>
      <p:sp>
        <p:nvSpPr>
          <p:cNvPr id="18" name="Text 13"/>
          <p:cNvSpPr txBox="1"/>
          <p:nvPr/>
        </p:nvSpPr>
        <p:spPr>
          <a:xfrm>
            <a:off x="6217920" y="2606040"/>
            <a:ext cx="2240280" cy="685800"/>
          </a:xfrm>
          <a:prstGeom prst="rect">
            <a:avLst/>
          </a:prstGeom>
          <a:noFill/>
          <a:ln/>
        </p:spPr>
        <p:txBody>
          <a:bodyPr wrap="square" lIns="0" tIns="0" rIns="0" bIns="0" rtlCol="0" anchor="t"/>
          <a:lstStyle/>
          <a:p>
            <a:pPr algn="ctr" indent="0" marL="0">
              <a:buNone/>
            </a:pPr>
            <a:r>
              <a:rPr lang="en-US" sz="1300" dirty="0">
                <a:solidFill>
                  <a:schemeClr val="tx1"/>
                </a:solidFill>
              </a:rPr>
              <a:t>La secuencia más larga. Determina el tiempo mínimo del proyecto.</a:t>
            </a:r>
            <a:endParaRPr lang="en-US" sz="1300" dirty="0"/>
          </a:p>
        </p:txBody>
      </p:sp>
      <p:sp>
        <p:nvSpPr>
          <p:cNvPr id="19" name="Tarjeta"/>
          <p:cNvSpPr/>
          <p:nvPr/>
        </p:nvSpPr>
        <p:spPr>
          <a:xfrm>
            <a:off x="457200" y="3566160"/>
            <a:ext cx="8229600" cy="868680"/>
          </a:xfrm>
          <a:prstGeom prst="roundRect">
            <a:avLst>
              <a:gd name="adj" fmla="val 8421"/>
            </a:avLst>
          </a:prstGeom>
          <a:solidFill>
            <a:schemeClr val="bg2"/>
          </a:solidFill>
          <a:ln/>
        </p:spPr>
      </p:sp>
      <p:sp>
        <p:nvSpPr>
          <p:cNvPr id="20" name="Text 15"/>
          <p:cNvSpPr txBox="1"/>
          <p:nvPr/>
        </p:nvSpPr>
        <p:spPr>
          <a:xfrm>
            <a:off x="685800" y="3566160"/>
            <a:ext cx="7772400" cy="868680"/>
          </a:xfrm>
          <a:prstGeom prst="rect">
            <a:avLst/>
          </a:prstGeom>
          <a:noFill/>
          <a:ln/>
        </p:spPr>
        <p:txBody>
          <a:bodyPr wrap="square" lIns="0" tIns="0" rIns="0" bIns="0" rtlCol="0" anchor="ctr"/>
          <a:lstStyle/>
          <a:p>
            <a:pPr indent="0" marL="0">
              <a:buNone/>
            </a:pPr>
            <a:r>
              <a:rPr lang="en-US" sz="1400" b="1" dirty="0">
                <a:solidFill>
                  <a:schemeClr val="accent1"/>
                </a:solidFill>
              </a:rPr>
              <a:t>Ventaja sobre Gantt: </a:t>
            </a:r>
            <a:pPr indent="0" marL="0">
              <a:buNone/>
            </a:pPr>
            <a:r>
              <a:rPr lang="en-US" sz="1400" dirty="0">
                <a:solidFill>
                  <a:schemeClr val="tx1"/>
                </a:solidFill>
              </a:rPr>
              <a:t>la red muestra las precedencias, las actividades en paralelo y cómo un atraso afecta a las que dependen de él.</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Tres estimados en lugar de uno</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Niguel Morris-Santiago · Malcolm et al. (1959)</a:t>
            </a:r>
            <a:endParaRPr lang="en-US" sz="1100" dirty="0"/>
          </a:p>
        </p:txBody>
      </p:sp>
      <p:sp>
        <p:nvSpPr>
          <p:cNvPr id="4" name="Letra"/>
          <p:cNvSpPr/>
          <p:nvPr/>
        </p:nvSpPr>
        <p:spPr>
          <a:xfrm>
            <a:off x="457200" y="1188720"/>
            <a:ext cx="548640" cy="548640"/>
          </a:xfrm>
          <a:prstGeom prst="ellipse">
            <a:avLst/>
          </a:prstGeom>
          <a:solidFill>
            <a:schemeClr val="accent1"/>
          </a:solidFill>
          <a:ln/>
        </p:spPr>
      </p:sp>
      <p:sp>
        <p:nvSpPr>
          <p:cNvPr id="5" name="Text 3"/>
          <p:cNvSpPr txBox="1"/>
          <p:nvPr/>
        </p:nvSpPr>
        <p:spPr>
          <a:xfrm>
            <a:off x="457200" y="1188720"/>
            <a:ext cx="548640" cy="548640"/>
          </a:xfrm>
          <a:prstGeom prst="rect">
            <a:avLst/>
          </a:prstGeom>
          <a:noFill/>
          <a:ln/>
        </p:spPr>
        <p:txBody>
          <a:bodyPr wrap="square" lIns="0" tIns="0" rIns="0" bIns="0" rtlCol="0" anchor="ctr"/>
          <a:lstStyle/>
          <a:p>
            <a:pPr algn="ctr" indent="0" marL="0">
              <a:buNone/>
            </a:pPr>
            <a:r>
              <a:rPr lang="en-US" sz="2000" b="1" i="1" dirty="0">
                <a:solidFill>
                  <a:schemeClr val="bg1"/>
                </a:solidFill>
                <a:latin typeface="Cambria" pitchFamily="34" charset="0"/>
                <a:ea typeface="Cambria" pitchFamily="34" charset="-122"/>
                <a:cs typeface="Cambria" pitchFamily="34" charset="-120"/>
              </a:rPr>
              <a:t>a</a:t>
            </a:r>
            <a:endParaRPr lang="en-US" sz="2000" dirty="0"/>
          </a:p>
        </p:txBody>
      </p:sp>
      <p:sp>
        <p:nvSpPr>
          <p:cNvPr id="6" name="Text 4"/>
          <p:cNvSpPr txBox="1"/>
          <p:nvPr/>
        </p:nvSpPr>
        <p:spPr>
          <a:xfrm>
            <a:off x="1143000" y="1207008"/>
            <a:ext cx="2926080" cy="548640"/>
          </a:xfrm>
          <a:prstGeom prst="rect">
            <a:avLst/>
          </a:prstGeom>
          <a:noFill/>
          <a:ln/>
        </p:spPr>
        <p:txBody>
          <a:bodyPr wrap="square" lIns="0" tIns="0" rIns="0" bIns="0" rtlCol="0" anchor="t"/>
          <a:lstStyle/>
          <a:p>
            <a:pPr indent="0" marL="0">
              <a:buNone/>
            </a:pPr>
            <a:r>
              <a:rPr lang="en-US" sz="1400" b="1" dirty="0">
                <a:solidFill>
                  <a:schemeClr val="tx1"/>
                </a:solidFill>
              </a:rPr>
              <a:t>Optimista</a:t>
            </a:r>
            <a:endParaRPr lang="en-US" sz="1400" dirty="0"/>
          </a:p>
          <a:p>
            <a:pPr indent="0" marL="0">
              <a:buNone/>
            </a:pPr>
            <a:r>
              <a:rPr lang="en-US" sz="1200" dirty="0">
                <a:solidFill>
                  <a:schemeClr val="accent4"/>
                </a:solidFill>
              </a:rPr>
              <a:t>todo sale bien</a:t>
            </a:r>
            <a:endParaRPr lang="en-US" sz="1400" dirty="0"/>
          </a:p>
        </p:txBody>
      </p:sp>
      <p:sp>
        <p:nvSpPr>
          <p:cNvPr id="7" name="Letra"/>
          <p:cNvSpPr/>
          <p:nvPr/>
        </p:nvSpPr>
        <p:spPr>
          <a:xfrm>
            <a:off x="457200" y="1874520"/>
            <a:ext cx="548640" cy="548640"/>
          </a:xfrm>
          <a:prstGeom prst="ellipse">
            <a:avLst/>
          </a:prstGeom>
          <a:solidFill>
            <a:schemeClr val="accent1"/>
          </a:solidFill>
          <a:ln/>
        </p:spPr>
      </p:sp>
      <p:sp>
        <p:nvSpPr>
          <p:cNvPr id="8" name="Text 6"/>
          <p:cNvSpPr txBox="1"/>
          <p:nvPr/>
        </p:nvSpPr>
        <p:spPr>
          <a:xfrm>
            <a:off x="457200" y="1874520"/>
            <a:ext cx="548640" cy="548640"/>
          </a:xfrm>
          <a:prstGeom prst="rect">
            <a:avLst/>
          </a:prstGeom>
          <a:noFill/>
          <a:ln/>
        </p:spPr>
        <p:txBody>
          <a:bodyPr wrap="square" lIns="0" tIns="0" rIns="0" bIns="0" rtlCol="0" anchor="ctr"/>
          <a:lstStyle/>
          <a:p>
            <a:pPr algn="ctr" indent="0" marL="0">
              <a:buNone/>
            </a:pPr>
            <a:r>
              <a:rPr lang="en-US" sz="2000" b="1" i="1" dirty="0">
                <a:solidFill>
                  <a:schemeClr val="bg1"/>
                </a:solidFill>
                <a:latin typeface="Cambria" pitchFamily="34" charset="0"/>
                <a:ea typeface="Cambria" pitchFamily="34" charset="-122"/>
                <a:cs typeface="Cambria" pitchFamily="34" charset="-120"/>
              </a:rPr>
              <a:t>m</a:t>
            </a:r>
            <a:endParaRPr lang="en-US" sz="2000" dirty="0"/>
          </a:p>
        </p:txBody>
      </p:sp>
      <p:sp>
        <p:nvSpPr>
          <p:cNvPr id="9" name="Text 7"/>
          <p:cNvSpPr txBox="1"/>
          <p:nvPr/>
        </p:nvSpPr>
        <p:spPr>
          <a:xfrm>
            <a:off x="1143000" y="1892808"/>
            <a:ext cx="2926080" cy="548640"/>
          </a:xfrm>
          <a:prstGeom prst="rect">
            <a:avLst/>
          </a:prstGeom>
          <a:noFill/>
          <a:ln/>
        </p:spPr>
        <p:txBody>
          <a:bodyPr wrap="square" lIns="0" tIns="0" rIns="0" bIns="0" rtlCol="0" anchor="t"/>
          <a:lstStyle/>
          <a:p>
            <a:pPr indent="0" marL="0">
              <a:buNone/>
            </a:pPr>
            <a:r>
              <a:rPr lang="en-US" sz="1400" b="1" dirty="0">
                <a:solidFill>
                  <a:schemeClr val="tx1"/>
                </a:solidFill>
              </a:rPr>
              <a:t>Más probable</a:t>
            </a:r>
            <a:endParaRPr lang="en-US" sz="1400" dirty="0"/>
          </a:p>
          <a:p>
            <a:pPr indent="0" marL="0">
              <a:buNone/>
            </a:pPr>
            <a:r>
              <a:rPr lang="en-US" sz="1200" dirty="0">
                <a:solidFill>
                  <a:schemeClr val="accent4"/>
                </a:solidFill>
              </a:rPr>
              <a:t>condiciones normales</a:t>
            </a:r>
            <a:endParaRPr lang="en-US" sz="1400" dirty="0"/>
          </a:p>
        </p:txBody>
      </p:sp>
      <p:sp>
        <p:nvSpPr>
          <p:cNvPr id="10" name="Letra"/>
          <p:cNvSpPr/>
          <p:nvPr/>
        </p:nvSpPr>
        <p:spPr>
          <a:xfrm>
            <a:off x="457200" y="2560320"/>
            <a:ext cx="548640" cy="548640"/>
          </a:xfrm>
          <a:prstGeom prst="ellipse">
            <a:avLst/>
          </a:prstGeom>
          <a:solidFill>
            <a:schemeClr val="accent1"/>
          </a:solidFill>
          <a:ln/>
        </p:spPr>
      </p:sp>
      <p:sp>
        <p:nvSpPr>
          <p:cNvPr id="11" name="Text 9"/>
          <p:cNvSpPr txBox="1"/>
          <p:nvPr/>
        </p:nvSpPr>
        <p:spPr>
          <a:xfrm>
            <a:off x="457200" y="2560320"/>
            <a:ext cx="548640" cy="548640"/>
          </a:xfrm>
          <a:prstGeom prst="rect">
            <a:avLst/>
          </a:prstGeom>
          <a:noFill/>
          <a:ln/>
        </p:spPr>
        <p:txBody>
          <a:bodyPr wrap="square" lIns="0" tIns="0" rIns="0" bIns="0" rtlCol="0" anchor="ctr"/>
          <a:lstStyle/>
          <a:p>
            <a:pPr algn="ctr" indent="0" marL="0">
              <a:buNone/>
            </a:pPr>
            <a:r>
              <a:rPr lang="en-US" sz="2000" b="1" i="1" dirty="0">
                <a:solidFill>
                  <a:schemeClr val="bg1"/>
                </a:solidFill>
                <a:latin typeface="Cambria" pitchFamily="34" charset="0"/>
                <a:ea typeface="Cambria" pitchFamily="34" charset="-122"/>
                <a:cs typeface="Cambria" pitchFamily="34" charset="-120"/>
              </a:rPr>
              <a:t>b</a:t>
            </a:r>
            <a:endParaRPr lang="en-US" sz="2000" dirty="0"/>
          </a:p>
        </p:txBody>
      </p:sp>
      <p:sp>
        <p:nvSpPr>
          <p:cNvPr id="12" name="Text 10"/>
          <p:cNvSpPr txBox="1"/>
          <p:nvPr/>
        </p:nvSpPr>
        <p:spPr>
          <a:xfrm>
            <a:off x="1143000" y="2578608"/>
            <a:ext cx="2926080" cy="548640"/>
          </a:xfrm>
          <a:prstGeom prst="rect">
            <a:avLst/>
          </a:prstGeom>
          <a:noFill/>
          <a:ln/>
        </p:spPr>
        <p:txBody>
          <a:bodyPr wrap="square" lIns="0" tIns="0" rIns="0" bIns="0" rtlCol="0" anchor="t"/>
          <a:lstStyle/>
          <a:p>
            <a:pPr indent="0" marL="0">
              <a:buNone/>
            </a:pPr>
            <a:r>
              <a:rPr lang="en-US" sz="1400" b="1" dirty="0">
                <a:solidFill>
                  <a:schemeClr val="tx1"/>
                </a:solidFill>
              </a:rPr>
              <a:t>Pesimista</a:t>
            </a:r>
            <a:endParaRPr lang="en-US" sz="1400" dirty="0"/>
          </a:p>
          <a:p>
            <a:pPr indent="0" marL="0">
              <a:buNone/>
            </a:pPr>
            <a:r>
              <a:rPr lang="en-US" sz="1200" dirty="0">
                <a:solidFill>
                  <a:schemeClr val="accent4"/>
                </a:solidFill>
              </a:rPr>
              <a:t>contratiempos importantes</a:t>
            </a:r>
            <a:endParaRPr lang="en-US" sz="1400" dirty="0"/>
          </a:p>
        </p:txBody>
      </p:sp>
      <p:sp>
        <p:nvSpPr>
          <p:cNvPr id="13" name="Tarjeta"/>
          <p:cNvSpPr/>
          <p:nvPr/>
        </p:nvSpPr>
        <p:spPr>
          <a:xfrm>
            <a:off x="457200" y="3291840"/>
            <a:ext cx="3749040" cy="1143000"/>
          </a:xfrm>
          <a:prstGeom prst="roundRect">
            <a:avLst>
              <a:gd name="adj" fmla="val 6400"/>
            </a:avLst>
          </a:prstGeom>
          <a:solidFill>
            <a:schemeClr val="bg2"/>
          </a:solidFill>
          <a:ln/>
        </p:spPr>
      </p:sp>
      <p:sp>
        <p:nvSpPr>
          <p:cNvPr id="14" name="Text 12"/>
          <p:cNvSpPr txBox="1"/>
          <p:nvPr/>
        </p:nvSpPr>
        <p:spPr>
          <a:xfrm>
            <a:off x="685800" y="3383280"/>
            <a:ext cx="3383280" cy="9601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te = (a + 4m + b) / 6</a:t>
            </a:r>
            <a:endParaRPr lang="en-US" sz="1400" dirty="0"/>
          </a:p>
          <a:p>
            <a:pPr indent="0" marL="0">
              <a:buNone/>
            </a:pPr>
            <a:r>
              <a:rPr lang="en-US" sz="2000" b="1" dirty="0">
                <a:solidFill>
                  <a:schemeClr val="tx2"/>
                </a:solidFill>
                <a:latin typeface="Cambria" pitchFamily="34" charset="0"/>
                <a:ea typeface="Cambria" pitchFamily="34" charset="-122"/>
                <a:cs typeface="Cambria" pitchFamily="34" charset="-120"/>
              </a:rPr>
              <a:t>σ = (b − a) / 6</a:t>
            </a:r>
            <a:endParaRPr lang="en-US" sz="1400" dirty="0"/>
          </a:p>
        </p:txBody>
      </p:sp>
      <p:sp>
        <p:nvSpPr>
          <p:cNvPr id="15" name="Tarjeta"/>
          <p:cNvSpPr/>
          <p:nvPr/>
        </p:nvSpPr>
        <p:spPr>
          <a:xfrm>
            <a:off x="4480560" y="1188720"/>
            <a:ext cx="4206240" cy="3246120"/>
          </a:xfrm>
          <a:prstGeom prst="roundRect">
            <a:avLst>
              <a:gd name="adj" fmla="val 2254"/>
            </a:avLst>
          </a:prstGeom>
          <a:solidFill>
            <a:schemeClr val="tx2"/>
          </a:solidFill>
          <a:ln/>
        </p:spPr>
      </p:sp>
      <p:sp>
        <p:nvSpPr>
          <p:cNvPr id="16" name="Text 14"/>
          <p:cNvSpPr txBox="1"/>
          <p:nvPr/>
        </p:nvSpPr>
        <p:spPr>
          <a:xfrm>
            <a:off x="4709160" y="1325880"/>
            <a:ext cx="3749040" cy="365760"/>
          </a:xfrm>
          <a:prstGeom prst="rect">
            <a:avLst/>
          </a:prstGeom>
          <a:noFill/>
          <a:ln/>
        </p:spPr>
        <p:txBody>
          <a:bodyPr wrap="square" lIns="0" tIns="0" rIns="0" bIns="0" rtlCol="0" anchor="t"/>
          <a:lstStyle/>
          <a:p>
            <a:pPr indent="0" marL="0">
              <a:buNone/>
            </a:pPr>
            <a:r>
              <a:rPr lang="en-US" sz="1600" b="1" dirty="0">
                <a:solidFill>
                  <a:schemeClr val="accent2"/>
                </a:solidFill>
              </a:rPr>
              <a:t>Ejemplo</a:t>
            </a:r>
            <a:endParaRPr lang="en-US" sz="1600" dirty="0"/>
          </a:p>
        </p:txBody>
      </p:sp>
      <p:sp>
        <p:nvSpPr>
          <p:cNvPr id="17" name="Text 15"/>
          <p:cNvSpPr txBox="1"/>
          <p:nvPr/>
        </p:nvSpPr>
        <p:spPr>
          <a:xfrm>
            <a:off x="4709160" y="1737360"/>
            <a:ext cx="3749040" cy="365760"/>
          </a:xfrm>
          <a:prstGeom prst="rect">
            <a:avLst/>
          </a:prstGeom>
          <a:noFill/>
          <a:ln/>
        </p:spPr>
        <p:txBody>
          <a:bodyPr wrap="square" lIns="0" tIns="0" rIns="0" bIns="0" rtlCol="0" anchor="t"/>
          <a:lstStyle/>
          <a:p>
            <a:pPr indent="0" marL="0">
              <a:buNone/>
            </a:pPr>
            <a:r>
              <a:rPr lang="en-US" sz="1600" dirty="0">
                <a:solidFill>
                  <a:schemeClr val="bg1"/>
                </a:solidFill>
              </a:rPr>
              <a:t>a = 4   m = 6   b = 14 días</a:t>
            </a:r>
            <a:endParaRPr lang="en-US" sz="1600" dirty="0"/>
          </a:p>
        </p:txBody>
      </p:sp>
      <p:sp>
        <p:nvSpPr>
          <p:cNvPr id="18" name="Text 16"/>
          <p:cNvSpPr txBox="1"/>
          <p:nvPr/>
        </p:nvSpPr>
        <p:spPr>
          <a:xfrm>
            <a:off x="4709160" y="2148840"/>
            <a:ext cx="3749040" cy="82296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7 días</a:t>
            </a:r>
            <a:endParaRPr lang="en-US" sz="4800" dirty="0"/>
          </a:p>
        </p:txBody>
      </p:sp>
      <p:sp>
        <p:nvSpPr>
          <p:cNvPr id="19" name="Text 17"/>
          <p:cNvSpPr txBox="1"/>
          <p:nvPr/>
        </p:nvSpPr>
        <p:spPr>
          <a:xfrm>
            <a:off x="4709160" y="2971800"/>
            <a:ext cx="3749040" cy="320040"/>
          </a:xfrm>
          <a:prstGeom prst="rect">
            <a:avLst/>
          </a:prstGeom>
          <a:noFill/>
          <a:ln/>
        </p:spPr>
        <p:txBody>
          <a:bodyPr wrap="square" lIns="0" tIns="0" rIns="0" bIns="0" rtlCol="0" anchor="t"/>
          <a:lstStyle/>
          <a:p>
            <a:pPr indent="0" marL="0">
              <a:buNone/>
            </a:pPr>
            <a:r>
              <a:rPr lang="en-US" sz="1300" dirty="0">
                <a:solidFill>
                  <a:schemeClr val="accent5"/>
                </a:solidFill>
              </a:rPr>
              <a:t>tiempo esperado · σ ≈ 1.67 días</a:t>
            </a:r>
            <a:endParaRPr lang="en-US" sz="1300" dirty="0"/>
          </a:p>
        </p:txBody>
      </p:sp>
      <p:sp>
        <p:nvSpPr>
          <p:cNvPr id="20" name="Text 18"/>
          <p:cNvSpPr txBox="1"/>
          <p:nvPr/>
        </p:nvSpPr>
        <p:spPr>
          <a:xfrm>
            <a:off x="4709160" y="3383280"/>
            <a:ext cx="3749040" cy="868680"/>
          </a:xfrm>
          <a:prstGeom prst="rect">
            <a:avLst/>
          </a:prstGeom>
          <a:noFill/>
          <a:ln/>
        </p:spPr>
        <p:txBody>
          <a:bodyPr wrap="square" lIns="0" tIns="0" rIns="0" bIns="0" rtlCol="0" anchor="t"/>
          <a:lstStyle/>
          <a:p>
            <a:pPr indent="0" marL="0">
              <a:buNone/>
            </a:pPr>
            <a:r>
              <a:rPr lang="en-US" sz="1300" i="1" dirty="0">
                <a:solidFill>
                  <a:schemeClr val="bg1"/>
                </a:solidFill>
              </a:rPr>
              <a:t>Lo normal serían 6 días; el riesgo de contratiempos lo sube a 7 y da un margen más prudente.</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Ejemplo: programa de servicio comunitario</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Niguel Morris-Santiago · Datos hipotéticos con fines ilustrativos</a:t>
            </a:r>
            <a:endParaRPr lang="en-US" sz="1100" dirty="0"/>
          </a:p>
        </p:txBody>
      </p:sp>
      <p:graphicFrame>
        <p:nvGraphicFramePr>
          <p:cNvPr id="16" name="Tabla PERT"/>
          <p:cNvGraphicFramePr>
            <a:graphicFrameLocks noGrp="1"/>
          </p:cNvGraphicFramePr>
          <p:nvPr>
            <p:extLst>
              <p:ext uri="{D42A27DB-BD31-4B8C-83A1-F6EECF244321}">
                <p14:modId xmlns:p14="http://schemas.microsoft.com/office/powerpoint/2010/main" val="1579011935"/>
              </p:ext>
            </p:extLst>
          </p:nvPr>
        </p:nvGraphicFramePr>
        <p:xfrm>
          <a:off x="457200" y="1188720"/>
          <a:ext cx="5120640" cy="914400"/>
        </p:xfrm>
        <a:graphic>
          <a:graphicData uri="http://schemas.openxmlformats.org/drawingml/2006/table">
            <a:tbl>
              <a:tblPr/>
              <a:tblGrid>
                <a:gridCol w="2148840"/>
                <a:gridCol w="594360"/>
                <a:gridCol w="594360"/>
                <a:gridCol w="594360"/>
                <a:gridCol w="594360"/>
                <a:gridCol w="594360"/>
              </a:tblGrid>
              <a:tr h="384048">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Actividad</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m</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b</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te</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σ²</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 Diseño del programa</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B. Reclutamiento</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 Capacitación</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r h="384048">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D. Ejecución del servicio</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r h="384048">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Total ruta crítica</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300" b="1" dirty="0">
                          <a:solidFill>
                            <a:schemeClr val="accent3"/>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bl>
          </a:graphicData>
        </a:graphic>
      </p:graphicFrame>
      <p:sp>
        <p:nvSpPr>
          <p:cNvPr id="5" name="Text 2"/>
          <p:cNvSpPr txBox="1"/>
          <p:nvPr/>
        </p:nvSpPr>
        <p:spPr>
          <a:xfrm>
            <a:off x="457200" y="3611880"/>
            <a:ext cx="5120640" cy="274320"/>
          </a:xfrm>
          <a:prstGeom prst="rect">
            <a:avLst/>
          </a:prstGeom>
          <a:noFill/>
          <a:ln/>
        </p:spPr>
        <p:txBody>
          <a:bodyPr wrap="square" lIns="0" tIns="0" rIns="0" bIns="0" rtlCol="0" anchor="t"/>
          <a:lstStyle/>
          <a:p>
            <a:pPr indent="0" marL="0">
              <a:buNone/>
            </a:pPr>
            <a:r>
              <a:rPr lang="en-US" sz="1100" dirty="0">
                <a:solidFill>
                  <a:schemeClr val="accent4"/>
                </a:solidFill>
              </a:rPr>
              <a:t>Semanas. te = (a + 4m + b) / 6; σ² = [(b − a) / 6]²</a:t>
            </a:r>
            <a:endParaRPr lang="en-US" sz="1100" dirty="0"/>
          </a:p>
        </p:txBody>
      </p:sp>
      <p:sp>
        <p:nvSpPr>
          <p:cNvPr id="6" name="Tarjeta"/>
          <p:cNvSpPr/>
          <p:nvPr/>
        </p:nvSpPr>
        <p:spPr>
          <a:xfrm>
            <a:off x="5852160" y="1188720"/>
            <a:ext cx="2834640" cy="3246120"/>
          </a:xfrm>
          <a:prstGeom prst="roundRect">
            <a:avLst>
              <a:gd name="adj" fmla="val 2581"/>
            </a:avLst>
          </a:prstGeom>
          <a:solidFill>
            <a:schemeClr val="bg2"/>
          </a:solidFill>
          <a:ln/>
        </p:spPr>
      </p:sp>
      <p:sp>
        <p:nvSpPr>
          <p:cNvPr id="7" name="Text 4"/>
          <p:cNvSpPr txBox="1"/>
          <p:nvPr/>
        </p:nvSpPr>
        <p:spPr>
          <a:xfrm>
            <a:off x="6035040" y="1325880"/>
            <a:ext cx="2468880" cy="457200"/>
          </a:xfrm>
          <a:prstGeom prst="rect">
            <a:avLst/>
          </a:prstGeom>
          <a:noFill/>
          <a:ln/>
        </p:spPr>
        <p:txBody>
          <a:bodyPr wrap="square" lIns="0" tIns="0" rIns="0" bIns="0" rtlCol="0" anchor="t"/>
          <a:lstStyle/>
          <a:p>
            <a:pPr algn="ctr" indent="0" marL="0">
              <a:buNone/>
            </a:pPr>
            <a:r>
              <a:rPr lang="en-US" sz="1300" dirty="0">
                <a:solidFill>
                  <a:schemeClr val="accent4"/>
                </a:solidFill>
              </a:rPr>
              <a:t>Solo con tiempos más probables</a:t>
            </a:r>
            <a:endParaRPr lang="en-US" sz="1300" dirty="0"/>
          </a:p>
        </p:txBody>
      </p:sp>
      <p:sp>
        <p:nvSpPr>
          <p:cNvPr id="8" name="Text 5"/>
          <p:cNvSpPr txBox="1"/>
          <p:nvPr/>
        </p:nvSpPr>
        <p:spPr>
          <a:xfrm>
            <a:off x="6035040" y="1737360"/>
            <a:ext cx="2468880" cy="640080"/>
          </a:xfrm>
          <a:prstGeom prst="rect">
            <a:avLst/>
          </a:prstGeom>
          <a:noFill/>
          <a:ln/>
        </p:spPr>
        <p:txBody>
          <a:bodyPr wrap="square" lIns="0" tIns="0" rIns="0" bIns="0" rtlCol="0" anchor="t"/>
          <a:lstStyle/>
          <a:p>
            <a:pPr algn="ctr" indent="0" marL="0">
              <a:buNone/>
            </a:pPr>
            <a:r>
              <a:rPr lang="en-US" sz="4000" b="1" dirty="0">
                <a:solidFill>
                  <a:schemeClr val="accent4"/>
                </a:solidFill>
                <a:latin typeface="Cambria" pitchFamily="34" charset="0"/>
                <a:ea typeface="Cambria" pitchFamily="34" charset="-122"/>
                <a:cs typeface="Cambria" pitchFamily="34" charset="-120"/>
              </a:rPr>
              <a:t>17</a:t>
            </a:r>
            <a:endParaRPr lang="en-US" sz="4000" dirty="0"/>
          </a:p>
        </p:txBody>
      </p:sp>
      <p:sp>
        <p:nvSpPr>
          <p:cNvPr id="9" name="Text 6"/>
          <p:cNvSpPr txBox="1"/>
          <p:nvPr/>
        </p:nvSpPr>
        <p:spPr>
          <a:xfrm>
            <a:off x="6035040" y="2606040"/>
            <a:ext cx="2468880" cy="320040"/>
          </a:xfrm>
          <a:prstGeom prst="rect">
            <a:avLst/>
          </a:prstGeom>
          <a:noFill/>
          <a:ln/>
        </p:spPr>
        <p:txBody>
          <a:bodyPr wrap="square" lIns="0" tIns="0" rIns="0" bIns="0" rtlCol="0" anchor="t"/>
          <a:lstStyle/>
          <a:p>
            <a:pPr algn="ctr" indent="0" marL="0">
              <a:buNone/>
            </a:pPr>
            <a:r>
              <a:rPr lang="en-US" sz="1300" b="1" dirty="0">
                <a:solidFill>
                  <a:schemeClr val="tx2"/>
                </a:solidFill>
              </a:rPr>
              <a:t>Con PERT</a:t>
            </a:r>
            <a:endParaRPr lang="en-US" sz="1300" dirty="0"/>
          </a:p>
        </p:txBody>
      </p:sp>
      <p:sp>
        <p:nvSpPr>
          <p:cNvPr id="10" name="Text 7"/>
          <p:cNvSpPr txBox="1"/>
          <p:nvPr/>
        </p:nvSpPr>
        <p:spPr>
          <a:xfrm>
            <a:off x="6035040" y="2926080"/>
            <a:ext cx="2468880" cy="685800"/>
          </a:xfrm>
          <a:prstGeom prst="rect">
            <a:avLst/>
          </a:prstGeom>
          <a:noFill/>
          <a:ln/>
        </p:spPr>
        <p:txBody>
          <a:bodyPr wrap="square" lIns="0" tIns="0" rIns="0" bIns="0" rtlCol="0" anchor="t"/>
          <a:lstStyle/>
          <a:p>
            <a:pPr algn="ctr" indent="0" marL="0">
              <a:buNone/>
            </a:pPr>
            <a:r>
              <a:rPr lang="en-US" sz="3600" b="1" dirty="0">
                <a:solidFill>
                  <a:schemeClr val="accent3"/>
                </a:solidFill>
                <a:latin typeface="Cambria" pitchFamily="34" charset="0"/>
                <a:ea typeface="Cambria" pitchFamily="34" charset="-122"/>
                <a:cs typeface="Cambria" pitchFamily="34" charset="-120"/>
              </a:rPr>
              <a:t>20 semanas</a:t>
            </a:r>
            <a:endParaRPr lang="en-US" sz="3600" dirty="0"/>
          </a:p>
        </p:txBody>
      </p:sp>
      <p:sp>
        <p:nvSpPr>
          <p:cNvPr id="11" name="Text 8"/>
          <p:cNvSpPr txBox="1"/>
          <p:nvPr/>
        </p:nvSpPr>
        <p:spPr>
          <a:xfrm>
            <a:off x="6035040" y="3703320"/>
            <a:ext cx="2468880" cy="365760"/>
          </a:xfrm>
          <a:prstGeom prst="rect">
            <a:avLst/>
          </a:prstGeom>
          <a:noFill/>
          <a:ln/>
        </p:spPr>
        <p:txBody>
          <a:bodyPr wrap="square" lIns="0" tIns="0" rIns="0" bIns="0" rtlCol="0" anchor="t"/>
          <a:lstStyle/>
          <a:p>
            <a:pPr algn="ctr" indent="0" marL="0">
              <a:buNone/>
            </a:pPr>
            <a:r>
              <a:rPr lang="en-US" sz="1300" dirty="0">
                <a:solidFill>
                  <a:schemeClr val="tx1"/>
                </a:solidFill>
              </a:rPr>
              <a:t>σ del proyecto = √4 = 2</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¿Qué probabilidad hay de cumplir?</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Niguel Morris-Santiago · Kerzner (2017)</a:t>
            </a:r>
            <a:endParaRPr lang="en-US" sz="1100" dirty="0"/>
          </a:p>
        </p:txBody>
      </p:sp>
      <p:sp>
        <p:nvSpPr>
          <p:cNvPr id="4" name="Tarjeta"/>
          <p:cNvSpPr/>
          <p:nvPr/>
        </p:nvSpPr>
        <p:spPr>
          <a:xfrm>
            <a:off x="457200" y="1188720"/>
            <a:ext cx="8229600" cy="777240"/>
          </a:xfrm>
          <a:prstGeom prst="roundRect">
            <a:avLst>
              <a:gd name="adj" fmla="val 9412"/>
            </a:avLst>
          </a:prstGeom>
          <a:solidFill>
            <a:schemeClr val="bg2"/>
          </a:solidFill>
          <a:ln/>
        </p:spPr>
      </p:sp>
      <p:sp>
        <p:nvSpPr>
          <p:cNvPr id="5" name="Text 3"/>
          <p:cNvSpPr txBox="1"/>
          <p:nvPr/>
        </p:nvSpPr>
        <p:spPr>
          <a:xfrm>
            <a:off x="685800" y="1188720"/>
            <a:ext cx="7772400" cy="7772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Z = (T − Te) / σ</a:t>
            </a:r>
            <a:pPr indent="0" marL="0">
              <a:buNone/>
            </a:pPr>
            <a:r>
              <a:rPr lang="en-US" sz="1400" dirty="0">
                <a:solidFill>
                  <a:schemeClr val="accent4"/>
                </a:solidFill>
              </a:rPr>
              <a:t>     T = fecha deseada · Te = 20 semanas · σ = 2</a:t>
            </a:r>
            <a:endParaRPr lang="en-US" sz="1400" dirty="0"/>
          </a:p>
        </p:txBody>
      </p:sp>
      <p:sp>
        <p:nvSpPr>
          <p:cNvPr id="6" name="Tarjeta"/>
          <p:cNvSpPr/>
          <p:nvPr/>
        </p:nvSpPr>
        <p:spPr>
          <a:xfrm>
            <a:off x="457200" y="2194560"/>
            <a:ext cx="4023360" cy="2240280"/>
          </a:xfrm>
          <a:prstGeom prst="roundRect">
            <a:avLst>
              <a:gd name="adj" fmla="val 3265"/>
            </a:avLst>
          </a:prstGeom>
          <a:solidFill>
            <a:schemeClr val="bg2"/>
          </a:solidFill>
          <a:ln/>
        </p:spPr>
      </p:sp>
      <p:sp>
        <p:nvSpPr>
          <p:cNvPr id="7" name="Text 5"/>
          <p:cNvSpPr txBox="1"/>
          <p:nvPr/>
        </p:nvSpPr>
        <p:spPr>
          <a:xfrm>
            <a:off x="685800" y="2331720"/>
            <a:ext cx="3566160" cy="365760"/>
          </a:xfrm>
          <a:prstGeom prst="rect">
            <a:avLst/>
          </a:prstGeom>
          <a:noFill/>
          <a:ln/>
        </p:spPr>
        <p:txBody>
          <a:bodyPr wrap="square" lIns="0" tIns="0" rIns="0" bIns="0" rtlCol="0" anchor="t"/>
          <a:lstStyle/>
          <a:p>
            <a:pPr indent="0" marL="0">
              <a:buNone/>
            </a:pPr>
            <a:r>
              <a:rPr lang="en-US" sz="1700" b="1" dirty="0">
                <a:solidFill>
                  <a:schemeClr val="tx2"/>
                </a:solidFill>
              </a:rPr>
              <a:t>22 semanas</a:t>
            </a:r>
            <a:endParaRPr lang="en-US" sz="1700" dirty="0"/>
          </a:p>
        </p:txBody>
      </p:sp>
      <p:sp>
        <p:nvSpPr>
          <p:cNvPr id="8" name="Text 6"/>
          <p:cNvSpPr txBox="1"/>
          <p:nvPr/>
        </p:nvSpPr>
        <p:spPr>
          <a:xfrm>
            <a:off x="685800" y="2697480"/>
            <a:ext cx="3566160" cy="320040"/>
          </a:xfrm>
          <a:prstGeom prst="rect">
            <a:avLst/>
          </a:prstGeom>
          <a:noFill/>
          <a:ln/>
        </p:spPr>
        <p:txBody>
          <a:bodyPr wrap="square" lIns="0" tIns="0" rIns="0" bIns="0" rtlCol="0" anchor="t"/>
          <a:lstStyle/>
          <a:p>
            <a:pPr indent="0" marL="0">
              <a:buNone/>
            </a:pPr>
            <a:r>
              <a:rPr lang="en-US" sz="1300" dirty="0">
                <a:solidFill>
                  <a:schemeClr val="accent4"/>
                </a:solidFill>
              </a:rPr>
              <a:t>Z = (22 − 20) / 2 = 1.0</a:t>
            </a:r>
            <a:endParaRPr lang="en-US" sz="1300" dirty="0"/>
          </a:p>
        </p:txBody>
      </p:sp>
      <p:sp>
        <p:nvSpPr>
          <p:cNvPr id="9" name="Text 7"/>
          <p:cNvSpPr txBox="1"/>
          <p:nvPr/>
        </p:nvSpPr>
        <p:spPr>
          <a:xfrm>
            <a:off x="685800" y="3017520"/>
            <a:ext cx="201168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84 %</a:t>
            </a:r>
            <a:endParaRPr lang="en-US" sz="5400" dirty="0"/>
          </a:p>
        </p:txBody>
      </p:sp>
      <p:sp>
        <p:nvSpPr>
          <p:cNvPr id="10" name="Text 8"/>
          <p:cNvSpPr txBox="1"/>
          <p:nvPr/>
        </p:nvSpPr>
        <p:spPr>
          <a:xfrm>
            <a:off x="2651760" y="3154680"/>
            <a:ext cx="1645920" cy="685800"/>
          </a:xfrm>
          <a:prstGeom prst="rect">
            <a:avLst/>
          </a:prstGeom>
          <a:noFill/>
          <a:ln/>
        </p:spPr>
        <p:txBody>
          <a:bodyPr wrap="square" lIns="0" tIns="0" rIns="0" bIns="0" rtlCol="0" anchor="ctr"/>
          <a:lstStyle/>
          <a:p>
            <a:pPr indent="0" marL="0">
              <a:buNone/>
            </a:pPr>
            <a:r>
              <a:rPr lang="en-US" sz="1400" i="1" dirty="0">
                <a:solidFill>
                  <a:schemeClr val="tx1"/>
                </a:solidFill>
              </a:rPr>
              <a:t>Plazo realista</a:t>
            </a:r>
            <a:endParaRPr lang="en-US" sz="1400" dirty="0"/>
          </a:p>
        </p:txBody>
      </p:sp>
      <p:sp>
        <p:nvSpPr>
          <p:cNvPr id="11" name="Tarjeta"/>
          <p:cNvSpPr/>
          <p:nvPr/>
        </p:nvSpPr>
        <p:spPr>
          <a:xfrm>
            <a:off x="4663440" y="2194560"/>
            <a:ext cx="4023360" cy="2240280"/>
          </a:xfrm>
          <a:prstGeom prst="roundRect">
            <a:avLst>
              <a:gd name="adj" fmla="val 3265"/>
            </a:avLst>
          </a:prstGeom>
          <a:solidFill>
            <a:schemeClr val="bg2"/>
          </a:solidFill>
          <a:ln/>
        </p:spPr>
      </p:sp>
      <p:sp>
        <p:nvSpPr>
          <p:cNvPr id="12" name="Text 10"/>
          <p:cNvSpPr txBox="1"/>
          <p:nvPr/>
        </p:nvSpPr>
        <p:spPr>
          <a:xfrm>
            <a:off x="4892040" y="2331720"/>
            <a:ext cx="3566160" cy="365760"/>
          </a:xfrm>
          <a:prstGeom prst="rect">
            <a:avLst/>
          </a:prstGeom>
          <a:noFill/>
          <a:ln/>
        </p:spPr>
        <p:txBody>
          <a:bodyPr wrap="square" lIns="0" tIns="0" rIns="0" bIns="0" rtlCol="0" anchor="t"/>
          <a:lstStyle/>
          <a:p>
            <a:pPr indent="0" marL="0">
              <a:buNone/>
            </a:pPr>
            <a:r>
              <a:rPr lang="en-US" sz="1700" b="1" dirty="0">
                <a:solidFill>
                  <a:schemeClr val="tx2"/>
                </a:solidFill>
              </a:rPr>
              <a:t>18 semanas</a:t>
            </a:r>
            <a:endParaRPr lang="en-US" sz="1700" dirty="0"/>
          </a:p>
        </p:txBody>
      </p:sp>
      <p:sp>
        <p:nvSpPr>
          <p:cNvPr id="13" name="Text 11"/>
          <p:cNvSpPr txBox="1"/>
          <p:nvPr/>
        </p:nvSpPr>
        <p:spPr>
          <a:xfrm>
            <a:off x="4892040" y="2697480"/>
            <a:ext cx="3566160" cy="320040"/>
          </a:xfrm>
          <a:prstGeom prst="rect">
            <a:avLst/>
          </a:prstGeom>
          <a:noFill/>
          <a:ln/>
        </p:spPr>
        <p:txBody>
          <a:bodyPr wrap="square" lIns="0" tIns="0" rIns="0" bIns="0" rtlCol="0" anchor="t"/>
          <a:lstStyle/>
          <a:p>
            <a:pPr indent="0" marL="0">
              <a:buNone/>
            </a:pPr>
            <a:r>
              <a:rPr lang="en-US" sz="1300" dirty="0">
                <a:solidFill>
                  <a:schemeClr val="accent4"/>
                </a:solidFill>
              </a:rPr>
              <a:t>Z = (18 − 20) / 2 = −1.0</a:t>
            </a:r>
            <a:endParaRPr lang="en-US" sz="1300" dirty="0"/>
          </a:p>
        </p:txBody>
      </p:sp>
      <p:sp>
        <p:nvSpPr>
          <p:cNvPr id="14" name="Text 12"/>
          <p:cNvSpPr txBox="1"/>
          <p:nvPr/>
        </p:nvSpPr>
        <p:spPr>
          <a:xfrm>
            <a:off x="4892040" y="3017520"/>
            <a:ext cx="201168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16 %</a:t>
            </a:r>
            <a:endParaRPr lang="en-US" sz="5400" dirty="0"/>
          </a:p>
        </p:txBody>
      </p:sp>
      <p:sp>
        <p:nvSpPr>
          <p:cNvPr id="15" name="Text 13"/>
          <p:cNvSpPr txBox="1"/>
          <p:nvPr/>
        </p:nvSpPr>
        <p:spPr>
          <a:xfrm>
            <a:off x="6858000" y="3154680"/>
            <a:ext cx="1645920" cy="685800"/>
          </a:xfrm>
          <a:prstGeom prst="rect">
            <a:avLst/>
          </a:prstGeom>
          <a:noFill/>
          <a:ln/>
        </p:spPr>
        <p:txBody>
          <a:bodyPr wrap="square" lIns="0" tIns="0" rIns="0" bIns="0" rtlCol="0" anchor="ctr"/>
          <a:lstStyle/>
          <a:p>
            <a:pPr indent="0" marL="0">
              <a:buNone/>
            </a:pPr>
            <a:r>
              <a:rPr lang="en-US" sz="1400" i="1" dirty="0">
                <a:solidFill>
                  <a:schemeClr val="tx1"/>
                </a:solidFill>
              </a:rPr>
              <a:t>Poco probable de cumplir</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PERT como herramienta de control</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Niguel Morris-Santiago</a:t>
            </a:r>
            <a:endParaRPr lang="en-US" sz="1100" dirty="0"/>
          </a:p>
        </p:txBody>
      </p:sp>
      <p:sp>
        <p:nvSpPr>
          <p:cNvPr id="4" name="Tarjeta"/>
          <p:cNvSpPr/>
          <p:nvPr/>
        </p:nvSpPr>
        <p:spPr>
          <a:xfrm>
            <a:off x="457200" y="1188720"/>
            <a:ext cx="3657600" cy="914400"/>
          </a:xfrm>
          <a:prstGeom prst="roundRect">
            <a:avLst>
              <a:gd name="adj" fmla="val 8000"/>
            </a:avLst>
          </a:prstGeom>
          <a:solidFill>
            <a:schemeClr val="bg2"/>
          </a:solidFill>
          <a:ln/>
        </p:spPr>
      </p:sp>
      <p:sp>
        <p:nvSpPr>
          <p:cNvPr id="5" name="Text 3"/>
          <p:cNvSpPr txBox="1"/>
          <p:nvPr/>
        </p:nvSpPr>
        <p:spPr>
          <a:xfrm>
            <a:off x="640080" y="1188720"/>
            <a:ext cx="3291840" cy="914400"/>
          </a:xfrm>
          <a:prstGeom prst="rect">
            <a:avLst/>
          </a:prstGeom>
          <a:noFill/>
          <a:ln/>
        </p:spPr>
        <p:txBody>
          <a:bodyPr wrap="square" lIns="0" tIns="0" rIns="0" bIns="0" rtlCol="0" anchor="ctr"/>
          <a:lstStyle/>
          <a:p>
            <a:pPr indent="0" marL="0">
              <a:buNone/>
            </a:pPr>
            <a:r>
              <a:rPr lang="en-US" sz="1400" dirty="0">
                <a:solidFill>
                  <a:schemeClr val="tx1"/>
                </a:solidFill>
              </a:rPr>
              <a:t>Se atrasa una actividad fuera de la ruta crítica</a:t>
            </a:r>
            <a:endParaRPr lang="en-US" sz="1400" dirty="0"/>
          </a:p>
        </p:txBody>
      </p:sp>
      <p:sp>
        <p:nvSpPr>
          <p:cNvPr id="6" name="Flecha"/>
          <p:cNvSpPr/>
          <p:nvPr/>
        </p:nvSpPr>
        <p:spPr>
          <a:xfrm>
            <a:off x="4206240" y="1645920"/>
            <a:ext cx="502920" cy="0"/>
          </a:xfrm>
          <a:prstGeom prst="line">
            <a:avLst/>
          </a:prstGeom>
          <a:noFill/>
          <a:ln w="25400">
            <a:solidFill>
              <a:schemeClr val="accent4"/>
            </a:solidFill>
            <a:prstDash val="solid"/>
            <a:tailEnd type="triangle"/>
          </a:ln>
        </p:spPr>
      </p:sp>
      <p:sp>
        <p:nvSpPr>
          <p:cNvPr id="7" name="Tarjeta"/>
          <p:cNvSpPr/>
          <p:nvPr/>
        </p:nvSpPr>
        <p:spPr>
          <a:xfrm>
            <a:off x="4800600" y="1188720"/>
            <a:ext cx="3886200" cy="914400"/>
          </a:xfrm>
          <a:prstGeom prst="roundRect">
            <a:avLst>
              <a:gd name="adj" fmla="val 8000"/>
            </a:avLst>
          </a:prstGeom>
          <a:solidFill>
            <a:schemeClr val="accent1"/>
          </a:solidFill>
          <a:ln/>
        </p:spPr>
      </p:sp>
      <p:sp>
        <p:nvSpPr>
          <p:cNvPr id="8" name="Círculo de icono"/>
          <p:cNvSpPr/>
          <p:nvPr/>
        </p:nvSpPr>
        <p:spPr>
          <a:xfrm>
            <a:off x="4983480" y="1371600"/>
            <a:ext cx="548640" cy="548640"/>
          </a:xfrm>
          <a:prstGeom prst="ellipse">
            <a:avLst/>
          </a:prstGeom>
          <a:solidFill>
            <a:schemeClr val="bg1"/>
          </a:solidFill>
          <a:ln/>
        </p:spPr>
      </p:sp>
      <p:pic>
        <p:nvPicPr>
          <p:cNvPr id="9" name="Icono" descr="FaCheck">    </p:cNvPr>
          <p:cNvPicPr>
            <a:picLocks noChangeAspect="1"/>
          </p:cNvPicPr>
          <p:nvPr/>
        </p:nvPicPr>
        <p:blipFill>
          <a:blip r:embed="rId1"/>
          <a:stretch>
            <a:fillRect/>
          </a:stretch>
        </p:blipFill>
        <p:spPr>
          <a:xfrm>
            <a:off x="5104181" y="1492301"/>
            <a:ext cx="307238" cy="307238"/>
          </a:xfrm>
          <a:prstGeom prst="rect">
            <a:avLst/>
          </a:prstGeom>
        </p:spPr>
      </p:pic>
      <p:sp>
        <p:nvSpPr>
          <p:cNvPr id="10" name="Text 7"/>
          <p:cNvSpPr txBox="1"/>
          <p:nvPr/>
        </p:nvSpPr>
        <p:spPr>
          <a:xfrm>
            <a:off x="5669280" y="1188720"/>
            <a:ext cx="2880360" cy="914400"/>
          </a:xfrm>
          <a:prstGeom prst="rect">
            <a:avLst/>
          </a:prstGeom>
          <a:noFill/>
          <a:ln/>
        </p:spPr>
        <p:txBody>
          <a:bodyPr wrap="square" lIns="0" tIns="0" rIns="0" bIns="0" rtlCol="0" anchor="ctr"/>
          <a:lstStyle/>
          <a:p>
            <a:pPr indent="0" marL="0">
              <a:buNone/>
            </a:pPr>
            <a:r>
              <a:rPr lang="en-US" sz="1500" b="1" dirty="0">
                <a:solidFill>
                  <a:schemeClr val="bg1"/>
                </a:solidFill>
              </a:rPr>
              <a:t>La holgura absorbe la demora</a:t>
            </a:r>
            <a:endParaRPr lang="en-US" sz="1500" dirty="0"/>
          </a:p>
        </p:txBody>
      </p:sp>
      <p:sp>
        <p:nvSpPr>
          <p:cNvPr id="11" name="Tarjeta"/>
          <p:cNvSpPr/>
          <p:nvPr/>
        </p:nvSpPr>
        <p:spPr>
          <a:xfrm>
            <a:off x="457200" y="2286000"/>
            <a:ext cx="3657600" cy="914400"/>
          </a:xfrm>
          <a:prstGeom prst="roundRect">
            <a:avLst>
              <a:gd name="adj" fmla="val 8000"/>
            </a:avLst>
          </a:prstGeom>
          <a:solidFill>
            <a:schemeClr val="bg2"/>
          </a:solidFill>
          <a:ln/>
        </p:spPr>
      </p:sp>
      <p:sp>
        <p:nvSpPr>
          <p:cNvPr id="12" name="Text 9"/>
          <p:cNvSpPr txBox="1"/>
          <p:nvPr/>
        </p:nvSpPr>
        <p:spPr>
          <a:xfrm>
            <a:off x="640080" y="2286000"/>
            <a:ext cx="3291840" cy="914400"/>
          </a:xfrm>
          <a:prstGeom prst="rect">
            <a:avLst/>
          </a:prstGeom>
          <a:noFill/>
          <a:ln/>
        </p:spPr>
        <p:txBody>
          <a:bodyPr wrap="square" lIns="0" tIns="0" rIns="0" bIns="0" rtlCol="0" anchor="ctr"/>
          <a:lstStyle/>
          <a:p>
            <a:pPr indent="0" marL="0">
              <a:buNone/>
            </a:pPr>
            <a:r>
              <a:rPr lang="en-US" sz="1400" dirty="0">
                <a:solidFill>
                  <a:schemeClr val="tx1"/>
                </a:solidFill>
              </a:rPr>
              <a:t>Se atrasa una actividad de la ruta crítica</a:t>
            </a:r>
            <a:endParaRPr lang="en-US" sz="1400" dirty="0"/>
          </a:p>
        </p:txBody>
      </p:sp>
      <p:sp>
        <p:nvSpPr>
          <p:cNvPr id="13" name="Flecha"/>
          <p:cNvSpPr/>
          <p:nvPr/>
        </p:nvSpPr>
        <p:spPr>
          <a:xfrm>
            <a:off x="4206240" y="2743200"/>
            <a:ext cx="502920" cy="0"/>
          </a:xfrm>
          <a:prstGeom prst="line">
            <a:avLst/>
          </a:prstGeom>
          <a:noFill/>
          <a:ln w="25400">
            <a:solidFill>
              <a:schemeClr val="accent4"/>
            </a:solidFill>
            <a:prstDash val="solid"/>
            <a:tailEnd type="triangle"/>
          </a:ln>
        </p:spPr>
      </p:sp>
      <p:sp>
        <p:nvSpPr>
          <p:cNvPr id="14" name="Tarjeta"/>
          <p:cNvSpPr/>
          <p:nvPr/>
        </p:nvSpPr>
        <p:spPr>
          <a:xfrm>
            <a:off x="4800600" y="2286000"/>
            <a:ext cx="3886200" cy="914400"/>
          </a:xfrm>
          <a:prstGeom prst="roundRect">
            <a:avLst>
              <a:gd name="adj" fmla="val 8000"/>
            </a:avLst>
          </a:prstGeom>
          <a:solidFill>
            <a:schemeClr val="accent3"/>
          </a:solidFill>
          <a:ln/>
        </p:spPr>
      </p:sp>
      <p:sp>
        <p:nvSpPr>
          <p:cNvPr id="15" name="Círculo de icono"/>
          <p:cNvSpPr/>
          <p:nvPr/>
        </p:nvSpPr>
        <p:spPr>
          <a:xfrm>
            <a:off x="4983480" y="2468880"/>
            <a:ext cx="548640" cy="548640"/>
          </a:xfrm>
          <a:prstGeom prst="ellipse">
            <a:avLst/>
          </a:prstGeom>
          <a:solidFill>
            <a:schemeClr val="bg1"/>
          </a:solidFill>
          <a:ln/>
        </p:spPr>
      </p:sp>
      <p:pic>
        <p:nvPicPr>
          <p:cNvPr id="16" name="Icono" descr="FaTriangleExclamation">    </p:cNvPr>
          <p:cNvPicPr>
            <a:picLocks noChangeAspect="1"/>
          </p:cNvPicPr>
          <p:nvPr/>
        </p:nvPicPr>
        <p:blipFill>
          <a:blip r:embed="rId2"/>
          <a:stretch>
            <a:fillRect/>
          </a:stretch>
        </p:blipFill>
        <p:spPr>
          <a:xfrm>
            <a:off x="5104181" y="2589581"/>
            <a:ext cx="307238" cy="307238"/>
          </a:xfrm>
          <a:prstGeom prst="rect">
            <a:avLst/>
          </a:prstGeom>
        </p:spPr>
      </p:pic>
      <p:sp>
        <p:nvSpPr>
          <p:cNvPr id="17" name="Text 13"/>
          <p:cNvSpPr txBox="1"/>
          <p:nvPr/>
        </p:nvSpPr>
        <p:spPr>
          <a:xfrm>
            <a:off x="5669280" y="2286000"/>
            <a:ext cx="2880360" cy="914400"/>
          </a:xfrm>
          <a:prstGeom prst="rect">
            <a:avLst/>
          </a:prstGeom>
          <a:noFill/>
          <a:ln/>
        </p:spPr>
        <p:txBody>
          <a:bodyPr wrap="square" lIns="0" tIns="0" rIns="0" bIns="0" rtlCol="0" anchor="ctr"/>
          <a:lstStyle/>
          <a:p>
            <a:pPr indent="0" marL="0">
              <a:buNone/>
            </a:pPr>
            <a:r>
              <a:rPr lang="en-US" sz="1500" b="1" dirty="0">
                <a:solidFill>
                  <a:schemeClr val="bg1"/>
                </a:solidFill>
              </a:rPr>
              <a:t>Se mueve la fecha de entrega</a:t>
            </a:r>
            <a:endParaRPr lang="en-US" sz="1500" dirty="0"/>
          </a:p>
        </p:txBody>
      </p:sp>
      <p:sp>
        <p:nvSpPr>
          <p:cNvPr id="18" name="Círculo de icono"/>
          <p:cNvSpPr/>
          <p:nvPr/>
        </p:nvSpPr>
        <p:spPr>
          <a:xfrm>
            <a:off x="457200" y="3611880"/>
            <a:ext cx="548640" cy="548640"/>
          </a:xfrm>
          <a:prstGeom prst="ellipse">
            <a:avLst/>
          </a:prstGeom>
          <a:solidFill>
            <a:schemeClr val="accent2"/>
          </a:solidFill>
          <a:ln/>
        </p:spPr>
      </p:sp>
      <p:pic>
        <p:nvPicPr>
          <p:cNvPr id="19" name="Icono" descr="FaEye">    </p:cNvPr>
          <p:cNvPicPr>
            <a:picLocks noChangeAspect="1"/>
          </p:cNvPicPr>
          <p:nvPr/>
        </p:nvPicPr>
        <p:blipFill>
          <a:blip r:embed="rId3"/>
          <a:stretch>
            <a:fillRect/>
          </a:stretch>
        </p:blipFill>
        <p:spPr>
          <a:xfrm>
            <a:off x="577901" y="3732581"/>
            <a:ext cx="307238" cy="307238"/>
          </a:xfrm>
          <a:prstGeom prst="rect">
            <a:avLst/>
          </a:prstGeom>
        </p:spPr>
      </p:pic>
      <p:sp>
        <p:nvSpPr>
          <p:cNvPr id="20" name="Text 15"/>
          <p:cNvSpPr txBox="1"/>
          <p:nvPr/>
        </p:nvSpPr>
        <p:spPr>
          <a:xfrm>
            <a:off x="1143000" y="3611880"/>
            <a:ext cx="1965960" cy="548640"/>
          </a:xfrm>
          <a:prstGeom prst="rect">
            <a:avLst/>
          </a:prstGeom>
          <a:noFill/>
          <a:ln/>
        </p:spPr>
        <p:txBody>
          <a:bodyPr wrap="square" lIns="0" tIns="0" rIns="0" bIns="0" rtlCol="0" anchor="ctr"/>
          <a:lstStyle/>
          <a:p>
            <a:pPr indent="0" marL="0">
              <a:buNone/>
            </a:pPr>
            <a:r>
              <a:rPr lang="en-US" sz="1300" b="1" dirty="0">
                <a:solidFill>
                  <a:schemeClr val="tx2"/>
                </a:solidFill>
              </a:rPr>
              <a:t>Administración por excepción</a:t>
            </a:r>
            <a:endParaRPr lang="en-US" sz="1300" dirty="0"/>
          </a:p>
        </p:txBody>
      </p:sp>
      <p:sp>
        <p:nvSpPr>
          <p:cNvPr id="21" name="Círculo de icono"/>
          <p:cNvSpPr/>
          <p:nvPr/>
        </p:nvSpPr>
        <p:spPr>
          <a:xfrm>
            <a:off x="3246120" y="3611880"/>
            <a:ext cx="548640" cy="548640"/>
          </a:xfrm>
          <a:prstGeom prst="ellipse">
            <a:avLst/>
          </a:prstGeom>
          <a:solidFill>
            <a:schemeClr val="accent2"/>
          </a:solidFill>
          <a:ln/>
        </p:spPr>
      </p:sp>
      <p:pic>
        <p:nvPicPr>
          <p:cNvPr id="22" name="Icono" descr="FaArrowsRotate">    </p:cNvPr>
          <p:cNvPicPr>
            <a:picLocks noChangeAspect="1"/>
          </p:cNvPicPr>
          <p:nvPr/>
        </p:nvPicPr>
        <p:blipFill>
          <a:blip r:embed="rId4"/>
          <a:stretch>
            <a:fillRect/>
          </a:stretch>
        </p:blipFill>
        <p:spPr>
          <a:xfrm>
            <a:off x="3366821" y="3732581"/>
            <a:ext cx="307238" cy="307238"/>
          </a:xfrm>
          <a:prstGeom prst="rect">
            <a:avLst/>
          </a:prstGeom>
        </p:spPr>
      </p:pic>
      <p:sp>
        <p:nvSpPr>
          <p:cNvPr id="23" name="Text 17"/>
          <p:cNvSpPr txBox="1"/>
          <p:nvPr/>
        </p:nvSpPr>
        <p:spPr>
          <a:xfrm>
            <a:off x="3931920" y="3611880"/>
            <a:ext cx="1965960" cy="548640"/>
          </a:xfrm>
          <a:prstGeom prst="rect">
            <a:avLst/>
          </a:prstGeom>
          <a:noFill/>
          <a:ln/>
        </p:spPr>
        <p:txBody>
          <a:bodyPr wrap="square" lIns="0" tIns="0" rIns="0" bIns="0" rtlCol="0" anchor="ctr"/>
          <a:lstStyle/>
          <a:p>
            <a:pPr indent="0" marL="0">
              <a:buNone/>
            </a:pPr>
            <a:r>
              <a:rPr lang="en-US" sz="1300" b="1" dirty="0">
                <a:solidFill>
                  <a:schemeClr val="tx2"/>
                </a:solidFill>
              </a:rPr>
              <a:t>Se actualiza con tiempos reales</a:t>
            </a:r>
            <a:endParaRPr lang="en-US" sz="1300" dirty="0"/>
          </a:p>
        </p:txBody>
      </p:sp>
      <p:sp>
        <p:nvSpPr>
          <p:cNvPr id="24" name="Círculo de icono"/>
          <p:cNvSpPr/>
          <p:nvPr/>
        </p:nvSpPr>
        <p:spPr>
          <a:xfrm>
            <a:off x="6035040" y="3611880"/>
            <a:ext cx="548640" cy="548640"/>
          </a:xfrm>
          <a:prstGeom prst="ellipse">
            <a:avLst/>
          </a:prstGeom>
          <a:solidFill>
            <a:schemeClr val="accent2"/>
          </a:solidFill>
          <a:ln/>
        </p:spPr>
      </p:sp>
      <p:pic>
        <p:nvPicPr>
          <p:cNvPr id="25" name="Icono" descr="FaGaugeHigh">    </p:cNvPr>
          <p:cNvPicPr>
            <a:picLocks noChangeAspect="1"/>
          </p:cNvPicPr>
          <p:nvPr/>
        </p:nvPicPr>
        <p:blipFill>
          <a:blip r:embed="rId5"/>
          <a:stretch>
            <a:fillRect/>
          </a:stretch>
        </p:blipFill>
        <p:spPr>
          <a:xfrm>
            <a:off x="6155741" y="3732581"/>
            <a:ext cx="307238" cy="307238"/>
          </a:xfrm>
          <a:prstGeom prst="rect">
            <a:avLst/>
          </a:prstGeom>
        </p:spPr>
      </p:pic>
      <p:sp>
        <p:nvSpPr>
          <p:cNvPr id="26" name="Text 19"/>
          <p:cNvSpPr txBox="1"/>
          <p:nvPr/>
        </p:nvSpPr>
        <p:spPr>
          <a:xfrm>
            <a:off x="6720840" y="3611880"/>
            <a:ext cx="1965960" cy="548640"/>
          </a:xfrm>
          <a:prstGeom prst="rect">
            <a:avLst/>
          </a:prstGeom>
          <a:noFill/>
          <a:ln/>
        </p:spPr>
        <p:txBody>
          <a:bodyPr wrap="square" lIns="0" tIns="0" rIns="0" bIns="0" rtlCol="0" anchor="ctr"/>
          <a:lstStyle/>
          <a:p>
            <a:pPr indent="0" marL="0">
              <a:buNone/>
            </a:pPr>
            <a:r>
              <a:rPr lang="en-US" sz="1300" b="1" dirty="0">
                <a:solidFill>
                  <a:schemeClr val="tx2"/>
                </a:solidFill>
              </a:rPr>
              <a:t>Microsoft Project lo automatiza</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PERT: ventajas y limitaciones</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Niguel Morris-Santiago · Kerzner (2017)</a:t>
            </a:r>
            <a:endParaRPr lang="en-US" sz="1100" dirty="0"/>
          </a:p>
        </p:txBody>
      </p:sp>
      <p:sp>
        <p:nvSpPr>
          <p:cNvPr id="4" name="Tarjeta"/>
          <p:cNvSpPr/>
          <p:nvPr/>
        </p:nvSpPr>
        <p:spPr>
          <a:xfrm>
            <a:off x="457200" y="1188720"/>
            <a:ext cx="4023360" cy="3246120"/>
          </a:xfrm>
          <a:prstGeom prst="roundRect">
            <a:avLst>
              <a:gd name="adj" fmla="val 2254"/>
            </a:avLst>
          </a:prstGeom>
          <a:solidFill>
            <a:schemeClr val="bg2"/>
          </a:solidFill>
          <a:ln/>
        </p:spPr>
      </p:sp>
      <p:sp>
        <p:nvSpPr>
          <p:cNvPr id="5" name="Círculo de icono"/>
          <p:cNvSpPr/>
          <p:nvPr/>
        </p:nvSpPr>
        <p:spPr>
          <a:xfrm>
            <a:off x="685800" y="1371600"/>
            <a:ext cx="594360" cy="594360"/>
          </a:xfrm>
          <a:prstGeom prst="ellipse">
            <a:avLst/>
          </a:prstGeom>
          <a:solidFill>
            <a:schemeClr val="accent1"/>
          </a:solidFill>
          <a:ln/>
        </p:spPr>
      </p:sp>
      <p:pic>
        <p:nvPicPr>
          <p:cNvPr id="6" name="Icono" descr="FaCheck">    </p:cNvPr>
          <p:cNvPicPr>
            <a:picLocks noChangeAspect="1"/>
          </p:cNvPicPr>
          <p:nvPr/>
        </p:nvPicPr>
        <p:blipFill>
          <a:blip r:embed="rId1"/>
          <a:stretch>
            <a:fillRect/>
          </a:stretch>
        </p:blipFill>
        <p:spPr>
          <a:xfrm>
            <a:off x="816559" y="1502359"/>
            <a:ext cx="332842" cy="332842"/>
          </a:xfrm>
          <a:prstGeom prst="rect">
            <a:avLst/>
          </a:prstGeom>
        </p:spPr>
      </p:pic>
      <p:sp>
        <p:nvSpPr>
          <p:cNvPr id="7" name="Text 4"/>
          <p:cNvSpPr txBox="1"/>
          <p:nvPr/>
        </p:nvSpPr>
        <p:spPr>
          <a:xfrm>
            <a:off x="1417320" y="1463040"/>
            <a:ext cx="2743200" cy="411480"/>
          </a:xfrm>
          <a:prstGeom prst="rect">
            <a:avLst/>
          </a:prstGeom>
          <a:noFill/>
          <a:ln/>
        </p:spPr>
        <p:txBody>
          <a:bodyPr wrap="square" lIns="0" tIns="0" rIns="0" bIns="0" rtlCol="0" anchor="t"/>
          <a:lstStyle/>
          <a:p>
            <a:pPr indent="0" marL="0">
              <a:buNone/>
            </a:pPr>
            <a:r>
              <a:rPr lang="en-US" sz="1800" b="1" dirty="0">
                <a:solidFill>
                  <a:schemeClr val="tx2"/>
                </a:solidFill>
              </a:rPr>
              <a:t>Ventajas</a:t>
            </a:r>
            <a:endParaRPr lang="en-US" sz="1800" dirty="0"/>
          </a:p>
        </p:txBody>
      </p:sp>
      <p:sp>
        <p:nvSpPr>
          <p:cNvPr id="8" name="Text 5"/>
          <p:cNvSpPr txBox="1"/>
          <p:nvPr/>
        </p:nvSpPr>
        <p:spPr>
          <a:xfrm>
            <a:off x="731520" y="214884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Obliga a planificar con detalle</a:t>
            </a:r>
            <a:endParaRPr lang="en-US" sz="1400" dirty="0"/>
          </a:p>
          <a:p>
            <a:pPr marL="342900" indent="-342900">
              <a:spcAft>
                <a:spcPts val="600"/>
              </a:spcAft>
              <a:buSzPct val="100000"/>
              <a:buChar char="•"/>
            </a:pPr>
            <a:r>
              <a:rPr lang="en-US" sz="1400" dirty="0">
                <a:solidFill>
                  <a:schemeClr val="tx1"/>
                </a:solidFill>
              </a:rPr>
              <a:t>Hace visibles las dependencias</a:t>
            </a:r>
            <a:endParaRPr lang="en-US" sz="1400" dirty="0"/>
          </a:p>
          <a:p>
            <a:pPr marL="342900" indent="-342900">
              <a:spcAft>
                <a:spcPts val="600"/>
              </a:spcAft>
              <a:buSzPct val="100000"/>
              <a:buChar char="•"/>
            </a:pPr>
            <a:r>
              <a:rPr lang="en-US" sz="1400" dirty="0">
                <a:solidFill>
                  <a:schemeClr val="tx1"/>
                </a:solidFill>
              </a:rPr>
              <a:t>Reconoce la incertidumbre</a:t>
            </a:r>
            <a:endParaRPr lang="en-US" sz="1400" dirty="0"/>
          </a:p>
          <a:p>
            <a:pPr marL="342900" indent="-342900">
              <a:spcAft>
                <a:spcPts val="600"/>
              </a:spcAft>
              <a:buSzPct val="100000"/>
              <a:buChar char="•"/>
            </a:pPr>
            <a:r>
              <a:rPr lang="en-US" sz="1400" dirty="0">
                <a:solidFill>
                  <a:schemeClr val="tx1"/>
                </a:solidFill>
              </a:rPr>
              <a:t>Mejora la comunicación del equipo</a:t>
            </a:r>
            <a:endParaRPr lang="en-US" sz="1400" dirty="0"/>
          </a:p>
          <a:p>
            <a:pPr marL="342900" indent="-342900">
              <a:spcAft>
                <a:spcPts val="600"/>
              </a:spcAft>
              <a:buSzPct val="100000"/>
              <a:buChar char="•"/>
            </a:pPr>
            <a:r>
              <a:rPr lang="en-US" sz="1400" dirty="0">
                <a:solidFill>
                  <a:schemeClr val="tx1"/>
                </a:solidFill>
              </a:rPr>
              <a:t>Da una base cuantitativa para decidir</a:t>
            </a:r>
            <a:endParaRPr lang="en-US" sz="1400" dirty="0"/>
          </a:p>
        </p:txBody>
      </p:sp>
      <p:sp>
        <p:nvSpPr>
          <p:cNvPr id="9" name="Tarjeta"/>
          <p:cNvSpPr/>
          <p:nvPr/>
        </p:nvSpPr>
        <p:spPr>
          <a:xfrm>
            <a:off x="4663440" y="1188720"/>
            <a:ext cx="4023360" cy="3246120"/>
          </a:xfrm>
          <a:prstGeom prst="roundRect">
            <a:avLst>
              <a:gd name="adj" fmla="val 2254"/>
            </a:avLst>
          </a:prstGeom>
          <a:solidFill>
            <a:schemeClr val="bg2"/>
          </a:solidFill>
          <a:ln/>
        </p:spPr>
      </p:sp>
      <p:sp>
        <p:nvSpPr>
          <p:cNvPr id="10" name="Círculo de icono"/>
          <p:cNvSpPr/>
          <p:nvPr/>
        </p:nvSpPr>
        <p:spPr>
          <a:xfrm>
            <a:off x="4892040" y="1371600"/>
            <a:ext cx="594360" cy="594360"/>
          </a:xfrm>
          <a:prstGeom prst="ellipse">
            <a:avLst/>
          </a:prstGeom>
          <a:solidFill>
            <a:schemeClr val="accent3"/>
          </a:solidFill>
          <a:ln/>
        </p:spPr>
      </p:sp>
      <p:pic>
        <p:nvPicPr>
          <p:cNvPr id="11" name="Icono" descr="FaXmark">    </p:cNvPr>
          <p:cNvPicPr>
            <a:picLocks noChangeAspect="1"/>
          </p:cNvPicPr>
          <p:nvPr/>
        </p:nvPicPr>
        <p:blipFill>
          <a:blip r:embed="rId2"/>
          <a:stretch>
            <a:fillRect/>
          </a:stretch>
        </p:blipFill>
        <p:spPr>
          <a:xfrm>
            <a:off x="5022799" y="1502359"/>
            <a:ext cx="332842" cy="332842"/>
          </a:xfrm>
          <a:prstGeom prst="rect">
            <a:avLst/>
          </a:prstGeom>
        </p:spPr>
      </p:pic>
      <p:sp>
        <p:nvSpPr>
          <p:cNvPr id="12" name="Text 8"/>
          <p:cNvSpPr txBox="1"/>
          <p:nvPr/>
        </p:nvSpPr>
        <p:spPr>
          <a:xfrm>
            <a:off x="5623560" y="1463040"/>
            <a:ext cx="2743200" cy="411480"/>
          </a:xfrm>
          <a:prstGeom prst="rect">
            <a:avLst/>
          </a:prstGeom>
          <a:noFill/>
          <a:ln/>
        </p:spPr>
        <p:txBody>
          <a:bodyPr wrap="square" lIns="0" tIns="0" rIns="0" bIns="0" rtlCol="0" anchor="t"/>
          <a:lstStyle/>
          <a:p>
            <a:pPr indent="0" marL="0">
              <a:buNone/>
            </a:pPr>
            <a:r>
              <a:rPr lang="en-US" sz="1800" b="1" dirty="0">
                <a:solidFill>
                  <a:schemeClr val="tx2"/>
                </a:solidFill>
              </a:rPr>
              <a:t>Limitaciones</a:t>
            </a:r>
            <a:endParaRPr lang="en-US" sz="1800" dirty="0"/>
          </a:p>
        </p:txBody>
      </p:sp>
      <p:sp>
        <p:nvSpPr>
          <p:cNvPr id="13" name="Text 9"/>
          <p:cNvSpPr txBox="1"/>
          <p:nvPr/>
        </p:nvSpPr>
        <p:spPr>
          <a:xfrm>
            <a:off x="4937760" y="2148840"/>
            <a:ext cx="3566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Estimados subjetivos u optimistas</a:t>
            </a:r>
            <a:endParaRPr lang="en-US" sz="1400" dirty="0"/>
          </a:p>
          <a:p>
            <a:pPr marL="342900" indent="-342900">
              <a:spcAft>
                <a:spcPts val="600"/>
              </a:spcAft>
              <a:buSzPct val="100000"/>
              <a:buChar char="•"/>
            </a:pPr>
            <a:r>
              <a:rPr lang="en-US" sz="1400" dirty="0">
                <a:solidFill>
                  <a:schemeClr val="tx1"/>
                </a:solidFill>
              </a:rPr>
              <a:t>Supone actividades independientes</a:t>
            </a:r>
            <a:endParaRPr lang="en-US" sz="1400" dirty="0"/>
          </a:p>
          <a:p>
            <a:pPr marL="342900" indent="-342900">
              <a:spcAft>
                <a:spcPts val="600"/>
              </a:spcAft>
              <a:buSzPct val="100000"/>
              <a:buChar char="•"/>
            </a:pPr>
            <a:r>
              <a:rPr lang="en-US" sz="1400" dirty="0">
                <a:solidFill>
                  <a:schemeClr val="tx1"/>
                </a:solidFill>
              </a:rPr>
              <a:t>Puede subestimar rutas casi críticas</a:t>
            </a:r>
            <a:endParaRPr lang="en-US" sz="1400" dirty="0"/>
          </a:p>
          <a:p>
            <a:pPr marL="342900" indent="-342900">
              <a:spcAft>
                <a:spcPts val="600"/>
              </a:spcAft>
              <a:buSzPct val="100000"/>
              <a:buChar char="•"/>
            </a:pPr>
            <a:r>
              <a:rPr lang="en-US" sz="1400" dirty="0">
                <a:solidFill>
                  <a:schemeClr val="tx1"/>
                </a:solidFill>
              </a:rPr>
              <a:t>Mantener la red exige tiempo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Ruta crítica (CPM): un solo estimado</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Suheil Collazo · Kelley y Walker (1959)</a:t>
            </a:r>
            <a:endParaRPr lang="en-US" sz="1100" dirty="0"/>
          </a:p>
        </p:txBody>
      </p:sp>
      <p:sp>
        <p:nvSpPr>
          <p:cNvPr id="4" name="Text 2"/>
          <p:cNvSpPr txBox="1"/>
          <p:nvPr/>
        </p:nvSpPr>
        <p:spPr>
          <a:xfrm>
            <a:off x="457200" y="1097280"/>
            <a:ext cx="8229600" cy="594360"/>
          </a:xfrm>
          <a:prstGeom prst="rect">
            <a:avLst/>
          </a:prstGeom>
          <a:noFill/>
          <a:ln/>
        </p:spPr>
        <p:txBody>
          <a:bodyPr wrap="square" lIns="0" tIns="0" rIns="0" bIns="0" rtlCol="0" anchor="t"/>
          <a:lstStyle/>
          <a:p>
            <a:pPr indent="0" marL="0">
              <a:buNone/>
            </a:pPr>
            <a:r>
              <a:rPr lang="en-US" sz="1500" dirty="0">
                <a:solidFill>
                  <a:schemeClr val="tx1"/>
                </a:solidFill>
              </a:rPr>
              <a:t>Desarrollado entre 1956 y 1957 por DuPont con Remington Rand para planificar la construcción y el mantenimiento de plantas químicas.</a:t>
            </a:r>
            <a:endParaRPr lang="en-US" sz="1500" dirty="0"/>
          </a:p>
        </p:txBody>
      </p:sp>
      <p:graphicFrame>
        <p:nvGraphicFramePr>
          <p:cNvPr id="20" name="Tabla PERT vs CPM"/>
          <p:cNvGraphicFramePr>
            <a:graphicFrameLocks noGrp="1"/>
          </p:cNvGraphicFramePr>
          <p:nvPr>
            <p:extLst>
              <p:ext uri="{D42A27DB-BD31-4B8C-83A1-F6EECF244321}">
                <p14:modId xmlns:p14="http://schemas.microsoft.com/office/powerpoint/2010/main" val="1579011935"/>
              </p:ext>
            </p:extLst>
          </p:nvPr>
        </p:nvGraphicFramePr>
        <p:xfrm>
          <a:off x="457200" y="1874520"/>
          <a:ext cx="8229600" cy="914400"/>
        </p:xfrm>
        <a:graphic>
          <a:graphicData uri="http://schemas.openxmlformats.org/drawingml/2006/table">
            <a:tbl>
              <a:tblPr/>
              <a:tblGrid>
                <a:gridCol w="2011680"/>
                <a:gridCol w="3108960"/>
                <a:gridCol w="3108960"/>
              </a:tblGrid>
              <a:tr h="41148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PERT</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CPM</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solidFill>
                      <a:schemeClr val="tx2"/>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Estimados de tiempo</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Tres (a, m, b)</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Uno</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Origen</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Marina de EE. UU., 1958</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DuPont y Remington Rand, 1956–1957</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r h="68580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Ideal para</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Proyectos con alta incertidumbre</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Proyectos con experiencia previa y duraciones conocidas</a:t>
                      </a:r>
                      <a:endParaRPr lang="en-US" sz="1400" dirty="0">
                        <a:latin typeface="Calibri" charset="0"/>
                        <a:ea typeface="Calibri" charset="0"/>
                        <a:cs typeface="Calibri" charset="0"/>
                      </a:endParaRPr>
                    </a:p>
                  </a:txBody>
                  <a:tcPr marL="91440" marR="91440" marT="45720" marB="45720" anchor="ctr">
                    <a:lnL w="9525" cap="flat" cmpd="sng" algn="ctr">
                      <a:solidFill>
                        <a:srgbClr val="A9C9C3"/>
                      </a:solidFill>
                      <a:prstDash val="solid"/>
                      <a:round/>
                      <a:headEnd type="none" w="med" len="med"/>
                      <a:tailEnd type="none" w="med" len="med"/>
                    </a:lnL>
                    <a:lnR w="9525" cap="flat" cmpd="sng" algn="ctr">
                      <a:solidFill>
                        <a:srgbClr val="A9C9C3"/>
                      </a:solidFill>
                      <a:prstDash val="solid"/>
                      <a:round/>
                      <a:headEnd type="none" w="med" len="med"/>
                      <a:tailEnd type="none" w="med" len="med"/>
                    </a:lnR>
                    <a:lnT w="9525" cap="flat" cmpd="sng" algn="ctr">
                      <a:solidFill>
                        <a:srgbClr val="A9C9C3"/>
                      </a:solidFill>
                      <a:prstDash val="solid"/>
                      <a:round/>
                      <a:headEnd type="none" w="med" len="med"/>
                      <a:tailEnd type="none" w="med" len="med"/>
                    </a:lnT>
                    <a:lnB w="9525" cap="flat" cmpd="sng" algn="ctr">
                      <a:solidFill>
                        <a:srgbClr val="A9C9C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Encontrar la ruta crítica</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Suheil Collazo · Datos hipotéticos; PMI (2021)</a:t>
            </a:r>
            <a:endParaRPr lang="en-US" sz="1100" dirty="0"/>
          </a:p>
        </p:txBody>
      </p:sp>
      <p:sp>
        <p:nvSpPr>
          <p:cNvPr id="4" name="Precedencia"/>
          <p:cNvSpPr/>
          <p:nvPr/>
        </p:nvSpPr>
        <p:spPr>
          <a:xfrm flipV="1">
            <a:off x="1205139" y="1756539"/>
            <a:ext cx="973002" cy="556001"/>
          </a:xfrm>
          <a:prstGeom prst="line">
            <a:avLst/>
          </a:prstGeom>
          <a:noFill/>
          <a:ln w="38100">
            <a:solidFill>
              <a:schemeClr val="accent3"/>
            </a:solidFill>
            <a:prstDash val="solid"/>
            <a:tailEnd type="triangle"/>
          </a:ln>
        </p:spPr>
      </p:sp>
      <p:sp>
        <p:nvSpPr>
          <p:cNvPr id="5" name="Precedencia"/>
          <p:cNvSpPr/>
          <p:nvPr/>
        </p:nvSpPr>
        <p:spPr>
          <a:xfrm>
            <a:off x="2852928" y="1577340"/>
            <a:ext cx="877824" cy="0"/>
          </a:xfrm>
          <a:prstGeom prst="line">
            <a:avLst/>
          </a:prstGeom>
          <a:noFill/>
          <a:ln w="38100">
            <a:solidFill>
              <a:schemeClr val="accent3"/>
            </a:solidFill>
            <a:prstDash val="solid"/>
            <a:tailEnd type="triangle"/>
          </a:ln>
        </p:spPr>
      </p:sp>
      <p:sp>
        <p:nvSpPr>
          <p:cNvPr id="6" name="Precedencia"/>
          <p:cNvSpPr/>
          <p:nvPr/>
        </p:nvSpPr>
        <p:spPr>
          <a:xfrm>
            <a:off x="4392467" y="1777691"/>
            <a:ext cx="770547" cy="513698"/>
          </a:xfrm>
          <a:prstGeom prst="line">
            <a:avLst/>
          </a:prstGeom>
          <a:noFill/>
          <a:ln w="38100">
            <a:solidFill>
              <a:schemeClr val="accent3"/>
            </a:solidFill>
            <a:prstDash val="solid"/>
            <a:tailEnd type="triangle"/>
          </a:ln>
        </p:spPr>
      </p:sp>
      <p:sp>
        <p:nvSpPr>
          <p:cNvPr id="7" name="Precedencia"/>
          <p:cNvSpPr/>
          <p:nvPr/>
        </p:nvSpPr>
        <p:spPr>
          <a:xfrm>
            <a:off x="1226449" y="2626992"/>
            <a:ext cx="1707623" cy="689617"/>
          </a:xfrm>
          <a:prstGeom prst="line">
            <a:avLst/>
          </a:prstGeom>
          <a:noFill/>
          <a:ln w="25400">
            <a:solidFill>
              <a:schemeClr val="accent5"/>
            </a:solidFill>
            <a:prstDash val="solid"/>
            <a:tailEnd type="triangle"/>
          </a:ln>
        </p:spPr>
      </p:sp>
      <p:sp>
        <p:nvSpPr>
          <p:cNvPr id="8" name="Precedencia"/>
          <p:cNvSpPr/>
          <p:nvPr/>
        </p:nvSpPr>
        <p:spPr>
          <a:xfrm flipV="1">
            <a:off x="3599885" y="2636511"/>
            <a:ext cx="1532750" cy="670578"/>
          </a:xfrm>
          <a:prstGeom prst="line">
            <a:avLst/>
          </a:prstGeom>
          <a:noFill/>
          <a:ln w="25400">
            <a:solidFill>
              <a:schemeClr val="accent5"/>
            </a:solidFill>
            <a:prstDash val="solid"/>
            <a:tailEnd type="triangle"/>
          </a:ln>
        </p:spPr>
      </p:sp>
      <p:sp>
        <p:nvSpPr>
          <p:cNvPr id="9" name="Actividad A"/>
          <p:cNvSpPr/>
          <p:nvPr/>
        </p:nvSpPr>
        <p:spPr>
          <a:xfrm>
            <a:off x="548640" y="2148840"/>
            <a:ext cx="685800" cy="685800"/>
          </a:xfrm>
          <a:prstGeom prst="ellipse">
            <a:avLst/>
          </a:prstGeom>
          <a:solidFill>
            <a:schemeClr val="accent3"/>
          </a:solidFill>
          <a:ln/>
        </p:spPr>
      </p:sp>
      <p:sp>
        <p:nvSpPr>
          <p:cNvPr id="10" name="Text 8"/>
          <p:cNvSpPr txBox="1"/>
          <p:nvPr/>
        </p:nvSpPr>
        <p:spPr>
          <a:xfrm>
            <a:off x="548640" y="2221992"/>
            <a:ext cx="685800" cy="53949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400" dirty="0"/>
          </a:p>
          <a:p>
            <a:pPr algn="ctr" indent="0" marL="0">
              <a:buNone/>
            </a:pPr>
            <a:r>
              <a:rPr lang="en-US" sz="1100" dirty="0">
                <a:solidFill>
                  <a:schemeClr val="bg1"/>
                </a:solidFill>
              </a:rPr>
              <a:t>3 d</a:t>
            </a:r>
            <a:endParaRPr lang="en-US" sz="1400" dirty="0"/>
          </a:p>
        </p:txBody>
      </p:sp>
      <p:sp>
        <p:nvSpPr>
          <p:cNvPr id="11" name="Text 9"/>
          <p:cNvSpPr txBox="1"/>
          <p:nvPr/>
        </p:nvSpPr>
        <p:spPr>
          <a:xfrm>
            <a:off x="182880" y="2862072"/>
            <a:ext cx="1417320" cy="274320"/>
          </a:xfrm>
          <a:prstGeom prst="rect">
            <a:avLst/>
          </a:prstGeom>
          <a:noFill/>
          <a:ln/>
        </p:spPr>
        <p:txBody>
          <a:bodyPr wrap="square" lIns="0" tIns="0" rIns="0" bIns="0" rtlCol="0" anchor="t"/>
          <a:lstStyle/>
          <a:p>
            <a:pPr algn="ctr" indent="0" marL="0">
              <a:buNone/>
            </a:pPr>
            <a:r>
              <a:rPr lang="en-US" sz="1100" dirty="0">
                <a:solidFill>
                  <a:schemeClr val="accent4"/>
                </a:solidFill>
              </a:rPr>
              <a:t>Planificación</a:t>
            </a:r>
            <a:endParaRPr lang="en-US" sz="1100" dirty="0"/>
          </a:p>
        </p:txBody>
      </p:sp>
      <p:sp>
        <p:nvSpPr>
          <p:cNvPr id="12" name="Actividad B"/>
          <p:cNvSpPr/>
          <p:nvPr/>
        </p:nvSpPr>
        <p:spPr>
          <a:xfrm>
            <a:off x="2148840" y="1234440"/>
            <a:ext cx="685800" cy="685800"/>
          </a:xfrm>
          <a:prstGeom prst="ellipse">
            <a:avLst/>
          </a:prstGeom>
          <a:solidFill>
            <a:schemeClr val="accent3"/>
          </a:solidFill>
          <a:ln/>
        </p:spPr>
      </p:sp>
      <p:sp>
        <p:nvSpPr>
          <p:cNvPr id="13" name="Text 11"/>
          <p:cNvSpPr txBox="1"/>
          <p:nvPr/>
        </p:nvSpPr>
        <p:spPr>
          <a:xfrm>
            <a:off x="2148840" y="1307592"/>
            <a:ext cx="685800" cy="53949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400" dirty="0"/>
          </a:p>
          <a:p>
            <a:pPr algn="ctr" indent="0" marL="0">
              <a:buNone/>
            </a:pPr>
            <a:r>
              <a:rPr lang="en-US" sz="1100" dirty="0">
                <a:solidFill>
                  <a:schemeClr val="bg1"/>
                </a:solidFill>
              </a:rPr>
              <a:t>4 d</a:t>
            </a:r>
            <a:endParaRPr lang="en-US" sz="1400" dirty="0"/>
          </a:p>
        </p:txBody>
      </p:sp>
      <p:sp>
        <p:nvSpPr>
          <p:cNvPr id="14" name="Text 12"/>
          <p:cNvSpPr txBox="1"/>
          <p:nvPr/>
        </p:nvSpPr>
        <p:spPr>
          <a:xfrm>
            <a:off x="1783080" y="1947672"/>
            <a:ext cx="1417320" cy="274320"/>
          </a:xfrm>
          <a:prstGeom prst="rect">
            <a:avLst/>
          </a:prstGeom>
          <a:noFill/>
          <a:ln/>
        </p:spPr>
        <p:txBody>
          <a:bodyPr wrap="square" lIns="0" tIns="0" rIns="0" bIns="0" rtlCol="0" anchor="t"/>
          <a:lstStyle/>
          <a:p>
            <a:pPr algn="ctr" indent="0" marL="0">
              <a:buNone/>
            </a:pPr>
            <a:r>
              <a:rPr lang="en-US" sz="1100" dirty="0">
                <a:solidFill>
                  <a:schemeClr val="accent4"/>
                </a:solidFill>
              </a:rPr>
              <a:t>Permisos</a:t>
            </a:r>
            <a:endParaRPr lang="en-US" sz="1100" dirty="0"/>
          </a:p>
        </p:txBody>
      </p:sp>
      <p:sp>
        <p:nvSpPr>
          <p:cNvPr id="15" name="Actividad D"/>
          <p:cNvSpPr/>
          <p:nvPr/>
        </p:nvSpPr>
        <p:spPr>
          <a:xfrm>
            <a:off x="3749040" y="1234440"/>
            <a:ext cx="685800" cy="685800"/>
          </a:xfrm>
          <a:prstGeom prst="ellipse">
            <a:avLst/>
          </a:prstGeom>
          <a:solidFill>
            <a:schemeClr val="accent3"/>
          </a:solidFill>
          <a:ln/>
        </p:spPr>
      </p:sp>
      <p:sp>
        <p:nvSpPr>
          <p:cNvPr id="16" name="Text 14"/>
          <p:cNvSpPr txBox="1"/>
          <p:nvPr/>
        </p:nvSpPr>
        <p:spPr>
          <a:xfrm>
            <a:off x="3749040" y="1307592"/>
            <a:ext cx="685800" cy="53949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400" dirty="0"/>
          </a:p>
          <a:p>
            <a:pPr algn="ctr" indent="0" marL="0">
              <a:buNone/>
            </a:pPr>
            <a:r>
              <a:rPr lang="en-US" sz="1100" dirty="0">
                <a:solidFill>
                  <a:schemeClr val="bg1"/>
                </a:solidFill>
              </a:rPr>
              <a:t>5 d</a:t>
            </a:r>
            <a:endParaRPr lang="en-US" sz="1400" dirty="0"/>
          </a:p>
        </p:txBody>
      </p:sp>
      <p:sp>
        <p:nvSpPr>
          <p:cNvPr id="17" name="Text 15"/>
          <p:cNvSpPr txBox="1"/>
          <p:nvPr/>
        </p:nvSpPr>
        <p:spPr>
          <a:xfrm>
            <a:off x="3383280" y="1947672"/>
            <a:ext cx="1417320" cy="274320"/>
          </a:xfrm>
          <a:prstGeom prst="rect">
            <a:avLst/>
          </a:prstGeom>
          <a:noFill/>
          <a:ln/>
        </p:spPr>
        <p:txBody>
          <a:bodyPr wrap="square" lIns="0" tIns="0" rIns="0" bIns="0" rtlCol="0" anchor="t"/>
          <a:lstStyle/>
          <a:p>
            <a:pPr algn="ctr" indent="0" marL="0">
              <a:buNone/>
            </a:pPr>
            <a:r>
              <a:rPr lang="en-US" sz="1100" dirty="0">
                <a:solidFill>
                  <a:schemeClr val="accent4"/>
                </a:solidFill>
              </a:rPr>
              <a:t>Montaje</a:t>
            </a:r>
            <a:endParaRPr lang="en-US" sz="1100" dirty="0"/>
          </a:p>
        </p:txBody>
      </p:sp>
      <p:sp>
        <p:nvSpPr>
          <p:cNvPr id="18" name="Actividad C"/>
          <p:cNvSpPr/>
          <p:nvPr/>
        </p:nvSpPr>
        <p:spPr>
          <a:xfrm>
            <a:off x="2926080" y="3108960"/>
            <a:ext cx="685800" cy="685800"/>
          </a:xfrm>
          <a:prstGeom prst="ellipse">
            <a:avLst/>
          </a:prstGeom>
          <a:solidFill>
            <a:schemeClr val="accent1"/>
          </a:solidFill>
          <a:ln/>
        </p:spPr>
      </p:sp>
      <p:sp>
        <p:nvSpPr>
          <p:cNvPr id="19" name="Text 17"/>
          <p:cNvSpPr txBox="1"/>
          <p:nvPr/>
        </p:nvSpPr>
        <p:spPr>
          <a:xfrm>
            <a:off x="2926080" y="3182112"/>
            <a:ext cx="685800" cy="53949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400" dirty="0"/>
          </a:p>
          <a:p>
            <a:pPr algn="ctr" indent="0" marL="0">
              <a:buNone/>
            </a:pPr>
            <a:r>
              <a:rPr lang="en-US" sz="1100" dirty="0">
                <a:solidFill>
                  <a:schemeClr val="bg1"/>
                </a:solidFill>
              </a:rPr>
              <a:t>2 d</a:t>
            </a:r>
            <a:endParaRPr lang="en-US" sz="1400" dirty="0"/>
          </a:p>
        </p:txBody>
      </p:sp>
      <p:sp>
        <p:nvSpPr>
          <p:cNvPr id="20" name="Text 18"/>
          <p:cNvSpPr txBox="1"/>
          <p:nvPr/>
        </p:nvSpPr>
        <p:spPr>
          <a:xfrm>
            <a:off x="2560320" y="3822192"/>
            <a:ext cx="1417320" cy="274320"/>
          </a:xfrm>
          <a:prstGeom prst="rect">
            <a:avLst/>
          </a:prstGeom>
          <a:noFill/>
          <a:ln/>
        </p:spPr>
        <p:txBody>
          <a:bodyPr wrap="square" lIns="0" tIns="0" rIns="0" bIns="0" rtlCol="0" anchor="t"/>
          <a:lstStyle/>
          <a:p>
            <a:pPr algn="ctr" indent="0" marL="0">
              <a:buNone/>
            </a:pPr>
            <a:r>
              <a:rPr lang="en-US" sz="1100" dirty="0">
                <a:solidFill>
                  <a:schemeClr val="accent4"/>
                </a:solidFill>
              </a:rPr>
              <a:t>Materiales</a:t>
            </a:r>
            <a:endParaRPr lang="en-US" sz="1100" dirty="0"/>
          </a:p>
        </p:txBody>
      </p:sp>
      <p:sp>
        <p:nvSpPr>
          <p:cNvPr id="21" name="Actividad E"/>
          <p:cNvSpPr/>
          <p:nvPr/>
        </p:nvSpPr>
        <p:spPr>
          <a:xfrm>
            <a:off x="5120640" y="2148840"/>
            <a:ext cx="685800" cy="685800"/>
          </a:xfrm>
          <a:prstGeom prst="ellipse">
            <a:avLst/>
          </a:prstGeom>
          <a:solidFill>
            <a:schemeClr val="accent3"/>
          </a:solidFill>
          <a:ln/>
        </p:spPr>
      </p:sp>
      <p:sp>
        <p:nvSpPr>
          <p:cNvPr id="22" name="Text 20"/>
          <p:cNvSpPr txBox="1"/>
          <p:nvPr/>
        </p:nvSpPr>
        <p:spPr>
          <a:xfrm>
            <a:off x="5120640" y="2221992"/>
            <a:ext cx="685800" cy="539496"/>
          </a:xfrm>
          <a:prstGeom prst="rect">
            <a:avLst/>
          </a:prstGeom>
          <a:noFill/>
          <a:ln/>
        </p:spPr>
        <p:txBody>
          <a:bodyPr wrap="square" lIns="0" tIns="0" rIns="0" bIns="0" rtlCol="0" anchor="ctr"/>
          <a:lstStyle/>
          <a:p>
            <a:pPr algn="ctr" indent="0" marL="0">
              <a:buNone/>
            </a:pPr>
            <a:r>
              <a:rPr lang="en-US" sz="1800" b="1" dirty="0">
                <a:solidFill>
                  <a:schemeClr val="bg1"/>
                </a:solidFill>
              </a:rPr>
              <a:t>E</a:t>
            </a:r>
            <a:endParaRPr lang="en-US" sz="1400" dirty="0"/>
          </a:p>
          <a:p>
            <a:pPr algn="ctr" indent="0" marL="0">
              <a:buNone/>
            </a:pPr>
            <a:r>
              <a:rPr lang="en-US" sz="1100" dirty="0">
                <a:solidFill>
                  <a:schemeClr val="bg1"/>
                </a:solidFill>
              </a:rPr>
              <a:t>3 d</a:t>
            </a:r>
            <a:endParaRPr lang="en-US" sz="1400" dirty="0"/>
          </a:p>
        </p:txBody>
      </p:sp>
      <p:sp>
        <p:nvSpPr>
          <p:cNvPr id="23" name="Text 21"/>
          <p:cNvSpPr txBox="1"/>
          <p:nvPr/>
        </p:nvSpPr>
        <p:spPr>
          <a:xfrm>
            <a:off x="4754880" y="2862072"/>
            <a:ext cx="1417320" cy="274320"/>
          </a:xfrm>
          <a:prstGeom prst="rect">
            <a:avLst/>
          </a:prstGeom>
          <a:noFill/>
          <a:ln/>
        </p:spPr>
        <p:txBody>
          <a:bodyPr wrap="square" lIns="0" tIns="0" rIns="0" bIns="0" rtlCol="0" anchor="t"/>
          <a:lstStyle/>
          <a:p>
            <a:pPr algn="ctr" indent="0" marL="0">
              <a:buNone/>
            </a:pPr>
            <a:r>
              <a:rPr lang="en-US" sz="1100" dirty="0">
                <a:solidFill>
                  <a:schemeClr val="accent4"/>
                </a:solidFill>
              </a:rPr>
              <a:t>Ejecución y cierre</a:t>
            </a:r>
            <a:endParaRPr lang="en-US" sz="1100" dirty="0"/>
          </a:p>
        </p:txBody>
      </p:sp>
      <p:sp>
        <p:nvSpPr>
          <p:cNvPr id="24" name="Tarjeta"/>
          <p:cNvSpPr/>
          <p:nvPr/>
        </p:nvSpPr>
        <p:spPr>
          <a:xfrm>
            <a:off x="6172200" y="1143000"/>
            <a:ext cx="2514600" cy="1051560"/>
          </a:xfrm>
          <a:prstGeom prst="roundRect">
            <a:avLst>
              <a:gd name="adj" fmla="val 6957"/>
            </a:avLst>
          </a:prstGeom>
          <a:solidFill>
            <a:schemeClr val="accent3"/>
          </a:solidFill>
          <a:ln/>
        </p:spPr>
      </p:sp>
      <p:sp>
        <p:nvSpPr>
          <p:cNvPr id="25" name="Text 23"/>
          <p:cNvSpPr txBox="1"/>
          <p:nvPr/>
        </p:nvSpPr>
        <p:spPr>
          <a:xfrm>
            <a:off x="6309360" y="1188720"/>
            <a:ext cx="2286000" cy="960120"/>
          </a:xfrm>
          <a:prstGeom prst="rect">
            <a:avLst/>
          </a:prstGeom>
          <a:noFill/>
          <a:ln/>
        </p:spPr>
        <p:txBody>
          <a:bodyPr wrap="square" lIns="0" tIns="0" rIns="0" bIns="0" rtlCol="0" anchor="ctr"/>
          <a:lstStyle/>
          <a:p>
            <a:pPr indent="0" marL="0">
              <a:buNone/>
            </a:pPr>
            <a:r>
              <a:rPr lang="en-US" sz="1600" b="1" dirty="0">
                <a:solidFill>
                  <a:schemeClr val="bg1"/>
                </a:solidFill>
              </a:rPr>
              <a:t>A–B–D–E = 15 días</a:t>
            </a:r>
            <a:endParaRPr lang="en-US" sz="1400" dirty="0"/>
          </a:p>
          <a:p>
            <a:pPr indent="0" marL="0">
              <a:buNone/>
            </a:pPr>
            <a:r>
              <a:rPr lang="en-US" sz="1200" dirty="0">
                <a:solidFill>
                  <a:schemeClr val="bg1"/>
                </a:solidFill>
              </a:rPr>
              <a:t>Ruta crítica: no se puede terminar antes</a:t>
            </a:r>
            <a:endParaRPr lang="en-US" sz="1400" dirty="0"/>
          </a:p>
        </p:txBody>
      </p:sp>
      <p:sp>
        <p:nvSpPr>
          <p:cNvPr id="26" name="Tarjeta"/>
          <p:cNvSpPr/>
          <p:nvPr/>
        </p:nvSpPr>
        <p:spPr>
          <a:xfrm>
            <a:off x="6172200" y="2331720"/>
            <a:ext cx="2514600" cy="914400"/>
          </a:xfrm>
          <a:prstGeom prst="roundRect">
            <a:avLst>
              <a:gd name="adj" fmla="val 8000"/>
            </a:avLst>
          </a:prstGeom>
          <a:solidFill>
            <a:schemeClr val="bg2"/>
          </a:solidFill>
          <a:ln/>
        </p:spPr>
      </p:sp>
      <p:sp>
        <p:nvSpPr>
          <p:cNvPr id="27" name="Text 25"/>
          <p:cNvSpPr txBox="1"/>
          <p:nvPr/>
        </p:nvSpPr>
        <p:spPr>
          <a:xfrm>
            <a:off x="6309360" y="2377440"/>
            <a:ext cx="2286000" cy="822960"/>
          </a:xfrm>
          <a:prstGeom prst="rect">
            <a:avLst/>
          </a:prstGeom>
          <a:noFill/>
          <a:ln/>
        </p:spPr>
        <p:txBody>
          <a:bodyPr wrap="square" lIns="0" tIns="0" rIns="0" bIns="0" rtlCol="0" anchor="ctr"/>
          <a:lstStyle/>
          <a:p>
            <a:pPr indent="0" marL="0">
              <a:buNone/>
            </a:pPr>
            <a:r>
              <a:rPr lang="en-US" sz="1600" b="1" dirty="0">
                <a:solidFill>
                  <a:schemeClr val="accent1"/>
                </a:solidFill>
              </a:rPr>
              <a:t>A–C–E = 8 días</a:t>
            </a:r>
            <a:endParaRPr lang="en-US" sz="1400" dirty="0"/>
          </a:p>
          <a:p>
            <a:pPr indent="0" marL="0">
              <a:buNone/>
            </a:pPr>
            <a:r>
              <a:rPr lang="en-US" sz="1200" dirty="0">
                <a:solidFill>
                  <a:schemeClr val="tx1"/>
                </a:solidFill>
              </a:rPr>
              <a:t>C tiene 7 días de holgura</a:t>
            </a:r>
            <a:endParaRPr lang="en-US" sz="1400" dirty="0"/>
          </a:p>
        </p:txBody>
      </p:sp>
      <p:sp>
        <p:nvSpPr>
          <p:cNvPr id="28" name="Tarjeta"/>
          <p:cNvSpPr/>
          <p:nvPr/>
        </p:nvSpPr>
        <p:spPr>
          <a:xfrm>
            <a:off x="6172200" y="3383280"/>
            <a:ext cx="2514600" cy="1051560"/>
          </a:xfrm>
          <a:prstGeom prst="roundRect">
            <a:avLst>
              <a:gd name="adj" fmla="val 6957"/>
            </a:avLst>
          </a:prstGeom>
          <a:solidFill>
            <a:schemeClr val="bg2"/>
          </a:solidFill>
          <a:ln/>
        </p:spPr>
      </p:sp>
      <p:sp>
        <p:nvSpPr>
          <p:cNvPr id="29" name="Text 27"/>
          <p:cNvSpPr txBox="1"/>
          <p:nvPr/>
        </p:nvSpPr>
        <p:spPr>
          <a:xfrm>
            <a:off x="6309360" y="3429000"/>
            <a:ext cx="2286000" cy="960120"/>
          </a:xfrm>
          <a:prstGeom prst="rect">
            <a:avLst/>
          </a:prstGeom>
          <a:noFill/>
          <a:ln/>
        </p:spPr>
        <p:txBody>
          <a:bodyPr wrap="square" lIns="0" tIns="0" rIns="0" bIns="0" rtlCol="0" anchor="ctr"/>
          <a:lstStyle/>
          <a:p>
            <a:pPr indent="0" marL="0">
              <a:buNone/>
            </a:pPr>
            <a:r>
              <a:rPr lang="en-US" sz="1200" dirty="0">
                <a:solidFill>
                  <a:schemeClr val="tx1"/>
                </a:solidFill>
              </a:rPr>
              <a:t>Holgura = tiempo más tardío − más temprano. Holgura cero = actividad crítica.</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Compresión: tiempo contra costo</a:t>
            </a:r>
            <a:endParaRPr lang="en-US" sz="3000" dirty="0"/>
          </a:p>
        </p:txBody>
      </p:sp>
      <p:sp>
        <p:nvSpPr>
          <p:cNvPr id="3"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r>
              <a:rPr lang="en-US" sz="1100" i="1" dirty="0">
                <a:solidFill>
                  <a:schemeClr val="accent4"/>
                </a:solidFill>
              </a:rPr>
              <a:t>Presenta: Suheil Collazo · Kerzner (2017)</a:t>
            </a:r>
            <a:endParaRPr lang="en-US" sz="1100" dirty="0"/>
          </a:p>
        </p:txBody>
      </p:sp>
      <p:sp>
        <p:nvSpPr>
          <p:cNvPr id="4" name="Tarjeta"/>
          <p:cNvSpPr/>
          <p:nvPr/>
        </p:nvSpPr>
        <p:spPr>
          <a:xfrm>
            <a:off x="457200" y="1188720"/>
            <a:ext cx="2606040" cy="3246120"/>
          </a:xfrm>
          <a:prstGeom prst="roundRect">
            <a:avLst>
              <a:gd name="adj" fmla="val 2807"/>
            </a:avLst>
          </a:prstGeom>
          <a:solidFill>
            <a:schemeClr val="bg2"/>
          </a:solidFill>
          <a:ln/>
        </p:spPr>
      </p:sp>
      <p:sp>
        <p:nvSpPr>
          <p:cNvPr id="5" name="Círculo de icono"/>
          <p:cNvSpPr/>
          <p:nvPr/>
        </p:nvSpPr>
        <p:spPr>
          <a:xfrm>
            <a:off x="1325880" y="1417320"/>
            <a:ext cx="868680" cy="868680"/>
          </a:xfrm>
          <a:prstGeom prst="ellipse">
            <a:avLst/>
          </a:prstGeom>
          <a:solidFill>
            <a:schemeClr val="accent1"/>
          </a:solidFill>
          <a:ln/>
        </p:spPr>
      </p:sp>
      <p:pic>
        <p:nvPicPr>
          <p:cNvPr id="6" name="Icono" descr="FaMoneyBillTrendUp">    </p:cNvPr>
          <p:cNvPicPr>
            <a:picLocks noChangeAspect="1"/>
          </p:cNvPicPr>
          <p:nvPr/>
        </p:nvPicPr>
        <p:blipFill>
          <a:blip r:embed="rId1"/>
          <a:stretch>
            <a:fillRect/>
          </a:stretch>
        </p:blipFill>
        <p:spPr>
          <a:xfrm>
            <a:off x="1516990" y="1608430"/>
            <a:ext cx="486461" cy="486461"/>
          </a:xfrm>
          <a:prstGeom prst="rect">
            <a:avLst/>
          </a:prstGeom>
        </p:spPr>
      </p:pic>
      <p:sp>
        <p:nvSpPr>
          <p:cNvPr id="7" name="Text 4"/>
          <p:cNvSpPr txBox="1"/>
          <p:nvPr/>
        </p:nvSpPr>
        <p:spPr>
          <a:xfrm>
            <a:off x="640080" y="2468880"/>
            <a:ext cx="2240280" cy="685800"/>
          </a:xfrm>
          <a:prstGeom prst="rect">
            <a:avLst/>
          </a:prstGeom>
          <a:noFill/>
          <a:ln/>
        </p:spPr>
        <p:txBody>
          <a:bodyPr wrap="square" lIns="0" tIns="0" rIns="0" bIns="0" rtlCol="0" anchor="ctr"/>
          <a:lstStyle/>
          <a:p>
            <a:pPr algn="ctr" indent="0" marL="0">
              <a:buNone/>
            </a:pPr>
            <a:r>
              <a:rPr lang="en-US" sz="1600" b="1" dirty="0">
                <a:solidFill>
                  <a:schemeClr val="tx2"/>
                </a:solidFill>
              </a:rPr>
              <a:t>Más recursos a las actividades críticas</a:t>
            </a:r>
            <a:endParaRPr lang="en-US" sz="1600" dirty="0"/>
          </a:p>
        </p:txBody>
      </p:sp>
      <p:sp>
        <p:nvSpPr>
          <p:cNvPr id="8" name="Text 5"/>
          <p:cNvSpPr txBox="1"/>
          <p:nvPr/>
        </p:nvSpPr>
        <p:spPr>
          <a:xfrm>
            <a:off x="640080" y="3200400"/>
            <a:ext cx="2240280" cy="1097280"/>
          </a:xfrm>
          <a:prstGeom prst="rect">
            <a:avLst/>
          </a:prstGeom>
          <a:noFill/>
          <a:ln/>
        </p:spPr>
        <p:txBody>
          <a:bodyPr wrap="square" lIns="0" tIns="0" rIns="0" bIns="0" rtlCol="0" anchor="t"/>
          <a:lstStyle/>
          <a:p>
            <a:pPr algn="ctr" indent="0" marL="0">
              <a:buNone/>
            </a:pPr>
            <a:r>
              <a:rPr lang="en-US" sz="1400" dirty="0">
                <a:solidFill>
                  <a:schemeClr val="tx1"/>
                </a:solidFill>
              </a:rPr>
              <a:t>para acortar la duración total del proyecto.</a:t>
            </a:r>
            <a:endParaRPr lang="en-US" sz="1400" dirty="0"/>
          </a:p>
        </p:txBody>
      </p:sp>
      <p:sp>
        <p:nvSpPr>
          <p:cNvPr id="9" name="Tarjeta"/>
          <p:cNvSpPr/>
          <p:nvPr/>
        </p:nvSpPr>
        <p:spPr>
          <a:xfrm>
            <a:off x="3246120" y="1188720"/>
            <a:ext cx="2606040" cy="3246120"/>
          </a:xfrm>
          <a:prstGeom prst="roundRect">
            <a:avLst>
              <a:gd name="adj" fmla="val 2807"/>
            </a:avLst>
          </a:prstGeom>
          <a:solidFill>
            <a:schemeClr val="bg2"/>
          </a:solidFill>
          <a:ln/>
        </p:spPr>
      </p:sp>
      <p:sp>
        <p:nvSpPr>
          <p:cNvPr id="10" name="Círculo de icono"/>
          <p:cNvSpPr/>
          <p:nvPr/>
        </p:nvSpPr>
        <p:spPr>
          <a:xfrm>
            <a:off x="4114800" y="1417320"/>
            <a:ext cx="868680" cy="868680"/>
          </a:xfrm>
          <a:prstGeom prst="ellipse">
            <a:avLst/>
          </a:prstGeom>
          <a:solidFill>
            <a:schemeClr val="accent2"/>
          </a:solidFill>
          <a:ln/>
        </p:spPr>
      </p:sp>
      <p:pic>
        <p:nvPicPr>
          <p:cNvPr id="11" name="Icono" descr="FaScaleBalanced">    </p:cNvPr>
          <p:cNvPicPr>
            <a:picLocks noChangeAspect="1"/>
          </p:cNvPicPr>
          <p:nvPr/>
        </p:nvPicPr>
        <p:blipFill>
          <a:blip r:embed="rId2"/>
          <a:stretch>
            <a:fillRect/>
          </a:stretch>
        </p:blipFill>
        <p:spPr>
          <a:xfrm>
            <a:off x="4305910" y="1608430"/>
            <a:ext cx="486461" cy="486461"/>
          </a:xfrm>
          <a:prstGeom prst="rect">
            <a:avLst/>
          </a:prstGeom>
        </p:spPr>
      </p:pic>
      <p:sp>
        <p:nvSpPr>
          <p:cNvPr id="12" name="Text 8"/>
          <p:cNvSpPr txBox="1"/>
          <p:nvPr/>
        </p:nvSpPr>
        <p:spPr>
          <a:xfrm>
            <a:off x="3429000" y="2468880"/>
            <a:ext cx="2240280" cy="685800"/>
          </a:xfrm>
          <a:prstGeom prst="rect">
            <a:avLst/>
          </a:prstGeom>
          <a:noFill/>
          <a:ln/>
        </p:spPr>
        <p:txBody>
          <a:bodyPr wrap="square" lIns="0" tIns="0" rIns="0" bIns="0" rtlCol="0" anchor="ctr"/>
          <a:lstStyle/>
          <a:p>
            <a:pPr algn="ctr" indent="0" marL="0">
              <a:buNone/>
            </a:pPr>
            <a:r>
              <a:rPr lang="en-US" sz="1600" b="1" dirty="0">
                <a:solidFill>
                  <a:schemeClr val="tx2"/>
                </a:solidFill>
              </a:rPr>
              <a:t>¿Vale la pena?</a:t>
            </a:r>
            <a:endParaRPr lang="en-US" sz="1600" dirty="0"/>
          </a:p>
        </p:txBody>
      </p:sp>
      <p:sp>
        <p:nvSpPr>
          <p:cNvPr id="13" name="Text 9"/>
          <p:cNvSpPr txBox="1"/>
          <p:nvPr/>
        </p:nvSpPr>
        <p:spPr>
          <a:xfrm>
            <a:off x="3429000" y="3200400"/>
            <a:ext cx="2240280" cy="1097280"/>
          </a:xfrm>
          <a:prstGeom prst="rect">
            <a:avLst/>
          </a:prstGeom>
          <a:noFill/>
          <a:ln/>
        </p:spPr>
        <p:txBody>
          <a:bodyPr wrap="square" lIns="0" tIns="0" rIns="0" bIns="0" rtlCol="0" anchor="t"/>
          <a:lstStyle/>
          <a:p>
            <a:pPr algn="ctr" indent="0" marL="0">
              <a:buNone/>
            </a:pPr>
            <a:r>
              <a:rPr lang="en-US" sz="1400" dirty="0">
                <a:solidFill>
                  <a:schemeClr val="tx1"/>
                </a:solidFill>
              </a:rPr>
              <a:t>Se evalúa si el beneficio de terminar antes justifica el costo adicional.</a:t>
            </a:r>
            <a:endParaRPr lang="en-US" sz="1400" dirty="0"/>
          </a:p>
        </p:txBody>
      </p:sp>
      <p:sp>
        <p:nvSpPr>
          <p:cNvPr id="14" name="Tarjeta"/>
          <p:cNvSpPr/>
          <p:nvPr/>
        </p:nvSpPr>
        <p:spPr>
          <a:xfrm>
            <a:off x="6035040" y="1188720"/>
            <a:ext cx="2606040" cy="3246120"/>
          </a:xfrm>
          <a:prstGeom prst="roundRect">
            <a:avLst>
              <a:gd name="adj" fmla="val 2807"/>
            </a:avLst>
          </a:prstGeom>
          <a:solidFill>
            <a:schemeClr val="bg2"/>
          </a:solidFill>
          <a:ln/>
        </p:spPr>
      </p:sp>
      <p:sp>
        <p:nvSpPr>
          <p:cNvPr id="15" name="Círculo de icono"/>
          <p:cNvSpPr/>
          <p:nvPr/>
        </p:nvSpPr>
        <p:spPr>
          <a:xfrm>
            <a:off x="6903720" y="1417320"/>
            <a:ext cx="868680" cy="868680"/>
          </a:xfrm>
          <a:prstGeom prst="ellipse">
            <a:avLst/>
          </a:prstGeom>
          <a:solidFill>
            <a:schemeClr val="accent1"/>
          </a:solidFill>
          <a:ln/>
        </p:spPr>
      </p:sp>
      <p:pic>
        <p:nvPicPr>
          <p:cNvPr id="16" name="Icono" descr="FaEye">    </p:cNvPr>
          <p:cNvPicPr>
            <a:picLocks noChangeAspect="1"/>
          </p:cNvPicPr>
          <p:nvPr/>
        </p:nvPicPr>
        <p:blipFill>
          <a:blip r:embed="rId3"/>
          <a:stretch>
            <a:fillRect/>
          </a:stretch>
        </p:blipFill>
        <p:spPr>
          <a:xfrm>
            <a:off x="7094830" y="1608430"/>
            <a:ext cx="486461" cy="486461"/>
          </a:xfrm>
          <a:prstGeom prst="rect">
            <a:avLst/>
          </a:prstGeom>
        </p:spPr>
      </p:pic>
      <p:sp>
        <p:nvSpPr>
          <p:cNvPr id="17" name="Text 12"/>
          <p:cNvSpPr txBox="1"/>
          <p:nvPr/>
        </p:nvSpPr>
        <p:spPr>
          <a:xfrm>
            <a:off x="6217920" y="2468880"/>
            <a:ext cx="2240280" cy="685800"/>
          </a:xfrm>
          <a:prstGeom prst="rect">
            <a:avLst/>
          </a:prstGeom>
          <a:noFill/>
          <a:ln/>
        </p:spPr>
        <p:txBody>
          <a:bodyPr wrap="square" lIns="0" tIns="0" rIns="0" bIns="0" rtlCol="0" anchor="ctr"/>
          <a:lstStyle/>
          <a:p>
            <a:pPr algn="ctr" indent="0" marL="0">
              <a:buNone/>
            </a:pPr>
            <a:r>
              <a:rPr lang="en-US" sz="1600" b="1" dirty="0">
                <a:solidFill>
                  <a:schemeClr val="tx2"/>
                </a:solidFill>
              </a:rPr>
              <a:t>Administración por excepción</a:t>
            </a:r>
            <a:endParaRPr lang="en-US" sz="1600" dirty="0"/>
          </a:p>
        </p:txBody>
      </p:sp>
      <p:sp>
        <p:nvSpPr>
          <p:cNvPr id="18" name="Text 13"/>
          <p:cNvSpPr txBox="1"/>
          <p:nvPr/>
        </p:nvSpPr>
        <p:spPr>
          <a:xfrm>
            <a:off x="6217920" y="3200400"/>
            <a:ext cx="2240280" cy="1097280"/>
          </a:xfrm>
          <a:prstGeom prst="rect">
            <a:avLst/>
          </a:prstGeom>
          <a:noFill/>
          <a:ln/>
        </p:spPr>
        <p:txBody>
          <a:bodyPr wrap="square" lIns="0" tIns="0" rIns="0" bIns="0" rtlCol="0" anchor="t"/>
          <a:lstStyle/>
          <a:p>
            <a:pPr algn="ctr" indent="0" marL="0">
              <a:buNone/>
            </a:pPr>
            <a:r>
              <a:rPr lang="en-US" sz="1400" dirty="0">
                <a:solidFill>
                  <a:schemeClr val="tx1"/>
                </a:solidFill>
              </a:rPr>
              <a:t>El gerente vigila las actividades críticas, no todas por igual.</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lIns="0" tIns="0" rIns="0" bIns="0" rtlCol="0" anchor="ctr"/>
          <a:lstStyle/>
          <a:p>
            <a:pPr algn="l" indent="0" marL="0">
              <a:buNone/>
            </a:pPr>
            <a:r>
              <a:rPr lang="en-US" sz="2800" b="1" dirty="0">
                <a:solidFill>
                  <a:schemeClr val="bg1"/>
                </a:solidFill>
              </a:rPr>
              <a:t>Planificar y controlar: dos caras de una moneda</a:t>
            </a:r>
            <a:endParaRPr lang="en-US" sz="2800" dirty="0"/>
          </a:p>
        </p:txBody>
      </p:sp>
      <p:sp>
        <p:nvSpPr>
          <p:cNvPr id="3" name="Tarjeta"/>
          <p:cNvSpPr/>
          <p:nvPr/>
        </p:nvSpPr>
        <p:spPr>
          <a:xfrm>
            <a:off x="548640" y="1417320"/>
            <a:ext cx="1874520" cy="1600200"/>
          </a:xfrm>
          <a:prstGeom prst="roundRect">
            <a:avLst>
              <a:gd name="adj" fmla="val 4571"/>
            </a:avLst>
          </a:prstGeom>
          <a:solidFill>
            <a:schemeClr val="accent1"/>
          </a:solidFill>
          <a:ln/>
        </p:spPr>
      </p:sp>
      <p:sp>
        <p:nvSpPr>
          <p:cNvPr id="4" name="Text 2"/>
          <p:cNvSpPr txBox="1"/>
          <p:nvPr/>
        </p:nvSpPr>
        <p:spPr>
          <a:xfrm>
            <a:off x="685800" y="1554480"/>
            <a:ext cx="1600200" cy="1371600"/>
          </a:xfrm>
          <a:prstGeom prst="rect">
            <a:avLst/>
          </a:prstGeom>
          <a:noFill/>
          <a:ln/>
        </p:spPr>
        <p:txBody>
          <a:bodyPr wrap="square" lIns="0" tIns="0" rIns="0" bIns="0" rtlCol="0" anchor="t"/>
          <a:lstStyle/>
          <a:p>
            <a:pPr indent="0" marL="0">
              <a:buNone/>
            </a:pPr>
            <a:r>
              <a:rPr lang="en-US" sz="1600" b="1" dirty="0">
                <a:solidFill>
                  <a:schemeClr val="accent2"/>
                </a:solidFill>
              </a:rPr>
              <a:t>Benchmarking</a:t>
            </a:r>
            <a:endParaRPr lang="en-US" sz="1400" dirty="0"/>
          </a:p>
          <a:p>
            <a:pPr indent="0" marL="0">
              <a:buNone/>
            </a:pPr>
            <a:r>
              <a:rPr lang="en-US" sz="1300" dirty="0">
                <a:solidFill>
                  <a:schemeClr val="bg1"/>
                </a:solidFill>
              </a:rPr>
              <a:t>eleva el nivel de los estándares</a:t>
            </a:r>
            <a:endParaRPr lang="en-US" sz="1400" dirty="0"/>
          </a:p>
        </p:txBody>
      </p:sp>
      <p:sp>
        <p:nvSpPr>
          <p:cNvPr id="5" name="Tarjeta"/>
          <p:cNvSpPr/>
          <p:nvPr/>
        </p:nvSpPr>
        <p:spPr>
          <a:xfrm>
            <a:off x="2606040" y="1417320"/>
            <a:ext cx="1874520" cy="1600200"/>
          </a:xfrm>
          <a:prstGeom prst="roundRect">
            <a:avLst>
              <a:gd name="adj" fmla="val 4571"/>
            </a:avLst>
          </a:prstGeom>
          <a:solidFill>
            <a:schemeClr val="accent1"/>
          </a:solidFill>
          <a:ln/>
        </p:spPr>
      </p:sp>
      <p:sp>
        <p:nvSpPr>
          <p:cNvPr id="6" name="Text 4"/>
          <p:cNvSpPr txBox="1"/>
          <p:nvPr/>
        </p:nvSpPr>
        <p:spPr>
          <a:xfrm>
            <a:off x="2743200" y="1554480"/>
            <a:ext cx="1600200" cy="1371600"/>
          </a:xfrm>
          <a:prstGeom prst="rect">
            <a:avLst/>
          </a:prstGeom>
          <a:noFill/>
          <a:ln/>
        </p:spPr>
        <p:txBody>
          <a:bodyPr wrap="square" lIns="0" tIns="0" rIns="0" bIns="0" rtlCol="0" anchor="t"/>
          <a:lstStyle/>
          <a:p>
            <a:pPr indent="0" marL="0">
              <a:buNone/>
            </a:pPr>
            <a:r>
              <a:rPr lang="en-US" sz="1600" b="1" dirty="0">
                <a:solidFill>
                  <a:schemeClr val="accent2"/>
                </a:solidFill>
              </a:rPr>
              <a:t>Gantt</a:t>
            </a:r>
            <a:endParaRPr lang="en-US" sz="1400" dirty="0"/>
          </a:p>
          <a:p>
            <a:pPr indent="0" marL="0">
              <a:buNone/>
            </a:pPr>
            <a:r>
              <a:rPr lang="en-US" sz="1300" dirty="0">
                <a:solidFill>
                  <a:schemeClr val="bg1"/>
                </a:solidFill>
              </a:rPr>
              <a:t>da una visión sencilla del calendario</a:t>
            </a:r>
            <a:endParaRPr lang="en-US" sz="1400" dirty="0"/>
          </a:p>
        </p:txBody>
      </p:sp>
      <p:sp>
        <p:nvSpPr>
          <p:cNvPr id="7" name="Tarjeta"/>
          <p:cNvSpPr/>
          <p:nvPr/>
        </p:nvSpPr>
        <p:spPr>
          <a:xfrm>
            <a:off x="4663440" y="1417320"/>
            <a:ext cx="1874520" cy="1600200"/>
          </a:xfrm>
          <a:prstGeom prst="roundRect">
            <a:avLst>
              <a:gd name="adj" fmla="val 4571"/>
            </a:avLst>
          </a:prstGeom>
          <a:solidFill>
            <a:schemeClr val="accent1"/>
          </a:solidFill>
          <a:ln/>
        </p:spPr>
      </p:sp>
      <p:sp>
        <p:nvSpPr>
          <p:cNvPr id="8" name="Text 6"/>
          <p:cNvSpPr txBox="1"/>
          <p:nvPr/>
        </p:nvSpPr>
        <p:spPr>
          <a:xfrm>
            <a:off x="4800600" y="1554480"/>
            <a:ext cx="1600200" cy="1371600"/>
          </a:xfrm>
          <a:prstGeom prst="rect">
            <a:avLst/>
          </a:prstGeom>
          <a:noFill/>
          <a:ln/>
        </p:spPr>
        <p:txBody>
          <a:bodyPr wrap="square" lIns="0" tIns="0" rIns="0" bIns="0" rtlCol="0" anchor="t"/>
          <a:lstStyle/>
          <a:p>
            <a:pPr indent="0" marL="0">
              <a:buNone/>
            </a:pPr>
            <a:r>
              <a:rPr lang="en-US" sz="1600" b="1" dirty="0">
                <a:solidFill>
                  <a:schemeClr val="accent2"/>
                </a:solidFill>
              </a:rPr>
              <a:t>PERT</a:t>
            </a:r>
            <a:endParaRPr lang="en-US" sz="1400" dirty="0"/>
          </a:p>
          <a:p>
            <a:pPr indent="0" marL="0">
              <a:buNone/>
            </a:pPr>
            <a:r>
              <a:rPr lang="en-US" sz="1300" dirty="0">
                <a:solidFill>
                  <a:schemeClr val="bg1"/>
                </a:solidFill>
              </a:rPr>
              <a:t>incorpora la incertidumbre</a:t>
            </a:r>
            <a:endParaRPr lang="en-US" sz="1400" dirty="0"/>
          </a:p>
        </p:txBody>
      </p:sp>
      <p:sp>
        <p:nvSpPr>
          <p:cNvPr id="9" name="Tarjeta"/>
          <p:cNvSpPr/>
          <p:nvPr/>
        </p:nvSpPr>
        <p:spPr>
          <a:xfrm>
            <a:off x="6720840" y="1417320"/>
            <a:ext cx="1874520" cy="1600200"/>
          </a:xfrm>
          <a:prstGeom prst="roundRect">
            <a:avLst>
              <a:gd name="adj" fmla="val 4571"/>
            </a:avLst>
          </a:prstGeom>
          <a:solidFill>
            <a:schemeClr val="accent1"/>
          </a:solidFill>
          <a:ln/>
        </p:spPr>
      </p:sp>
      <p:sp>
        <p:nvSpPr>
          <p:cNvPr id="10" name="Text 8"/>
          <p:cNvSpPr txBox="1"/>
          <p:nvPr/>
        </p:nvSpPr>
        <p:spPr>
          <a:xfrm>
            <a:off x="6858000" y="1554480"/>
            <a:ext cx="1600200" cy="1371600"/>
          </a:xfrm>
          <a:prstGeom prst="rect">
            <a:avLst/>
          </a:prstGeom>
          <a:noFill/>
          <a:ln/>
        </p:spPr>
        <p:txBody>
          <a:bodyPr wrap="square" lIns="0" tIns="0" rIns="0" bIns="0" rtlCol="0" anchor="t"/>
          <a:lstStyle/>
          <a:p>
            <a:pPr indent="0" marL="0">
              <a:buNone/>
            </a:pPr>
            <a:r>
              <a:rPr lang="en-US" sz="1600" b="1" dirty="0">
                <a:solidFill>
                  <a:schemeClr val="accent2"/>
                </a:solidFill>
              </a:rPr>
              <a:t>Ruta crítica</a:t>
            </a:r>
            <a:endParaRPr lang="en-US" sz="1400" dirty="0"/>
          </a:p>
          <a:p>
            <a:pPr indent="0" marL="0">
              <a:buNone/>
            </a:pPr>
            <a:r>
              <a:rPr lang="en-US" sz="1300" dirty="0">
                <a:solidFill>
                  <a:schemeClr val="bg1"/>
                </a:solidFill>
              </a:rPr>
              <a:t>señala lo que decide la duración y maneja tiempo y costo</a:t>
            </a:r>
            <a:endParaRPr lang="en-US" sz="1400" dirty="0"/>
          </a:p>
        </p:txBody>
      </p:sp>
      <p:sp>
        <p:nvSpPr>
          <p:cNvPr id="11" name="Text 9"/>
          <p:cNvSpPr txBox="1"/>
          <p:nvPr/>
        </p:nvSpPr>
        <p:spPr>
          <a:xfrm>
            <a:off x="548640" y="3291840"/>
            <a:ext cx="8046720" cy="1097280"/>
          </a:xfrm>
          <a:prstGeom prst="rect">
            <a:avLst/>
          </a:prstGeom>
          <a:noFill/>
          <a:ln/>
        </p:spPr>
        <p:txBody>
          <a:bodyPr wrap="square" lIns="0" tIns="0" rIns="0" bIns="0" rtlCol="0" anchor="t"/>
          <a:lstStyle/>
          <a:p>
            <a:pPr indent="0" marL="0">
              <a:buNone/>
            </a:pPr>
            <a:r>
              <a:rPr lang="en-US" sz="1500" dirty="0">
                <a:solidFill>
                  <a:schemeClr val="bg2"/>
                </a:solidFill>
              </a:rPr>
              <a:t>Todo empieza con estándares claros, medibles y alineados. Ninguna herramienta es superior en todos los casos: el gerente las combina según el proyecto, la incertidumbre y los recursos, y aprende de cada desviación.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Referencias</a:t>
            </a:r>
            <a:endParaRPr lang="en-US" sz="3000" dirty="0"/>
          </a:p>
        </p:txBody>
      </p:sp>
      <p:sp>
        <p:nvSpPr>
          <p:cNvPr id="3" name="Text 1"/>
          <p:cNvSpPr txBox="1"/>
          <p:nvPr/>
        </p:nvSpPr>
        <p:spPr>
          <a:xfrm>
            <a:off x="457200" y="1097280"/>
            <a:ext cx="4023360" cy="347472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Camp, R. C. (1989). Benchmarking: The search for industry best practices that lead to superior performance. ASQC Quality Press.</a:t>
            </a:r>
            <a:endParaRPr lang="en-US" sz="1100" dirty="0"/>
          </a:p>
          <a:p>
            <a:pPr indent="0" marL="0">
              <a:spcAft>
                <a:spcPts val="600"/>
              </a:spcAft>
              <a:buNone/>
            </a:pPr>
            <a:r>
              <a:rPr lang="en-US" sz="1100" dirty="0">
                <a:solidFill>
                  <a:schemeClr val="tx1"/>
                </a:solidFill>
              </a:rPr>
              <a:t>Chiavenato, I. (2014). Introducción a la teoría general de la administración (8.ª ed.). McGraw-Hill Interamericana.</a:t>
            </a:r>
            <a:endParaRPr lang="en-US" sz="1100" dirty="0"/>
          </a:p>
          <a:p>
            <a:pPr indent="0" marL="0">
              <a:spcAft>
                <a:spcPts val="600"/>
              </a:spcAft>
              <a:buNone/>
            </a:pPr>
            <a:r>
              <a:rPr lang="en-US" sz="1100" dirty="0">
                <a:solidFill>
                  <a:schemeClr val="tx1"/>
                </a:solidFill>
              </a:rPr>
              <a:t>Clark, W. (1922). The Gantt chart: A working tool of management. The Ronald Press Company.</a:t>
            </a:r>
            <a:endParaRPr lang="en-US" sz="1100" dirty="0"/>
          </a:p>
          <a:p>
            <a:pPr indent="0" marL="0">
              <a:spcAft>
                <a:spcPts val="600"/>
              </a:spcAft>
              <a:buNone/>
            </a:pPr>
            <a:r>
              <a:rPr lang="en-US" sz="1100" dirty="0">
                <a:solidFill>
                  <a:schemeClr val="tx1"/>
                </a:solidFill>
              </a:rPr>
              <a:t>Kelley, J. E., y Walker, M. R. (1959). Critical-path planning and scheduling. En Proceedings of the Eastern Joint Computer Conference (pp. 160–173). Association for Computing Machinery.</a:t>
            </a:r>
            <a:endParaRPr lang="en-US" sz="1100" dirty="0"/>
          </a:p>
          <a:p>
            <a:pPr indent="0" marL="0">
              <a:spcAft>
                <a:spcPts val="600"/>
              </a:spcAft>
              <a:buNone/>
            </a:pPr>
            <a:r>
              <a:rPr lang="en-US" sz="1100" dirty="0">
                <a:solidFill>
                  <a:schemeClr val="tx1"/>
                </a:solidFill>
              </a:rPr>
              <a:t>Kerzner, H. (2017). Project management: A systems approach to planning, scheduling, and controlling (12.ª ed.). Wiley.</a:t>
            </a:r>
            <a:endParaRPr lang="en-US" sz="1100" dirty="0"/>
          </a:p>
        </p:txBody>
      </p:sp>
      <p:sp>
        <p:nvSpPr>
          <p:cNvPr id="4" name="Text 2"/>
          <p:cNvSpPr txBox="1"/>
          <p:nvPr/>
        </p:nvSpPr>
        <p:spPr>
          <a:xfrm>
            <a:off x="4663440" y="1097280"/>
            <a:ext cx="4023360" cy="347472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Koontz, H., Weihrich, H., y Cannice, M. (2017). Administración: Una perspectiva global, empresarial y de innovación (15.ª ed.). McGraw-Hill Education.</a:t>
            </a:r>
            <a:endParaRPr lang="en-US" sz="1100" dirty="0"/>
          </a:p>
          <a:p>
            <a:pPr indent="0" marL="0">
              <a:spcAft>
                <a:spcPts val="600"/>
              </a:spcAft>
              <a:buNone/>
            </a:pPr>
            <a:r>
              <a:rPr lang="en-US" sz="1100" dirty="0">
                <a:solidFill>
                  <a:schemeClr val="tx1"/>
                </a:solidFill>
              </a:rPr>
              <a:t>Malcolm, D. G., Roseboom, J. H., Clark, C. E., y Fazar, W. (1959). Application of a technique for research and development program evaluation. Operations Research, 7(5), 646–669.</a:t>
            </a:r>
            <a:endParaRPr lang="en-US" sz="1100" dirty="0"/>
          </a:p>
          <a:p>
            <a:pPr indent="0" marL="0">
              <a:spcAft>
                <a:spcPts val="600"/>
              </a:spcAft>
              <a:buNone/>
            </a:pPr>
            <a:r>
              <a:rPr lang="en-US" sz="1100" dirty="0">
                <a:solidFill>
                  <a:schemeClr val="tx1"/>
                </a:solidFill>
              </a:rPr>
              <a:t>Project Management Institute. (2021). A guide to the project management body of knowledge (PMBOK guide) (7.ª ed.).</a:t>
            </a:r>
            <a:endParaRPr lang="en-US" sz="1100" dirty="0"/>
          </a:p>
          <a:p>
            <a:pPr indent="0" marL="0">
              <a:spcAft>
                <a:spcPts val="600"/>
              </a:spcAft>
              <a:buNone/>
            </a:pPr>
            <a:r>
              <a:rPr lang="en-US" sz="1100" dirty="0">
                <a:solidFill>
                  <a:schemeClr val="tx1"/>
                </a:solidFill>
              </a:rPr>
              <a:t>Robbins, S. P., y Coulter, M. (2018). Administración (13.ª ed.). Pearson Educación.</a:t>
            </a:r>
            <a:endParaRPr lang="en-US" sz="1100" dirty="0"/>
          </a:p>
        </p:txBody>
      </p:sp>
      <p:sp>
        <p:nvSpPr>
          <p:cNvPr id="5" name="Text 0"/>
          <p:cNvSpPr/>
          <p:nvPr>
            <p:ph idx="101" type="body" hasCustomPrompt="1"/>
          </p:nvPr>
        </p:nvSpPr>
        <p:spPr>
          <a:xfrm>
            <a:off x="457200" y="4709160"/>
            <a:ext cx="6949440"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10058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¿Preguntas?</a:t>
            </a:r>
            <a:endParaRPr lang="en-US" sz="4000" dirty="0"/>
          </a:p>
        </p:txBody>
      </p:sp>
      <p:sp>
        <p:nvSpPr>
          <p:cNvPr id="3" name="Text 0"/>
          <p:cNvSpPr/>
          <p:nvPr>
            <p:ph idx="101" type="body" hasCustomPrompt="1"/>
          </p:nvPr>
        </p:nvSpPr>
        <p:spPr>
          <a:xfrm>
            <a:off x="548640" y="2286000"/>
            <a:ext cx="8046720" cy="457200"/>
          </a:xfrm>
          <a:prstGeom prst="rect">
            <a:avLst/>
          </a:prstGeom>
          <a:noFill/>
          <a:ln/>
        </p:spPr>
        <p:txBody>
          <a:bodyPr wrap="square" lIns="0" tIns="0" rIns="0" bIns="0" rtlCol="0"/>
          <a:lstStyle/>
          <a:p>
            <a:pPr indent="0" marL="0">
              <a:buNone/>
            </a:pPr>
            <a:r>
              <a:rPr lang="en-US" sz="1800" dirty="0">
                <a:solidFill>
                  <a:schemeClr val="accent2"/>
                </a:solidFill>
              </a:rPr>
              <a:t>Gracias por su atención</a:t>
            </a:r>
            <a:endParaRPr lang="en-US" sz="1800" dirty="0"/>
          </a:p>
        </p:txBody>
      </p:sp>
      <p:sp>
        <p:nvSpPr>
          <p:cNvPr id="4" name="Text 0"/>
          <p:cNvSpPr/>
          <p:nvPr>
            <p:ph idx="102" type="body" hasCustomPrompt="1"/>
          </p:nvPr>
        </p:nvSpPr>
        <p:spPr>
          <a:xfrm>
            <a:off x="548640" y="3063240"/>
            <a:ext cx="8046720" cy="1554480"/>
          </a:xfrm>
          <a:prstGeom prst="rect">
            <a:avLst/>
          </a:prstGeom>
          <a:noFill/>
          <a:ln/>
        </p:spPr>
        <p:txBody>
          <a:bodyPr wrap="square" lIns="0" tIns="0" rIns="0" bIns="0" rtlCol="0" anchor="t"/>
          <a:lstStyle/>
          <a:p>
            <a:pPr indent="0" marL="0">
              <a:buNone/>
            </a:pPr>
            <a:r>
              <a:rPr lang="en-US" sz="1300" dirty="0">
                <a:solidFill>
                  <a:schemeClr val="bg2"/>
                </a:solidFill>
              </a:rPr>
              <a:t>Alayla Arbonies · Suheil Collazo · Yadiel Cruz · Niguel Morris-Santiago · Suheily Ramos · Joan Rios</a:t>
            </a:r>
            <a:endParaRPr lang="en-US" sz="1300" dirty="0"/>
          </a:p>
        </p:txBody>
      </p:sp>
    </p:spTree>
  </p:cSld>
  <p:clrMapOvr>
    <a:masterClrMapping/>
  </p:clrMapOvr>
</p:sld>
</file>

<file path=ppt/theme/theme1.xml><?xml version="1.0" encoding="utf-8"?>
<a:theme xmlns:a="http://schemas.openxmlformats.org/drawingml/2006/main" name="Control Administrativo">
  <a:themeElements>
    <a:clrScheme name="Control Administrativo">
      <a:dk1>
        <a:srgbClr val="1B2A2F"/>
      </a:dk1>
      <a:lt1>
        <a:srgbClr val="FFFFFF"/>
      </a:lt1>
      <a:dk2>
        <a:srgbClr val="0F3D3E"/>
      </a:dk2>
      <a:lt2>
        <a:srgbClr val="E8F1EF"/>
      </a:lt2>
      <a:accent1>
        <a:srgbClr val="1F7A73"/>
      </a:accent1>
      <a:accent2>
        <a:srgbClr val="E39B2D"/>
      </a:accent2>
      <a:accent3>
        <a:srgbClr val="C8553D"/>
      </a:accent3>
      <a:accent4>
        <a:srgbClr val="5E7E7A"/>
      </a:accent4>
      <a:accent5>
        <a:srgbClr val="A9C9C3"/>
      </a:accent5>
      <a:accent6>
        <a:srgbClr val="3E4A4F"/>
      </a:accent6>
      <a:hlink>
        <a:srgbClr val="1F7A73"/>
      </a:hlink>
      <a:folHlink>
        <a:srgbClr val="5E7E7A"/>
      </a:folHlink>
    </a:clrScheme>
    <a:fontScheme name="Control Administrativ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Tipos de Control Administrativo</dc:title>
  <dc:subject>PptxGenJS Presentation</dc:subject>
  <dc:creator>Alayla Arbonies, Suheil Collazo, Yadiel Cruz, Niguel Morris-Santiago, Suheily Ramos y Joan Rios</dc:creator>
  <cp:lastModifiedBy>Alayla Arbonies, Suheil Collazo, Yadiel Cruz, Niguel Morris-Santiago, Suheily Ramos y Joan Rios</cp:lastModifiedBy>
  <cp:revision>1</cp:revision>
  <dcterms:created xsi:type="dcterms:W3CDTF">2026-10-26T19:18:53Z</dcterms:created>
  <dcterms:modified xsi:type="dcterms:W3CDTF">2026-10-26T19:18:53Z</dcterms:modified>
</cp:coreProperties>
</file>