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3" name="coverblob"/>
          <p:cNvSpPr/>
          <p:nvPr/>
        </p:nvSpPr>
        <p:spPr>
          <a:xfrm>
            <a:off x="8763000" y="939800"/>
            <a:ext cx="2768600" cy="2768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4" name="coveryellow"/>
          <p:cNvSpPr/>
          <p:nvPr/>
        </p:nvSpPr>
        <p:spPr>
          <a:xfrm>
            <a:off x="10769600" y="1320800"/>
            <a:ext cx="533400" cy="5334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5" name="covermini"/>
          <p:cNvSpPr/>
          <p:nvPr/>
        </p:nvSpPr>
        <p:spPr>
          <a:xfrm>
            <a:off x="8585200" y="3873500"/>
            <a:ext cx="304800" cy="30480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6" name="course"/>
          <p:cNvSpPr txBox="1"/>
          <p:nvPr/>
        </p:nvSpPr>
        <p:spPr>
          <a:xfrm>
            <a:off x="889000" y="660400"/>
            <a:ext cx="825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300" noProof="1" b="1">
                <a:solidFill>
                  <a:srgbClr val="F06449"/>
                </a:solidFill>
                <a:latin typeface="Aptos"/>
                <a:ea typeface="Aptos"/>
              </a:rPr>
              <a:t>INTRODUCCIÓN A LA ADMINISTRACIÓN</a:t>
            </a:r>
            <a:endParaRPr lang="en-US" sz="1300" noProof="1"/>
          </a:p>
        </p:txBody>
      </p:sp>
      <p:sp>
        <p:nvSpPr>
          <p:cNvPr id="7" name="title"/>
          <p:cNvSpPr txBox="1"/>
          <p:nvPr/>
        </p:nvSpPr>
        <p:spPr>
          <a:xfrm>
            <a:off x="889000" y="1422400"/>
            <a:ext cx="8763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0000"/>
              </a:lnSpc>
            </a:pPr>
            <a:r>
              <a:rPr lang="en-US" sz="4600" noProof="1" b="1">
                <a:solidFill>
                  <a:srgbClr val="173F3A"/>
                </a:solidFill>
                <a:latin typeface="Aptos"/>
                <a:ea typeface="Aptos"/>
              </a:rPr>
              <a:t>Tipos de control
administrativo</a:t>
            </a:r>
            <a:endParaRPr lang="en-US" sz="4600" noProof="1"/>
          </a:p>
        </p:txBody>
      </p:sp>
      <p:sp>
        <p:nvSpPr>
          <p:cNvPr id="8" name="sub"/>
          <p:cNvSpPr txBox="1"/>
          <p:nvPr/>
        </p:nvSpPr>
        <p:spPr>
          <a:xfrm>
            <a:off x="914400" y="3289300"/>
            <a:ext cx="7239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2100" noProof="1">
                <a:solidFill>
                  <a:srgbClr val="344B47"/>
                </a:solidFill>
                <a:latin typeface="Aptos"/>
                <a:ea typeface="Aptos"/>
              </a:rPr>
              <a:t>Estándares, benchmarking y técnicas de planificación para dirigir con evidencia.</a:t>
            </a:r>
            <a:endParaRPr lang="en-US" sz="2100" noProof="1"/>
          </a:p>
        </p:txBody>
      </p:sp>
      <p:sp>
        <p:nvSpPr>
          <p:cNvPr id="9" name="cover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914400" y="4483100"/>
            <a:ext cx="6477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73F3A"/>
            </a:solidFill>
          </a:ln>
        </p:spPr>
      </p:sp>
      <p:sp>
        <p:nvSpPr>
          <p:cNvPr id="10" name="task"/>
          <p:cNvSpPr txBox="1"/>
          <p:nvPr/>
        </p:nvSpPr>
        <p:spPr>
          <a:xfrm>
            <a:off x="914400" y="470916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6B7C77"/>
                </a:solidFill>
                <a:latin typeface="Aptos"/>
                <a:ea typeface="Aptos"/>
              </a:rPr>
              <a:t>Tarea previa al Taller #5  ·  Presentación oral grupal</a:t>
            </a:r>
            <a:endParaRPr lang="en-US" sz="1500" noProof="1"/>
          </a:p>
        </p:txBody>
      </p:sp>
      <p:sp>
        <p:nvSpPr>
          <p:cNvPr id="10" name="team"/>
          <p:cNvSpPr txBox="1"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400" noProof="1" b="1">
                <a:solidFill>
                  <a:srgbClr val="6B7C77"/>
                </a:solidFill>
                <a:latin typeface="Aptos"/>
                <a:ea typeface="Aptos"/>
              </a:rPr>
              <a:t>Alayla Arbonies · Suheil Collazo · Yadiel Cruz · Niguel Morris-Santiago · Suheily Ramos · Joan Rios</a:t>
            </a:r>
            <a:endParaRPr lang="en-US" sz="1500" noProof="1"/>
          </a:p>
          <a:p>
            <a:pPr algn="l">
              <a:lnSpc>
                <a:spcPct val="115000"/>
              </a:lnSpc>
            </a:pPr>
            <a:r>
              <a:rPr lang="en-US" sz="1200" noProof="1" b="0">
                <a:solidFill>
                  <a:srgbClr val="6B7C77"/>
                </a:solidFill>
                <a:latin typeface="Aptos"/>
                <a:ea typeface="Aptos"/>
              </a:rPr>
              <a:t>Universidad Ana G. Méndez, Recinto de Cupey · MANA 210 CRN 22460 · Prof. René Berríos · 26 de octubre de 2026</a:t>
            </a:r>
            <a:endParaRPr lang="en-US" sz="1500" noProof="1"/>
          </a:p>
        </p:txBody>
      </p:sp>
      <p:sp>
        <p:nvSpPr>
          <p:cNvPr id="11" name="eye"/>
          <p:cNvSpPr/>
          <p:nvPr>
            <p:extLst>
              <p:ext uri="{F5677B7D-0D2A-4D9B-9A5C-6D8D7D0E5A5D}">
                <pptd:icon encoding="base64url">eyJpY29uTmFtZSI6ImZhczpnYXVnZS1oaWdoIn0</pptd:icon>
              </p:ext>
            </p:extLst>
          </p:nvPr>
        </p:nvSpPr>
        <p:spPr>
          <a:xfrm>
            <a:off x="9474200" y="1727200"/>
            <a:ext cx="1168400" cy="1168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256" y="416"/>
                </a:moveTo>
                <a:cubicBezTo>
                  <a:pt x="291" y="416"/>
                  <a:pt x="320" y="387"/>
                  <a:pt x="320" y="352"/>
                </a:cubicBezTo>
                <a:cubicBezTo>
                  <a:pt x="320" y="336"/>
                  <a:pt x="314" y="321"/>
                  <a:pt x="304" y="310"/>
                </a:cubicBezTo>
                <a:lnTo>
                  <a:pt x="374" y="171"/>
                </a:lnTo>
                <a:cubicBezTo>
                  <a:pt x="379" y="159"/>
                  <a:pt x="375" y="144"/>
                  <a:pt x="363" y="139"/>
                </a:cubicBezTo>
                <a:cubicBezTo>
                  <a:pt x="351" y="133"/>
                  <a:pt x="337" y="137"/>
                  <a:pt x="331" y="149"/>
                </a:cubicBezTo>
                <a:lnTo>
                  <a:pt x="261" y="288"/>
                </a:lnTo>
                <a:cubicBezTo>
                  <a:pt x="259" y="288"/>
                  <a:pt x="258" y="288"/>
                  <a:pt x="256" y="288"/>
                </a:cubicBezTo>
                <a:cubicBezTo>
                  <a:pt x="221" y="288"/>
                  <a:pt x="192" y="317"/>
                  <a:pt x="192" y="352"/>
                </a:cubicBezTo>
                <a:cubicBezTo>
                  <a:pt x="192" y="387"/>
                  <a:pt x="221" y="416"/>
                  <a:pt x="256" y="416"/>
                </a:cubicBezTo>
                <a:close/>
                <a:moveTo>
                  <a:pt x="176" y="144"/>
                </a:moveTo>
                <a:cubicBezTo>
                  <a:pt x="176" y="126"/>
                  <a:pt x="162" y="112"/>
                  <a:pt x="144" y="112"/>
                </a:cubicBezTo>
                <a:cubicBezTo>
                  <a:pt x="126" y="112"/>
                  <a:pt x="112" y="126"/>
                  <a:pt x="112" y="144"/>
                </a:cubicBezTo>
                <a:cubicBezTo>
                  <a:pt x="112" y="162"/>
                  <a:pt x="126" y="176"/>
                  <a:pt x="144" y="176"/>
                </a:cubicBezTo>
                <a:cubicBezTo>
                  <a:pt x="162" y="176"/>
                  <a:pt x="176" y="162"/>
                  <a:pt x="176" y="144"/>
                </a:cubicBezTo>
                <a:close/>
                <a:moveTo>
                  <a:pt x="96" y="288"/>
                </a:moveTo>
                <a:cubicBezTo>
                  <a:pt x="114" y="288"/>
                  <a:pt x="128" y="274"/>
                  <a:pt x="128" y="256"/>
                </a:cubicBezTo>
                <a:cubicBezTo>
                  <a:pt x="128" y="238"/>
                  <a:pt x="114" y="224"/>
                  <a:pt x="96" y="224"/>
                </a:cubicBezTo>
                <a:cubicBezTo>
                  <a:pt x="78" y="224"/>
                  <a:pt x="64" y="238"/>
                  <a:pt x="64" y="256"/>
                </a:cubicBezTo>
                <a:cubicBezTo>
                  <a:pt x="64" y="274"/>
                  <a:pt x="78" y="288"/>
                  <a:pt x="96" y="288"/>
                </a:cubicBezTo>
                <a:close/>
                <a:moveTo>
                  <a:pt x="448" y="256"/>
                </a:moveTo>
                <a:cubicBezTo>
                  <a:pt x="448" y="238"/>
                  <a:pt x="434" y="224"/>
                  <a:pt x="416" y="224"/>
                </a:cubicBezTo>
                <a:cubicBezTo>
                  <a:pt x="398" y="224"/>
                  <a:pt x="384" y="238"/>
                  <a:pt x="384" y="256"/>
                </a:cubicBezTo>
                <a:cubicBezTo>
                  <a:pt x="384" y="274"/>
                  <a:pt x="398" y="288"/>
                  <a:pt x="416" y="288"/>
                </a:cubicBezTo>
                <a:cubicBezTo>
                  <a:pt x="434" y="288"/>
                  <a:pt x="448" y="274"/>
                  <a:pt x="448" y="256"/>
                </a:cubicBezTo>
                <a:close/>
              </a:path>
            </a:pathLst>
          </a:custGeom>
          <a:solidFill>
            <a:srgbClr val="173F3A"/>
          </a:solidFill>
          <a:ln>
            <a:noFill/>
          </a:ln>
        </p:spPr>
      </p:sp>
      <p:sp>
        <p:nvSpPr>
          <p:cNvPr id="12" name="c1"/>
          <p:cNvSpPr/>
          <p:nvPr>
            <p:extLst>
              <p:ext uri="{F5677B7D-0D2A-4D9B-9A5C-6D8D7D0E5A5D}">
                <pptd:line encoding="base64url">eyJ2aWV3Qm94IjpbMSwxXSwicG9pbnRzIjoiMCwwIDAsMSIsImN1cnZlIjoic2hhcnAifQ</pptd:line>
              </p:ext>
            </p:extLst>
          </p:nvPr>
        </p:nvSpPr>
        <p:spPr>
          <a:xfrm>
            <a:off x="10033000" y="2984500"/>
            <a:ext cx="12700" cy="685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38100">
            <a:solidFill>
              <a:srgbClr val="F06449"/>
            </a:solidFill>
          </a:ln>
        </p:spPr>
      </p:sp>
      <p:sp>
        <p:nvSpPr>
          <p:cNvPr id="13" name="side"/>
          <p:cNvSpPr txBox="1"/>
          <p:nvPr/>
        </p:nvSpPr>
        <p:spPr>
          <a:xfrm>
            <a:off x="9055100" y="3937000"/>
            <a:ext cx="21336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2500" noProof="1" b="1">
                <a:solidFill>
                  <a:srgbClr val="173F3A"/>
                </a:solidFill>
                <a:latin typeface="Aptos"/>
                <a:ea typeface="Aptos"/>
              </a:rPr>
              <a:t>Medir.
Comparar.
Mejorar.</a:t>
            </a:r>
            <a:endParaRPr lang="en-US" sz="25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RUTA DE APRENDIZAJE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Al final podrás elegir la herramienta de control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02</a:t>
            </a:r>
            <a:endParaRPr lang="en-US" sz="1100" noProof="1"/>
          </a:p>
        </p:txBody>
      </p:sp>
      <p:sp>
        <p:nvSpPr>
          <p:cNvPr id="10" name="i0"/>
          <p:cNvSpPr/>
          <p:nvPr>
            <p:extLst>
              <p:ext uri="{F5677B7D-0D2A-4D9B-9A5C-6D8D7D0E5A5D}">
                <pptd:icon encoding="base64url">eyJpY29uTmFtZSI6ImZhczphcnJvd3Mtcm90YXRlIn0</pptd:icon>
              </p:ext>
            </p:extLst>
          </p:nvPr>
        </p:nvSpPr>
        <p:spPr>
          <a:xfrm>
            <a:off x="787400" y="2032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11" name="n0"/>
          <p:cNvSpPr txBox="1"/>
          <p:nvPr/>
        </p:nvSpPr>
        <p:spPr>
          <a:xfrm>
            <a:off x="1473200" y="2032000"/>
            <a:ext cx="533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01</a:t>
            </a:r>
            <a:endParaRPr lang="en-US" sz="1500" noProof="1"/>
          </a:p>
        </p:txBody>
      </p:sp>
      <p:sp>
        <p:nvSpPr>
          <p:cNvPr id="12" name="h0"/>
          <p:cNvSpPr txBox="1"/>
          <p:nvPr/>
        </p:nvSpPr>
        <p:spPr>
          <a:xfrm>
            <a:off x="2095500" y="20066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100" noProof="1" b="1">
                <a:solidFill>
                  <a:srgbClr val="173F3A"/>
                </a:solidFill>
                <a:latin typeface="Aptos"/>
                <a:ea typeface="Aptos"/>
              </a:rPr>
              <a:t>Comprender</a:t>
            </a:r>
            <a:endParaRPr lang="en-US" sz="2100" noProof="1"/>
          </a:p>
        </p:txBody>
      </p:sp>
      <p:sp>
        <p:nvSpPr>
          <p:cNvPr id="13" name="b0"/>
          <p:cNvSpPr txBox="1"/>
          <p:nvPr/>
        </p:nvSpPr>
        <p:spPr>
          <a:xfrm>
            <a:off x="4419600" y="20193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Explicar el control como parte del proceso administrativo.</a:t>
            </a:r>
            <a:endParaRPr lang="en-US" sz="1700" noProof="1"/>
          </a:p>
        </p:txBody>
      </p:sp>
      <p:sp>
        <p:nvSpPr>
          <p:cNvPr id="14" name="l0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1473200" y="2857500"/>
            <a:ext cx="9398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15" name="i1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787400" y="3302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16" name="n1"/>
          <p:cNvSpPr txBox="1"/>
          <p:nvPr/>
        </p:nvSpPr>
        <p:spPr>
          <a:xfrm>
            <a:off x="1473200" y="3302000"/>
            <a:ext cx="533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02</a:t>
            </a:r>
            <a:endParaRPr lang="en-US" sz="1500" noProof="1"/>
          </a:p>
        </p:txBody>
      </p:sp>
      <p:sp>
        <p:nvSpPr>
          <p:cNvPr id="17" name="h1"/>
          <p:cNvSpPr txBox="1"/>
          <p:nvPr/>
        </p:nvSpPr>
        <p:spPr>
          <a:xfrm>
            <a:off x="2095500" y="32766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100" noProof="1" b="1">
                <a:solidFill>
                  <a:srgbClr val="173F3A"/>
                </a:solidFill>
                <a:latin typeface="Aptos"/>
                <a:ea typeface="Aptos"/>
              </a:rPr>
              <a:t>Distinguir</a:t>
            </a:r>
            <a:endParaRPr lang="en-US" sz="2100" noProof="1"/>
          </a:p>
        </p:txBody>
      </p:sp>
      <p:sp>
        <p:nvSpPr>
          <p:cNvPr id="18" name="b1"/>
          <p:cNvSpPr txBox="1"/>
          <p:nvPr/>
        </p:nvSpPr>
        <p:spPr>
          <a:xfrm>
            <a:off x="4419600" y="32893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Diferenciar estándares, benchmarking, Gantt, PERT y CPM.</a:t>
            </a:r>
            <a:endParaRPr lang="en-US" sz="1700" noProof="1"/>
          </a:p>
        </p:txBody>
      </p:sp>
      <p:sp>
        <p:nvSpPr>
          <p:cNvPr id="19" name="l1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1473200" y="4127500"/>
            <a:ext cx="9398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0" name="i2"/>
          <p:cNvSpPr/>
          <p:nvPr>
            <p:extLst>
              <p:ext uri="{F5677B7D-0D2A-4D9B-9A5C-6D8D7D0E5A5D}">
                <pptd:icon encoding="base64url">eyJpY29uTmFtZSI6ImZhczpjbGlwYm9hcmQtY2hlY2sifQ</pptd:icon>
              </p:ext>
            </p:extLst>
          </p:nvPr>
        </p:nvSpPr>
        <p:spPr>
          <a:xfrm>
            <a:off x="787400" y="45720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6" y="0"/>
                </a:moveTo>
                <a:cubicBezTo>
                  <a:pt x="280" y="0"/>
                  <a:pt x="300" y="13"/>
                  <a:pt x="311" y="32"/>
                </a:cubicBez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lose/>
                <a:moveTo>
                  <a:pt x="283" y="213"/>
                </a:moveTo>
                <a:cubicBezTo>
                  <a:pt x="272" y="205"/>
                  <a:pt x="257" y="207"/>
                  <a:pt x="249" y="218"/>
                </a:cubicBezTo>
                <a:lnTo>
                  <a:pt x="164" y="336"/>
                </a:lnTo>
                <a:lnTo>
                  <a:pt x="137" y="308"/>
                </a:lnTo>
                <a:cubicBezTo>
                  <a:pt x="128" y="299"/>
                  <a:pt x="113" y="298"/>
                  <a:pt x="103" y="308"/>
                </a:cubicBezTo>
                <a:cubicBezTo>
                  <a:pt x="94" y="317"/>
                  <a:pt x="94" y="332"/>
                  <a:pt x="103" y="342"/>
                </a:cubicBezTo>
                <a:lnTo>
                  <a:pt x="149" y="390"/>
                </a:lnTo>
                <a:cubicBezTo>
                  <a:pt x="154" y="395"/>
                  <a:pt x="161" y="397"/>
                  <a:pt x="168" y="397"/>
                </a:cubicBezTo>
                <a:cubicBezTo>
                  <a:pt x="175" y="396"/>
                  <a:pt x="182" y="393"/>
                  <a:pt x="186" y="387"/>
                </a:cubicBezTo>
                <a:lnTo>
                  <a:pt x="288" y="246"/>
                </a:lnTo>
                <a:cubicBezTo>
                  <a:pt x="296" y="235"/>
                  <a:pt x="294" y="220"/>
                  <a:pt x="283" y="213"/>
                </a:cubicBezTo>
                <a:close/>
                <a:moveTo>
                  <a:pt x="136" y="64"/>
                </a:move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21" name="n2"/>
          <p:cNvSpPr txBox="1"/>
          <p:nvPr/>
        </p:nvSpPr>
        <p:spPr>
          <a:xfrm>
            <a:off x="1473200" y="4572000"/>
            <a:ext cx="533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03</a:t>
            </a:r>
            <a:endParaRPr lang="en-US" sz="1500" noProof="1"/>
          </a:p>
        </p:txBody>
      </p:sp>
      <p:sp>
        <p:nvSpPr>
          <p:cNvPr id="22" name="h2"/>
          <p:cNvSpPr txBox="1"/>
          <p:nvPr/>
        </p:nvSpPr>
        <p:spPr>
          <a:xfrm>
            <a:off x="2095500" y="45466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100" noProof="1" b="1">
                <a:solidFill>
                  <a:srgbClr val="173F3A"/>
                </a:solidFill>
                <a:latin typeface="Aptos"/>
                <a:ea typeface="Aptos"/>
              </a:rPr>
              <a:t>Aplicar</a:t>
            </a:r>
            <a:endParaRPr lang="en-US" sz="2100" noProof="1"/>
          </a:p>
        </p:txBody>
      </p:sp>
      <p:sp>
        <p:nvSpPr>
          <p:cNvPr id="23" name="b2"/>
          <p:cNvSpPr txBox="1"/>
          <p:nvPr/>
        </p:nvSpPr>
        <p:spPr>
          <a:xfrm>
            <a:off x="4419600" y="45593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Seleccionar una herramienta según el problema y justificar la decisión.</a:t>
            </a:r>
            <a:endParaRPr lang="en-US" sz="1700" noProof="1"/>
          </a:p>
        </p:txBody>
      </p:sp>
      <p:sp>
        <p:nvSpPr>
          <p:cNvPr id="24" name="l2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1473200" y="5397500"/>
            <a:ext cx="9398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5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6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27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FUNCIÓN ADMINISTRATIVA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El control conecta los resultados con las decisiones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03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Fuente: Robbins y Coulter (2018).</a:t>
            </a:r>
            <a:endParaRPr lang="en-US" sz="900" noProof="1"/>
          </a:p>
        </p:txBody>
      </p:sp>
      <p:sp>
        <p:nvSpPr>
          <p:cNvPr id="11" name="i0"/>
          <p:cNvSpPr/>
          <p:nvPr>
            <p:extLst>
              <p:ext uri="{F5677B7D-0D2A-4D9B-9A5C-6D8D7D0E5A5D}">
                <pptd:icon encoding="base64url">eyJpY29uTmFtZSI6ImZhczpidWxsc2V5ZSJ9</pptd:icon>
              </p:ext>
            </p:extLst>
          </p:nvPr>
        </p:nvSpPr>
        <p:spPr>
          <a:xfrm>
            <a:off x="825500" y="22606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48" y="256"/>
                </a:moveTo>
                <a:cubicBezTo>
                  <a:pt x="448" y="150"/>
                  <a:pt x="362" y="64"/>
                  <a:pt x="256" y="64"/>
                </a:cubicBezTo>
                <a:cubicBezTo>
                  <a:pt x="150" y="64"/>
                  <a:pt x="64" y="150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362" y="448"/>
                  <a:pt x="448" y="362"/>
                  <a:pt x="448" y="256"/>
                </a:cubicBezTo>
                <a:close/>
              </a:path>
              <a:path w="512" h="512">
                <a:moveTo>
                  <a:pt x="256" y="112"/>
                </a:moveTo>
                <a:cubicBezTo>
                  <a:pt x="336" y="112"/>
                  <a:pt x="400" y="176"/>
                  <a:pt x="400" y="256"/>
                </a:cubicBezTo>
                <a:cubicBezTo>
                  <a:pt x="400" y="336"/>
                  <a:pt x="336" y="400"/>
                  <a:pt x="256" y="400"/>
                </a:cubicBezTo>
                <a:cubicBezTo>
                  <a:pt x="176" y="400"/>
                  <a:pt x="112" y="336"/>
                  <a:pt x="112" y="256"/>
                </a:cubicBezTo>
                <a:cubicBezTo>
                  <a:pt x="112" y="176"/>
                  <a:pt x="176" y="112"/>
                  <a:pt x="256" y="112"/>
                </a:cubicBezTo>
                <a:close/>
                <a:moveTo>
                  <a:pt x="256" y="336"/>
                </a:moveTo>
                <a:cubicBezTo>
                  <a:pt x="300" y="336"/>
                  <a:pt x="336" y="300"/>
                  <a:pt x="336" y="256"/>
                </a:cubicBezTo>
                <a:cubicBezTo>
                  <a:pt x="336" y="212"/>
                  <a:pt x="300" y="176"/>
                  <a:pt x="256" y="176"/>
                </a:cubicBezTo>
                <a:cubicBezTo>
                  <a:pt x="212" y="176"/>
                  <a:pt x="176" y="212"/>
                  <a:pt x="176" y="256"/>
                </a:cubicBezTo>
                <a:cubicBezTo>
                  <a:pt x="176" y="300"/>
                  <a:pt x="212" y="336"/>
                  <a:pt x="256" y="33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cubicBezTo>
                  <a:pt x="274" y="224"/>
                  <a:pt x="288" y="238"/>
                  <a:pt x="288" y="256"/>
                </a:cubicBezTo>
                <a:cubicBezTo>
                  <a:pt x="288" y="274"/>
                  <a:pt x="274" y="288"/>
                  <a:pt x="256" y="288"/>
                </a:cubicBezTo>
                <a:cubicBezTo>
                  <a:pt x="238" y="288"/>
                  <a:pt x="224" y="274"/>
                  <a:pt x="224" y="256"/>
                </a:cubicBezTo>
                <a:close/>
              </a:path>
            </a:pathLst>
          </a:custGeom>
          <a:solidFill>
            <a:srgbClr val="173F3A"/>
          </a:solidFill>
          <a:ln>
            <a:noFill/>
          </a:ln>
        </p:spPr>
      </p:sp>
      <p:sp>
        <p:nvSpPr>
          <p:cNvPr id="12" name="h0"/>
          <p:cNvSpPr txBox="1"/>
          <p:nvPr/>
        </p:nvSpPr>
        <p:spPr>
          <a:xfrm>
            <a:off x="762000" y="30353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Planificación</a:t>
            </a:r>
            <a:endParaRPr lang="en-US" sz="1900" noProof="1"/>
          </a:p>
        </p:txBody>
      </p:sp>
      <p:sp>
        <p:nvSpPr>
          <p:cNvPr id="13" name="b0"/>
          <p:cNvSpPr txBox="1"/>
          <p:nvPr/>
        </p:nvSpPr>
        <p:spPr>
          <a:xfrm>
            <a:off x="762000" y="3429000"/>
            <a:ext cx="19685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6B7C77"/>
                </a:solidFill>
                <a:latin typeface="Aptos"/>
                <a:ea typeface="Aptos"/>
              </a:rPr>
              <a:t>Define metas</a:t>
            </a:r>
            <a:endParaRPr lang="en-US" sz="1500" noProof="1"/>
          </a:p>
        </p:txBody>
      </p:sp>
      <p:sp>
        <p:nvSpPr>
          <p:cNvPr id="14" name="a0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2667000" y="2527300"/>
            <a:ext cx="698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F06449"/>
            </a:solidFill>
            <a:tailEnd type="arrow"/>
          </a:ln>
        </p:spPr>
      </p:sp>
      <p:sp>
        <p:nvSpPr>
          <p:cNvPr id="15" name="i1"/>
          <p:cNvSpPr/>
          <p:nvPr>
            <p:extLst>
              <p:ext uri="{F5677B7D-0D2A-4D9B-9A5C-6D8D7D0E5A5D}">
                <pptd:icon encoding="base64url">eyJpY29uTmFtZSI6ImZhczpzaXRlbWFwIn0</pptd:icon>
              </p:ext>
            </p:extLst>
          </p:nvPr>
        </p:nvSpPr>
        <p:spPr>
          <a:xfrm>
            <a:off x="3619500" y="22606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92" y="64"/>
                </a:moveTo>
                <a:cubicBezTo>
                  <a:pt x="192" y="46"/>
                  <a:pt x="206" y="32"/>
                  <a:pt x="224" y="32"/>
                </a:cubicBezTo>
                <a:lnTo>
                  <a:pt x="288" y="32"/>
                </a:lnTo>
                <a:cubicBezTo>
                  <a:pt x="306" y="32"/>
                  <a:pt x="320" y="46"/>
                  <a:pt x="320" y="64"/>
                </a:cubicBezTo>
                <a:lnTo>
                  <a:pt x="320" y="128"/>
                </a:lnTo>
                <a:cubicBezTo>
                  <a:pt x="320" y="146"/>
                  <a:pt x="306" y="160"/>
                  <a:pt x="288" y="160"/>
                </a:cubicBezTo>
                <a:lnTo>
                  <a:pt x="280" y="160"/>
                </a:lnTo>
                <a:lnTo>
                  <a:pt x="280" y="224"/>
                </a:lnTo>
                <a:lnTo>
                  <a:pt x="400" y="224"/>
                </a:lnTo>
                <a:cubicBezTo>
                  <a:pt x="440" y="224"/>
                  <a:pt x="472" y="256"/>
                  <a:pt x="472" y="296"/>
                </a:cubicBezTo>
                <a:lnTo>
                  <a:pt x="472" y="352"/>
                </a:lnTo>
                <a:lnTo>
                  <a:pt x="480" y="352"/>
                </a:lnTo>
                <a:cubicBezTo>
                  <a:pt x="498" y="352"/>
                  <a:pt x="512" y="366"/>
                  <a:pt x="512" y="384"/>
                </a:cubicBezTo>
                <a:lnTo>
                  <a:pt x="512" y="448"/>
                </a:lnTo>
                <a:cubicBezTo>
                  <a:pt x="512" y="466"/>
                  <a:pt x="498" y="480"/>
                  <a:pt x="480" y="480"/>
                </a:cubicBezTo>
                <a:lnTo>
                  <a:pt x="416" y="480"/>
                </a:lnTo>
                <a:cubicBezTo>
                  <a:pt x="398" y="480"/>
                  <a:pt x="384" y="466"/>
                  <a:pt x="384" y="448"/>
                </a:cubicBezTo>
                <a:lnTo>
                  <a:pt x="384" y="384"/>
                </a:lnTo>
                <a:cubicBezTo>
                  <a:pt x="384" y="366"/>
                  <a:pt x="398" y="352"/>
                  <a:pt x="416" y="352"/>
                </a:cubicBezTo>
                <a:lnTo>
                  <a:pt x="424" y="352"/>
                </a:lnTo>
                <a:lnTo>
                  <a:pt x="424" y="296"/>
                </a:lnTo>
                <a:cubicBezTo>
                  <a:pt x="424" y="283"/>
                  <a:pt x="413" y="272"/>
                  <a:pt x="400" y="272"/>
                </a:cubicBezTo>
                <a:lnTo>
                  <a:pt x="280" y="272"/>
                </a:lnTo>
                <a:lnTo>
                  <a:pt x="280" y="352"/>
                </a:lnTo>
                <a:lnTo>
                  <a:pt x="288" y="352"/>
                </a:lnTo>
                <a:cubicBezTo>
                  <a:pt x="306" y="352"/>
                  <a:pt x="320" y="366"/>
                  <a:pt x="320" y="384"/>
                </a:cubicBezTo>
                <a:lnTo>
                  <a:pt x="320" y="448"/>
                </a:lnTo>
                <a:cubicBezTo>
                  <a:pt x="320" y="466"/>
                  <a:pt x="306" y="480"/>
                  <a:pt x="288" y="480"/>
                </a:cubicBezTo>
                <a:lnTo>
                  <a:pt x="224" y="480"/>
                </a:lnTo>
                <a:cubicBezTo>
                  <a:pt x="206" y="480"/>
                  <a:pt x="192" y="466"/>
                  <a:pt x="192" y="448"/>
                </a:cubicBezTo>
                <a:lnTo>
                  <a:pt x="192" y="384"/>
                </a:lnTo>
                <a:cubicBezTo>
                  <a:pt x="192" y="366"/>
                  <a:pt x="206" y="352"/>
                  <a:pt x="224" y="352"/>
                </a:cubicBezTo>
                <a:lnTo>
                  <a:pt x="232" y="352"/>
                </a:lnTo>
                <a:lnTo>
                  <a:pt x="232" y="272"/>
                </a:lnTo>
                <a:lnTo>
                  <a:pt x="112" y="272"/>
                </a:lnTo>
                <a:cubicBezTo>
                  <a:pt x="99" y="272"/>
                  <a:pt x="88" y="283"/>
                  <a:pt x="88" y="296"/>
                </a:cubicBezTo>
                <a:lnTo>
                  <a:pt x="88" y="352"/>
                </a:lnTo>
                <a:lnTo>
                  <a:pt x="96" y="352"/>
                </a:lnTo>
                <a:cubicBezTo>
                  <a:pt x="114" y="352"/>
                  <a:pt x="128" y="366"/>
                  <a:pt x="128" y="384"/>
                </a:cubicBezTo>
                <a:lnTo>
                  <a:pt x="128" y="448"/>
                </a:lnTo>
                <a:cubicBezTo>
                  <a:pt x="128" y="466"/>
                  <a:pt x="114" y="480"/>
                  <a:pt x="96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384"/>
                </a:lnTo>
                <a:cubicBezTo>
                  <a:pt x="0" y="366"/>
                  <a:pt x="14" y="352"/>
                  <a:pt x="32" y="352"/>
                </a:cubicBezTo>
                <a:lnTo>
                  <a:pt x="40" y="352"/>
                </a:lnTo>
                <a:lnTo>
                  <a:pt x="40" y="296"/>
                </a:lnTo>
                <a:cubicBezTo>
                  <a:pt x="40" y="256"/>
                  <a:pt x="72" y="224"/>
                  <a:pt x="112" y="224"/>
                </a:cubicBezTo>
                <a:lnTo>
                  <a:pt x="232" y="224"/>
                </a:lnTo>
                <a:lnTo>
                  <a:pt x="232" y="160"/>
                </a:lnTo>
                <a:lnTo>
                  <a:pt x="224" y="160"/>
                </a:lnTo>
                <a:cubicBezTo>
                  <a:pt x="206" y="160"/>
                  <a:pt x="192" y="146"/>
                  <a:pt x="192" y="128"/>
                </a:cubicBezTo>
                <a:lnTo>
                  <a:pt x="192" y="64"/>
                </a:lnTo>
                <a:close/>
              </a:path>
            </a:pathLst>
          </a:custGeom>
          <a:solidFill>
            <a:srgbClr val="173F3A"/>
          </a:solidFill>
          <a:ln>
            <a:noFill/>
          </a:ln>
        </p:spPr>
      </p:sp>
      <p:sp>
        <p:nvSpPr>
          <p:cNvPr id="16" name="h1"/>
          <p:cNvSpPr txBox="1"/>
          <p:nvPr/>
        </p:nvSpPr>
        <p:spPr>
          <a:xfrm>
            <a:off x="3556000" y="30353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Organización</a:t>
            </a:r>
            <a:endParaRPr lang="en-US" sz="1900" noProof="1"/>
          </a:p>
        </p:txBody>
      </p:sp>
      <p:sp>
        <p:nvSpPr>
          <p:cNvPr id="17" name="b1"/>
          <p:cNvSpPr txBox="1"/>
          <p:nvPr/>
        </p:nvSpPr>
        <p:spPr>
          <a:xfrm>
            <a:off x="3556000" y="3429000"/>
            <a:ext cx="19685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6B7C77"/>
                </a:solidFill>
                <a:latin typeface="Aptos"/>
                <a:ea typeface="Aptos"/>
              </a:rPr>
              <a:t>Asigna recursos</a:t>
            </a:r>
            <a:endParaRPr lang="en-US" sz="1500" noProof="1"/>
          </a:p>
        </p:txBody>
      </p:sp>
      <p:sp>
        <p:nvSpPr>
          <p:cNvPr id="18" name="a1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5461000" y="2527300"/>
            <a:ext cx="698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F06449"/>
            </a:solidFill>
            <a:tailEnd type="arrow"/>
          </a:ln>
        </p:spPr>
      </p:sp>
      <p:sp>
        <p:nvSpPr>
          <p:cNvPr id="19" name="i2"/>
          <p:cNvSpPr/>
          <p:nvPr>
            <p:extLst>
              <p:ext uri="{F5677B7D-0D2A-4D9B-9A5C-6D8D7D0E5A5D}">
                <pptd:icon encoding="base64url">eyJpY29uTmFtZSI6ImZhczpwZW9wbGUtZ3JvdXAifQ</pptd:icon>
              </p:ext>
            </p:extLst>
          </p:nvPr>
        </p:nvSpPr>
        <p:spPr>
          <a:xfrm>
            <a:off x="6413500" y="22606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91" y="0"/>
                  <a:pt x="320" y="29"/>
                  <a:pt x="320" y="64"/>
                </a:cubicBezTo>
                <a:cubicBezTo>
                  <a:pt x="320" y="99"/>
                  <a:pt x="291" y="128"/>
                  <a:pt x="256" y="128"/>
                </a:cubicBezTo>
                <a:cubicBezTo>
                  <a:pt x="221" y="128"/>
                  <a:pt x="192" y="99"/>
                  <a:pt x="192" y="64"/>
                </a:cubicBezTo>
                <a:cubicBezTo>
                  <a:pt x="192" y="29"/>
                  <a:pt x="221" y="0"/>
                  <a:pt x="256" y="0"/>
                </a:cubicBezTo>
                <a:close/>
              </a:path>
              <a:path w="512" h="512">
                <a:moveTo>
                  <a:pt x="352" y="312"/>
                </a:moveTo>
                <a:cubicBezTo>
                  <a:pt x="352" y="337"/>
                  <a:pt x="339" y="359"/>
                  <a:pt x="320" y="372"/>
                </a:cubicBezTo>
                <a:lnTo>
                  <a:pt x="320" y="464"/>
                </a:lnTo>
                <a:cubicBezTo>
                  <a:pt x="320" y="491"/>
                  <a:pt x="299" y="512"/>
                  <a:pt x="272" y="512"/>
                </a:cubicBezTo>
                <a:lnTo>
                  <a:pt x="240" y="512"/>
                </a:lnTo>
                <a:cubicBezTo>
                  <a:pt x="214" y="512"/>
                  <a:pt x="192" y="491"/>
                  <a:pt x="192" y="464"/>
                </a:cubicBezTo>
                <a:lnTo>
                  <a:pt x="192" y="372"/>
                </a:lnTo>
                <a:cubicBezTo>
                  <a:pt x="173" y="359"/>
                  <a:pt x="160" y="337"/>
                  <a:pt x="160" y="312"/>
                </a:cubicBezTo>
                <a:lnTo>
                  <a:pt x="160" y="272"/>
                </a:lnTo>
                <a:cubicBezTo>
                  <a:pt x="160" y="219"/>
                  <a:pt x="203" y="176"/>
                  <a:pt x="256" y="176"/>
                </a:cubicBezTo>
                <a:cubicBezTo>
                  <a:pt x="309" y="176"/>
                  <a:pt x="352" y="219"/>
                  <a:pt x="352" y="272"/>
                </a:cubicBezTo>
                <a:lnTo>
                  <a:pt x="352" y="312"/>
                </a:lnTo>
                <a:close/>
              </a:path>
              <a:path w="512" h="512">
                <a:moveTo>
                  <a:pt x="96" y="32"/>
                </a:moveTo>
                <a:cubicBezTo>
                  <a:pt x="127" y="32"/>
                  <a:pt x="152" y="57"/>
                  <a:pt x="152" y="88"/>
                </a:cubicBezTo>
                <a:cubicBezTo>
                  <a:pt x="152" y="119"/>
                  <a:pt x="127" y="144"/>
                  <a:pt x="96" y="144"/>
                </a:cubicBezTo>
                <a:cubicBezTo>
                  <a:pt x="65" y="144"/>
                  <a:pt x="40" y="119"/>
                  <a:pt x="40" y="88"/>
                </a:cubicBezTo>
                <a:cubicBezTo>
                  <a:pt x="40" y="57"/>
                  <a:pt x="65" y="32"/>
                  <a:pt x="96" y="32"/>
                </a:cubicBezTo>
                <a:close/>
              </a:path>
              <a:path w="512" h="512">
                <a:moveTo>
                  <a:pt x="112" y="272"/>
                </a:moveTo>
                <a:lnTo>
                  <a:pt x="112" y="304"/>
                </a:lnTo>
                <a:cubicBezTo>
                  <a:pt x="112" y="337"/>
                  <a:pt x="124" y="366"/>
                  <a:pt x="144" y="389"/>
                </a:cubicBezTo>
                <a:lnTo>
                  <a:pt x="144" y="464"/>
                </a:lnTo>
                <a:cubicBezTo>
                  <a:pt x="144" y="465"/>
                  <a:pt x="144" y="467"/>
                  <a:pt x="144" y="468"/>
                </a:cubicBezTo>
                <a:cubicBezTo>
                  <a:pt x="136" y="475"/>
                  <a:pt x="124" y="480"/>
                  <a:pt x="112" y="480"/>
                </a:cubicBezTo>
                <a:lnTo>
                  <a:pt x="80" y="480"/>
                </a:lnTo>
                <a:cubicBezTo>
                  <a:pt x="54" y="480"/>
                  <a:pt x="32" y="459"/>
                  <a:pt x="32" y="432"/>
                </a:cubicBezTo>
                <a:lnTo>
                  <a:pt x="32" y="375"/>
                </a:lnTo>
                <a:cubicBezTo>
                  <a:pt x="13" y="364"/>
                  <a:pt x="0" y="344"/>
                  <a:pt x="0" y="320"/>
                </a:cubicBezTo>
                <a:lnTo>
                  <a:pt x="0" y="288"/>
                </a:lnTo>
                <a:cubicBezTo>
                  <a:pt x="0" y="235"/>
                  <a:pt x="43" y="192"/>
                  <a:pt x="96" y="192"/>
                </a:cubicBezTo>
                <a:cubicBezTo>
                  <a:pt x="109" y="192"/>
                  <a:pt x="121" y="195"/>
                  <a:pt x="132" y="199"/>
                </a:cubicBezTo>
                <a:cubicBezTo>
                  <a:pt x="119" y="220"/>
                  <a:pt x="112" y="245"/>
                  <a:pt x="112" y="272"/>
                </a:cubicBezTo>
                <a:close/>
              </a:path>
              <a:path w="512" h="512">
                <a:moveTo>
                  <a:pt x="368" y="464"/>
                </a:moveTo>
                <a:lnTo>
                  <a:pt x="368" y="389"/>
                </a:lnTo>
                <a:cubicBezTo>
                  <a:pt x="388" y="366"/>
                  <a:pt x="400" y="337"/>
                  <a:pt x="400" y="304"/>
                </a:cubicBezTo>
                <a:lnTo>
                  <a:pt x="400" y="272"/>
                </a:lnTo>
                <a:cubicBezTo>
                  <a:pt x="400" y="245"/>
                  <a:pt x="393" y="220"/>
                  <a:pt x="380" y="199"/>
                </a:cubicBezTo>
                <a:cubicBezTo>
                  <a:pt x="391" y="194"/>
                  <a:pt x="403" y="192"/>
                  <a:pt x="416" y="192"/>
                </a:cubicBezTo>
                <a:cubicBezTo>
                  <a:pt x="469" y="192"/>
                  <a:pt x="512" y="235"/>
                  <a:pt x="512" y="288"/>
                </a:cubicBezTo>
                <a:lnTo>
                  <a:pt x="512" y="320"/>
                </a:lnTo>
                <a:cubicBezTo>
                  <a:pt x="512" y="344"/>
                  <a:pt x="499" y="364"/>
                  <a:pt x="480" y="375"/>
                </a:cubicBezTo>
                <a:lnTo>
                  <a:pt x="480" y="432"/>
                </a:lnTo>
                <a:cubicBezTo>
                  <a:pt x="480" y="459"/>
                  <a:pt x="459" y="480"/>
                  <a:pt x="432" y="480"/>
                </a:cubicBezTo>
                <a:lnTo>
                  <a:pt x="400" y="480"/>
                </a:lnTo>
                <a:cubicBezTo>
                  <a:pt x="388" y="480"/>
                  <a:pt x="376" y="475"/>
                  <a:pt x="368" y="468"/>
                </a:cubicBezTo>
                <a:cubicBezTo>
                  <a:pt x="368" y="467"/>
                  <a:pt x="368" y="465"/>
                  <a:pt x="368" y="464"/>
                </a:cubicBezTo>
                <a:close/>
              </a:path>
              <a:path w="512" h="512">
                <a:moveTo>
                  <a:pt x="416" y="32"/>
                </a:moveTo>
                <a:cubicBezTo>
                  <a:pt x="447" y="32"/>
                  <a:pt x="472" y="57"/>
                  <a:pt x="472" y="88"/>
                </a:cubicBezTo>
                <a:cubicBezTo>
                  <a:pt x="472" y="119"/>
                  <a:pt x="447" y="144"/>
                  <a:pt x="416" y="144"/>
                </a:cubicBezTo>
                <a:cubicBezTo>
                  <a:pt x="385" y="144"/>
                  <a:pt x="360" y="119"/>
                  <a:pt x="360" y="88"/>
                </a:cubicBezTo>
                <a:cubicBezTo>
                  <a:pt x="360" y="57"/>
                  <a:pt x="385" y="32"/>
                  <a:pt x="416" y="32"/>
                </a:cubicBezTo>
                <a:close/>
              </a:path>
            </a:pathLst>
          </a:custGeom>
          <a:solidFill>
            <a:srgbClr val="173F3A"/>
          </a:solidFill>
          <a:ln>
            <a:noFill/>
          </a:ln>
        </p:spPr>
      </p:sp>
      <p:sp>
        <p:nvSpPr>
          <p:cNvPr id="20" name="h2"/>
          <p:cNvSpPr txBox="1"/>
          <p:nvPr/>
        </p:nvSpPr>
        <p:spPr>
          <a:xfrm>
            <a:off x="6350000" y="30353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Dirección</a:t>
            </a:r>
            <a:endParaRPr lang="en-US" sz="1900" noProof="1"/>
          </a:p>
        </p:txBody>
      </p:sp>
      <p:sp>
        <p:nvSpPr>
          <p:cNvPr id="21" name="b2"/>
          <p:cNvSpPr txBox="1"/>
          <p:nvPr/>
        </p:nvSpPr>
        <p:spPr>
          <a:xfrm>
            <a:off x="6350000" y="3429000"/>
            <a:ext cx="19685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6B7C77"/>
                </a:solidFill>
                <a:latin typeface="Aptos"/>
                <a:ea typeface="Aptos"/>
              </a:rPr>
              <a:t>Guía a las personas</a:t>
            </a:r>
            <a:endParaRPr lang="en-US" sz="1500" noProof="1"/>
          </a:p>
        </p:txBody>
      </p:sp>
      <p:sp>
        <p:nvSpPr>
          <p:cNvPr id="22" name="a2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255000" y="2527300"/>
            <a:ext cx="698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F06449"/>
            </a:solidFill>
            <a:tailEnd type="arrow"/>
          </a:ln>
        </p:spPr>
      </p:sp>
      <p:sp>
        <p:nvSpPr>
          <p:cNvPr id="23" name="i3"/>
          <p:cNvSpPr/>
          <p:nvPr>
            <p:extLst>
              <p:ext uri="{F5677B7D-0D2A-4D9B-9A5C-6D8D7D0E5A5D}">
                <pptd:icon encoding="base64url">eyJpY29uTmFtZSI6ImZhczpnYXVnZS1oaWdoIn0</pptd:icon>
              </p:ext>
            </p:extLst>
          </p:nvPr>
        </p:nvSpPr>
        <p:spPr>
          <a:xfrm>
            <a:off x="9207500" y="22606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256" y="416"/>
                </a:moveTo>
                <a:cubicBezTo>
                  <a:pt x="291" y="416"/>
                  <a:pt x="320" y="387"/>
                  <a:pt x="320" y="352"/>
                </a:cubicBezTo>
                <a:cubicBezTo>
                  <a:pt x="320" y="336"/>
                  <a:pt x="314" y="321"/>
                  <a:pt x="304" y="310"/>
                </a:cubicBezTo>
                <a:lnTo>
                  <a:pt x="374" y="171"/>
                </a:lnTo>
                <a:cubicBezTo>
                  <a:pt x="379" y="159"/>
                  <a:pt x="375" y="144"/>
                  <a:pt x="363" y="139"/>
                </a:cubicBezTo>
                <a:cubicBezTo>
                  <a:pt x="351" y="133"/>
                  <a:pt x="337" y="137"/>
                  <a:pt x="331" y="149"/>
                </a:cubicBezTo>
                <a:lnTo>
                  <a:pt x="261" y="288"/>
                </a:lnTo>
                <a:cubicBezTo>
                  <a:pt x="259" y="288"/>
                  <a:pt x="258" y="288"/>
                  <a:pt x="256" y="288"/>
                </a:cubicBezTo>
                <a:cubicBezTo>
                  <a:pt x="221" y="288"/>
                  <a:pt x="192" y="317"/>
                  <a:pt x="192" y="352"/>
                </a:cubicBezTo>
                <a:cubicBezTo>
                  <a:pt x="192" y="387"/>
                  <a:pt x="221" y="416"/>
                  <a:pt x="256" y="416"/>
                </a:cubicBezTo>
                <a:close/>
                <a:moveTo>
                  <a:pt x="176" y="144"/>
                </a:moveTo>
                <a:cubicBezTo>
                  <a:pt x="176" y="126"/>
                  <a:pt x="162" y="112"/>
                  <a:pt x="144" y="112"/>
                </a:cubicBezTo>
                <a:cubicBezTo>
                  <a:pt x="126" y="112"/>
                  <a:pt x="112" y="126"/>
                  <a:pt x="112" y="144"/>
                </a:cubicBezTo>
                <a:cubicBezTo>
                  <a:pt x="112" y="162"/>
                  <a:pt x="126" y="176"/>
                  <a:pt x="144" y="176"/>
                </a:cubicBezTo>
                <a:cubicBezTo>
                  <a:pt x="162" y="176"/>
                  <a:pt x="176" y="162"/>
                  <a:pt x="176" y="144"/>
                </a:cubicBezTo>
                <a:close/>
                <a:moveTo>
                  <a:pt x="96" y="288"/>
                </a:moveTo>
                <a:cubicBezTo>
                  <a:pt x="114" y="288"/>
                  <a:pt x="128" y="274"/>
                  <a:pt x="128" y="256"/>
                </a:cubicBezTo>
                <a:cubicBezTo>
                  <a:pt x="128" y="238"/>
                  <a:pt x="114" y="224"/>
                  <a:pt x="96" y="224"/>
                </a:cubicBezTo>
                <a:cubicBezTo>
                  <a:pt x="78" y="224"/>
                  <a:pt x="64" y="238"/>
                  <a:pt x="64" y="256"/>
                </a:cubicBezTo>
                <a:cubicBezTo>
                  <a:pt x="64" y="274"/>
                  <a:pt x="78" y="288"/>
                  <a:pt x="96" y="288"/>
                </a:cubicBezTo>
                <a:close/>
                <a:moveTo>
                  <a:pt x="448" y="256"/>
                </a:moveTo>
                <a:cubicBezTo>
                  <a:pt x="448" y="238"/>
                  <a:pt x="434" y="224"/>
                  <a:pt x="416" y="224"/>
                </a:cubicBezTo>
                <a:cubicBezTo>
                  <a:pt x="398" y="224"/>
                  <a:pt x="384" y="238"/>
                  <a:pt x="384" y="256"/>
                </a:cubicBezTo>
                <a:cubicBezTo>
                  <a:pt x="384" y="274"/>
                  <a:pt x="398" y="288"/>
                  <a:pt x="416" y="288"/>
                </a:cubicBezTo>
                <a:cubicBezTo>
                  <a:pt x="434" y="288"/>
                  <a:pt x="448" y="274"/>
                  <a:pt x="448" y="256"/>
                </a:cubicBez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24" name="h3"/>
          <p:cNvSpPr txBox="1"/>
          <p:nvPr/>
        </p:nvSpPr>
        <p:spPr>
          <a:xfrm>
            <a:off x="9144000" y="30353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Control</a:t>
            </a:r>
            <a:endParaRPr lang="en-US" sz="1900" noProof="1"/>
          </a:p>
        </p:txBody>
      </p:sp>
      <p:sp>
        <p:nvSpPr>
          <p:cNvPr id="25" name="b3"/>
          <p:cNvSpPr txBox="1"/>
          <p:nvPr/>
        </p:nvSpPr>
        <p:spPr>
          <a:xfrm>
            <a:off x="9144000" y="3429000"/>
            <a:ext cx="19685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6B7C77"/>
                </a:solidFill>
                <a:latin typeface="Aptos"/>
                <a:ea typeface="Aptos"/>
              </a:rPr>
              <a:t>Evalúa y corrige</a:t>
            </a:r>
            <a:endParaRPr lang="en-US" sz="1500" noProof="1"/>
          </a:p>
        </p:txBody>
      </p:sp>
      <p:sp>
        <p:nvSpPr>
          <p:cNvPr id="26" name="quote"/>
          <p:cNvSpPr/>
          <p:nvPr/>
        </p:nvSpPr>
        <p:spPr>
          <a:xfrm>
            <a:off x="762000" y="4533900"/>
            <a:ext cx="10668000" cy="1066800"/>
          </a:xfrm>
          <a:prstGeom prst="rect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7" name="q"/>
          <p:cNvSpPr txBox="1"/>
          <p:nvPr/>
        </p:nvSpPr>
        <p:spPr>
          <a:xfrm>
            <a:off x="1066800" y="4749800"/>
            <a:ext cx="10033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Controlar no es solo detectar errores: es obtener información para corregir desviaciones, reforzar aciertos y ajustar los planes.</a:t>
            </a:r>
            <a:endParaRPr lang="en-US" sz="2000" noProof="1"/>
          </a:p>
        </p:txBody>
      </p:sp>
      <p:sp>
        <p:nvSpPr>
          <p:cNvPr id="28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9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30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PROCESO DE CONTROL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El control convierte una meta en acción correctiva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04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Fuente: Robbins y Coulter (2018).</a:t>
            </a:r>
            <a:endParaRPr lang="en-US" sz="900" noProof="1"/>
          </a:p>
        </p:txBody>
      </p:sp>
      <p:sp>
        <p:nvSpPr>
          <p:cNvPr id="11" name="n0"/>
          <p:cNvSpPr txBox="1"/>
          <p:nvPr/>
        </p:nvSpPr>
        <p:spPr>
          <a:xfrm>
            <a:off x="825500" y="1917700"/>
            <a:ext cx="444500" cy="44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400" noProof="1" b="1">
                <a:solidFill>
                  <a:srgbClr val="F06449"/>
                </a:solidFill>
                <a:latin typeface="Aptos"/>
                <a:ea typeface="Aptos"/>
              </a:rPr>
              <a:t>1</a:t>
            </a:r>
            <a:endParaRPr lang="en-US" sz="2400" noProof="1"/>
          </a:p>
        </p:txBody>
      </p:sp>
      <p:sp>
        <p:nvSpPr>
          <p:cNvPr id="12" name="h0"/>
          <p:cNvSpPr txBox="1"/>
          <p:nvPr/>
        </p:nvSpPr>
        <p:spPr>
          <a:xfrm>
            <a:off x="1422400" y="1917700"/>
            <a:ext cx="18415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Establecer</a:t>
            </a:r>
            <a:endParaRPr lang="en-US" sz="2000" noProof="1"/>
          </a:p>
        </p:txBody>
      </p:sp>
      <p:sp>
        <p:nvSpPr>
          <p:cNvPr id="13" name="b0"/>
          <p:cNvSpPr txBox="1"/>
          <p:nvPr/>
        </p:nvSpPr>
        <p:spPr>
          <a:xfrm>
            <a:off x="3429000" y="191770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Definir el estándar y el rango aceptable.</a:t>
            </a:r>
            <a:endParaRPr lang="en-US" sz="1700" noProof="1"/>
          </a:p>
        </p:txBody>
      </p:sp>
      <p:sp>
        <p:nvSpPr>
          <p:cNvPr id="14" name="v0"/>
          <p:cNvSpPr/>
          <p:nvPr>
            <p:extLst>
              <p:ext uri="{F5677B7D-0D2A-4D9B-9A5C-6D8D7D0E5A5D}">
                <pptd:line encoding="base64url">eyJ2aWV3Qm94IjpbMSwxXSwicG9pbnRzIjoiMCwwIDAsMSIsImN1cnZlIjoic2hhcnAifQ</pptd:line>
              </p:ext>
            </p:extLst>
          </p:nvPr>
        </p:nvSpPr>
        <p:spPr>
          <a:xfrm>
            <a:off x="1028700" y="2413000"/>
            <a:ext cx="12700" cy="4572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25400">
            <a:solidFill>
              <a:srgbClr val="DDD8CE"/>
            </a:solidFill>
          </a:ln>
        </p:spPr>
      </p:sp>
      <p:sp>
        <p:nvSpPr>
          <p:cNvPr id="15" name="n1"/>
          <p:cNvSpPr txBox="1"/>
          <p:nvPr/>
        </p:nvSpPr>
        <p:spPr>
          <a:xfrm>
            <a:off x="825500" y="2882900"/>
            <a:ext cx="444500" cy="44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400" noProof="1" b="1">
                <a:solidFill>
                  <a:srgbClr val="F06449"/>
                </a:solidFill>
                <a:latin typeface="Aptos"/>
                <a:ea typeface="Aptos"/>
              </a:rPr>
              <a:t>2</a:t>
            </a:r>
            <a:endParaRPr lang="en-US" sz="2400" noProof="1"/>
          </a:p>
        </p:txBody>
      </p:sp>
      <p:sp>
        <p:nvSpPr>
          <p:cNvPr id="16" name="h1"/>
          <p:cNvSpPr txBox="1"/>
          <p:nvPr/>
        </p:nvSpPr>
        <p:spPr>
          <a:xfrm>
            <a:off x="1422400" y="2882900"/>
            <a:ext cx="18415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Medir</a:t>
            </a:r>
            <a:endParaRPr lang="en-US" sz="2000" noProof="1"/>
          </a:p>
        </p:txBody>
      </p:sp>
      <p:sp>
        <p:nvSpPr>
          <p:cNvPr id="17" name="b1"/>
          <p:cNvSpPr txBox="1"/>
          <p:nvPr/>
        </p:nvSpPr>
        <p:spPr>
          <a:xfrm>
            <a:off x="3429000" y="288290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Registrar el desempeño real con datos.</a:t>
            </a:r>
            <a:endParaRPr lang="en-US" sz="1700" noProof="1"/>
          </a:p>
        </p:txBody>
      </p:sp>
      <p:sp>
        <p:nvSpPr>
          <p:cNvPr id="18" name="v1"/>
          <p:cNvSpPr/>
          <p:nvPr>
            <p:extLst>
              <p:ext uri="{F5677B7D-0D2A-4D9B-9A5C-6D8D7D0E5A5D}">
                <pptd:line encoding="base64url">eyJ2aWV3Qm94IjpbMSwxXSwicG9pbnRzIjoiMCwwIDAsMSIsImN1cnZlIjoic2hhcnAifQ</pptd:line>
              </p:ext>
            </p:extLst>
          </p:nvPr>
        </p:nvSpPr>
        <p:spPr>
          <a:xfrm>
            <a:off x="1028700" y="3378200"/>
            <a:ext cx="12700" cy="4572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25400">
            <a:solidFill>
              <a:srgbClr val="DDD8CE"/>
            </a:solidFill>
          </a:ln>
        </p:spPr>
      </p:sp>
      <p:sp>
        <p:nvSpPr>
          <p:cNvPr id="19" name="n2"/>
          <p:cNvSpPr txBox="1"/>
          <p:nvPr/>
        </p:nvSpPr>
        <p:spPr>
          <a:xfrm>
            <a:off x="825500" y="3848100"/>
            <a:ext cx="444500" cy="44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400" noProof="1" b="1">
                <a:solidFill>
                  <a:srgbClr val="F06449"/>
                </a:solidFill>
                <a:latin typeface="Aptos"/>
                <a:ea typeface="Aptos"/>
              </a:rPr>
              <a:t>3</a:t>
            </a:r>
            <a:endParaRPr lang="en-US" sz="2400" noProof="1"/>
          </a:p>
        </p:txBody>
      </p:sp>
      <p:sp>
        <p:nvSpPr>
          <p:cNvPr id="20" name="h2"/>
          <p:cNvSpPr txBox="1"/>
          <p:nvPr/>
        </p:nvSpPr>
        <p:spPr>
          <a:xfrm>
            <a:off x="1422400" y="3848100"/>
            <a:ext cx="18415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Comparar</a:t>
            </a:r>
            <a:endParaRPr lang="en-US" sz="2000" noProof="1"/>
          </a:p>
        </p:txBody>
      </p:sp>
      <p:sp>
        <p:nvSpPr>
          <p:cNvPr id="21" name="b2"/>
          <p:cNvSpPr txBox="1"/>
          <p:nvPr/>
        </p:nvSpPr>
        <p:spPr>
          <a:xfrm>
            <a:off x="3429000" y="384810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Calcular la desviación y valorar su importancia.</a:t>
            </a:r>
            <a:endParaRPr lang="en-US" sz="1700" noProof="1"/>
          </a:p>
        </p:txBody>
      </p:sp>
      <p:sp>
        <p:nvSpPr>
          <p:cNvPr id="22" name="v2"/>
          <p:cNvSpPr/>
          <p:nvPr>
            <p:extLst>
              <p:ext uri="{F5677B7D-0D2A-4D9B-9A5C-6D8D7D0E5A5D}">
                <pptd:line encoding="base64url">eyJ2aWV3Qm94IjpbMSwxXSwicG9pbnRzIjoiMCwwIDAsMSIsImN1cnZlIjoic2hhcnAifQ</pptd:line>
              </p:ext>
            </p:extLst>
          </p:nvPr>
        </p:nvSpPr>
        <p:spPr>
          <a:xfrm>
            <a:off x="1028700" y="4343400"/>
            <a:ext cx="12700" cy="4572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25400">
            <a:solidFill>
              <a:srgbClr val="DDD8CE"/>
            </a:solidFill>
          </a:ln>
        </p:spPr>
      </p:sp>
      <p:sp>
        <p:nvSpPr>
          <p:cNvPr id="23" name="n3"/>
          <p:cNvSpPr txBox="1"/>
          <p:nvPr/>
        </p:nvSpPr>
        <p:spPr>
          <a:xfrm>
            <a:off x="825500" y="4813300"/>
            <a:ext cx="444500" cy="44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400" noProof="1" b="1">
                <a:solidFill>
                  <a:srgbClr val="F06449"/>
                </a:solidFill>
                <a:latin typeface="Aptos"/>
                <a:ea typeface="Aptos"/>
              </a:rPr>
              <a:t>4</a:t>
            </a:r>
            <a:endParaRPr lang="en-US" sz="2400" noProof="1"/>
          </a:p>
        </p:txBody>
      </p:sp>
      <p:sp>
        <p:nvSpPr>
          <p:cNvPr id="24" name="h3"/>
          <p:cNvSpPr txBox="1"/>
          <p:nvPr/>
        </p:nvSpPr>
        <p:spPr>
          <a:xfrm>
            <a:off x="1422400" y="4813300"/>
            <a:ext cx="18415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Actuar</a:t>
            </a:r>
            <a:endParaRPr lang="en-US" sz="2000" noProof="1"/>
          </a:p>
        </p:txBody>
      </p:sp>
      <p:sp>
        <p:nvSpPr>
          <p:cNvPr id="25" name="b3"/>
          <p:cNvSpPr txBox="1"/>
          <p:nvPr/>
        </p:nvSpPr>
        <p:spPr>
          <a:xfrm>
            <a:off x="3429000" y="4813300"/>
            <a:ext cx="7239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Corregir el proceso o revisar el estándar.</a:t>
            </a:r>
            <a:endParaRPr lang="en-US" sz="1700" noProof="1"/>
          </a:p>
        </p:txBody>
      </p:sp>
      <p:sp>
        <p:nvSpPr>
          <p:cNvPr id="26" name="check"/>
          <p:cNvSpPr txBox="1"/>
          <p:nvPr/>
        </p:nvSpPr>
        <p:spPr>
          <a:xfrm>
            <a:off x="7874000" y="5638800"/>
            <a:ext cx="355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200" noProof="1" b="1">
                <a:solidFill>
                  <a:srgbClr val="F06449"/>
                </a:solidFill>
                <a:latin typeface="Aptos"/>
                <a:ea typeface="Aptos"/>
              </a:rPr>
              <a:t>Pregunta guía: ¿qué decisión permitirá tomar la medida?</a:t>
            </a:r>
            <a:endParaRPr lang="en-US" sz="1200" noProof="1"/>
          </a:p>
        </p:txBody>
      </p:sp>
      <p:sp>
        <p:nvSpPr>
          <p:cNvPr id="27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8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29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ESTÁNDARES DE DESEMPEÑO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Un buen estándar define qué resultado es aceptable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05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Fuente: Chiavenato (2014).</a:t>
            </a:r>
            <a:endParaRPr lang="en-US" sz="900" noProof="1"/>
          </a:p>
        </p:txBody>
      </p:sp>
      <p:sp>
        <p:nvSpPr>
          <p:cNvPr id="11" name="i0"/>
          <p:cNvSpPr/>
          <p:nvPr>
            <p:extLst>
              <p:ext uri="{F5677B7D-0D2A-4D9B-9A5C-6D8D7D0E5A5D}">
                <pptd:icon encoding="base64url">eyJpY29uTmFtZSI6ImZhczpib3hlcy1zdGFja2VkIn0</pptd:icon>
              </p:ext>
            </p:extLst>
          </p:nvPr>
        </p:nvSpPr>
        <p:spPr>
          <a:xfrm>
            <a:off x="762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0"/>
                </a:moveTo>
                <a:lnTo>
                  <a:pt x="224" y="64"/>
                </a:lnTo>
                <a:cubicBezTo>
                  <a:pt x="224" y="73"/>
                  <a:pt x="231" y="80"/>
                  <a:pt x="240" y="80"/>
                </a:cubicBezTo>
                <a:lnTo>
                  <a:pt x="272" y="80"/>
                </a:lnTo>
                <a:cubicBezTo>
                  <a:pt x="281" y="80"/>
                  <a:pt x="288" y="73"/>
                  <a:pt x="288" y="64"/>
                </a:cubicBezTo>
                <a:lnTo>
                  <a:pt x="288" y="0"/>
                </a:lnTo>
                <a:lnTo>
                  <a:pt x="320" y="0"/>
                </a:lnTo>
                <a:cubicBezTo>
                  <a:pt x="355" y="0"/>
                  <a:pt x="384" y="29"/>
                  <a:pt x="384" y="64"/>
                </a:cubicBezTo>
                <a:lnTo>
                  <a:pt x="384" y="192"/>
                </a:lnTo>
                <a:cubicBezTo>
                  <a:pt x="384" y="198"/>
                  <a:pt x="383" y="203"/>
                  <a:pt x="382" y="208"/>
                </a:cubicBezTo>
                <a:lnTo>
                  <a:pt x="130" y="208"/>
                </a:lnTo>
                <a:cubicBezTo>
                  <a:pt x="129" y="203"/>
                  <a:pt x="128" y="198"/>
                  <a:pt x="128" y="192"/>
                </a:cubicBezTo>
                <a:lnTo>
                  <a:pt x="128" y="64"/>
                </a:lnTo>
                <a:cubicBezTo>
                  <a:pt x="128" y="29"/>
                  <a:pt x="157" y="0"/>
                  <a:pt x="192" y="0"/>
                </a:cubicBezTo>
                <a:lnTo>
                  <a:pt x="224" y="0"/>
                </a:lnTo>
                <a:close/>
              </a:path>
              <a:path w="512" h="512">
                <a:moveTo>
                  <a:pt x="320" y="512"/>
                </a:moveTo>
                <a:cubicBezTo>
                  <a:pt x="309" y="512"/>
                  <a:pt x="298" y="509"/>
                  <a:pt x="289" y="504"/>
                </a:cubicBezTo>
                <a:cubicBezTo>
                  <a:pt x="299" y="488"/>
                  <a:pt x="304" y="468"/>
                  <a:pt x="304" y="448"/>
                </a:cubicBezTo>
                <a:lnTo>
                  <a:pt x="304" y="320"/>
                </a:lnTo>
                <a:cubicBezTo>
                  <a:pt x="304" y="300"/>
                  <a:pt x="299" y="281"/>
                  <a:pt x="289" y="264"/>
                </a:cubicBezTo>
                <a:cubicBezTo>
                  <a:pt x="298" y="259"/>
                  <a:pt x="309" y="256"/>
                  <a:pt x="320" y="256"/>
                </a:cubicBezTo>
                <a:lnTo>
                  <a:pt x="352" y="256"/>
                </a:lnTo>
                <a:lnTo>
                  <a:pt x="352" y="320"/>
                </a:lnTo>
                <a:cubicBezTo>
                  <a:pt x="352" y="329"/>
                  <a:pt x="359" y="336"/>
                  <a:pt x="368" y="336"/>
                </a:cubicBezTo>
                <a:lnTo>
                  <a:pt x="400" y="336"/>
                </a:lnTo>
                <a:cubicBezTo>
                  <a:pt x="409" y="336"/>
                  <a:pt x="416" y="329"/>
                  <a:pt x="416" y="320"/>
                </a:cubicBezTo>
                <a:lnTo>
                  <a:pt x="416" y="256"/>
                </a:lnTo>
                <a:lnTo>
                  <a:pt x="448" y="256"/>
                </a:lnTo>
                <a:cubicBezTo>
                  <a:pt x="483" y="256"/>
                  <a:pt x="512" y="285"/>
                  <a:pt x="512" y="320"/>
                </a:cubicBezTo>
                <a:lnTo>
                  <a:pt x="512" y="448"/>
                </a:lnTo>
                <a:cubicBezTo>
                  <a:pt x="512" y="483"/>
                  <a:pt x="483" y="512"/>
                  <a:pt x="448" y="512"/>
                </a:cubicBezTo>
                <a:lnTo>
                  <a:pt x="320" y="512"/>
                </a:lnTo>
                <a:close/>
              </a:path>
              <a:path w="512" h="512">
                <a:moveTo>
                  <a:pt x="0" y="320"/>
                </a:moveTo>
                <a:cubicBezTo>
                  <a:pt x="0" y="285"/>
                  <a:pt x="29" y="256"/>
                  <a:pt x="64" y="256"/>
                </a:cubicBezTo>
                <a:lnTo>
                  <a:pt x="96" y="256"/>
                </a:lnTo>
                <a:lnTo>
                  <a:pt x="96" y="320"/>
                </a:lnTo>
                <a:cubicBezTo>
                  <a:pt x="96" y="329"/>
                  <a:pt x="103" y="336"/>
                  <a:pt x="112" y="336"/>
                </a:cubicBezTo>
                <a:lnTo>
                  <a:pt x="144" y="336"/>
                </a:lnTo>
                <a:cubicBezTo>
                  <a:pt x="153" y="336"/>
                  <a:pt x="160" y="329"/>
                  <a:pt x="160" y="320"/>
                </a:cubicBezTo>
                <a:lnTo>
                  <a:pt x="160" y="256"/>
                </a:lnTo>
                <a:lnTo>
                  <a:pt x="192" y="256"/>
                </a:lnTo>
                <a:cubicBezTo>
                  <a:pt x="227" y="256"/>
                  <a:pt x="256" y="285"/>
                  <a:pt x="256" y="320"/>
                </a:cubicBezTo>
                <a:lnTo>
                  <a:pt x="256" y="448"/>
                </a:lnTo>
                <a:cubicBezTo>
                  <a:pt x="256" y="483"/>
                  <a:pt x="227" y="512"/>
                  <a:pt x="192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320"/>
                </a:ln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12" name="h0"/>
          <p:cNvSpPr txBox="1"/>
          <p:nvPr/>
        </p:nvSpPr>
        <p:spPr>
          <a:xfrm>
            <a:off x="1371600" y="18796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Cantidad</a:t>
            </a:r>
            <a:endParaRPr lang="en-US" sz="2000" noProof="1"/>
          </a:p>
        </p:txBody>
      </p:sp>
      <p:sp>
        <p:nvSpPr>
          <p:cNvPr id="13" name="q0"/>
          <p:cNvSpPr txBox="1"/>
          <p:nvPr/>
        </p:nvSpPr>
        <p:spPr>
          <a:xfrm>
            <a:off x="3429000" y="19050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¿Cuánto?</a:t>
            </a:r>
            <a:endParaRPr lang="en-US" sz="1400" noProof="1"/>
          </a:p>
        </p:txBody>
      </p:sp>
      <p:sp>
        <p:nvSpPr>
          <p:cNvPr id="14" name="b0"/>
          <p:cNvSpPr txBox="1"/>
          <p:nvPr/>
        </p:nvSpPr>
        <p:spPr>
          <a:xfrm>
            <a:off x="1371600" y="240030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Unidades producidas, pedidos atendidos.</a:t>
            </a:r>
            <a:endParaRPr lang="en-US" sz="1600" noProof="1"/>
          </a:p>
        </p:txBody>
      </p:sp>
      <p:sp>
        <p:nvSpPr>
          <p:cNvPr id="15" name="l0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62000" y="31750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16" name="i1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6223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17" name="h1"/>
          <p:cNvSpPr txBox="1"/>
          <p:nvPr/>
        </p:nvSpPr>
        <p:spPr>
          <a:xfrm>
            <a:off x="6832600" y="18796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Calidad</a:t>
            </a:r>
            <a:endParaRPr lang="en-US" sz="2000" noProof="1"/>
          </a:p>
        </p:txBody>
      </p:sp>
      <p:sp>
        <p:nvSpPr>
          <p:cNvPr id="18" name="q1"/>
          <p:cNvSpPr txBox="1"/>
          <p:nvPr/>
        </p:nvSpPr>
        <p:spPr>
          <a:xfrm>
            <a:off x="8890000" y="19050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¿Qué tan bien?</a:t>
            </a:r>
            <a:endParaRPr lang="en-US" sz="1400" noProof="1"/>
          </a:p>
        </p:txBody>
      </p:sp>
      <p:sp>
        <p:nvSpPr>
          <p:cNvPr id="19" name="b1"/>
          <p:cNvSpPr txBox="1"/>
          <p:nvPr/>
        </p:nvSpPr>
        <p:spPr>
          <a:xfrm>
            <a:off x="6832600" y="240030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Exactitud, defectos, satisfacción.</a:t>
            </a:r>
            <a:endParaRPr lang="en-US" sz="1600" noProof="1"/>
          </a:p>
        </p:txBody>
      </p:sp>
      <p:sp>
        <p:nvSpPr>
          <p:cNvPr id="20" name="l1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223000" y="31750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1" name="i2"/>
          <p:cNvSpPr/>
          <p:nvPr>
            <p:extLst>
              <p:ext uri="{F5677B7D-0D2A-4D9B-9A5C-6D8D7D0E5A5D}">
                <pptd:icon encoding="base64url">eyJpY29uTmFtZSI6ImZhczpjbG9jayJ9</pptd:icon>
              </p:ext>
            </p:extLst>
          </p:nvPr>
        </p:nvSpPr>
        <p:spPr>
          <a:xfrm>
            <a:off x="762000" y="368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22" name="h2"/>
          <p:cNvSpPr txBox="1"/>
          <p:nvPr/>
        </p:nvSpPr>
        <p:spPr>
          <a:xfrm>
            <a:off x="1371600" y="36576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Tiempo</a:t>
            </a:r>
            <a:endParaRPr lang="en-US" sz="2000" noProof="1"/>
          </a:p>
        </p:txBody>
      </p:sp>
      <p:sp>
        <p:nvSpPr>
          <p:cNvPr id="23" name="q2"/>
          <p:cNvSpPr txBox="1"/>
          <p:nvPr/>
        </p:nvSpPr>
        <p:spPr>
          <a:xfrm>
            <a:off x="3429000" y="36830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¿Cuándo?</a:t>
            </a:r>
            <a:endParaRPr lang="en-US" sz="1400" noProof="1"/>
          </a:p>
        </p:txBody>
      </p:sp>
      <p:sp>
        <p:nvSpPr>
          <p:cNvPr id="24" name="b2"/>
          <p:cNvSpPr txBox="1"/>
          <p:nvPr/>
        </p:nvSpPr>
        <p:spPr>
          <a:xfrm>
            <a:off x="1371600" y="417830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Duración, puntualidad, plazo de entrega.</a:t>
            </a:r>
            <a:endParaRPr lang="en-US" sz="1600" noProof="1"/>
          </a:p>
        </p:txBody>
      </p:sp>
      <p:sp>
        <p:nvSpPr>
          <p:cNvPr id="25" name="l2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62000" y="49530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6" name="i3"/>
          <p:cNvSpPr/>
          <p:nvPr>
            <p:extLst>
              <p:ext uri="{F5677B7D-0D2A-4D9B-9A5C-6D8D7D0E5A5D}">
                <pptd:icon encoding="base64url">eyJpY29uTmFtZSI6ImZhczpjb2lucyJ9</pptd:icon>
              </p:ext>
            </p:extLst>
          </p:nvPr>
        </p:nvSpPr>
        <p:spPr>
          <a:xfrm>
            <a:off x="6223000" y="368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96"/>
                </a:moveTo>
                <a:lnTo>
                  <a:pt x="128" y="80"/>
                </a:lnTo>
                <a:cubicBezTo>
                  <a:pt x="128" y="36"/>
                  <a:pt x="214" y="0"/>
                  <a:pt x="320" y="0"/>
                </a:cubicBezTo>
                <a:cubicBezTo>
                  <a:pt x="426" y="0"/>
                  <a:pt x="512" y="36"/>
                  <a:pt x="512" y="80"/>
                </a:cubicBezTo>
                <a:lnTo>
                  <a:pt x="512" y="96"/>
                </a:lnTo>
                <a:cubicBezTo>
                  <a:pt x="512" y="127"/>
                  <a:pt x="471" y="153"/>
                  <a:pt x="410" y="167"/>
                </a:cubicBezTo>
                <a:cubicBezTo>
                  <a:pt x="408" y="164"/>
                  <a:pt x="405" y="161"/>
                  <a:pt x="403" y="159"/>
                </a:cubicBezTo>
                <a:cubicBezTo>
                  <a:pt x="387" y="143"/>
                  <a:pt x="367" y="132"/>
                  <a:pt x="346" y="123"/>
                </a:cubicBezTo>
                <a:cubicBezTo>
                  <a:pt x="304" y="106"/>
                  <a:pt x="250" y="96"/>
                  <a:pt x="192" y="96"/>
                </a:cubicBezTo>
                <a:cubicBezTo>
                  <a:pt x="170" y="96"/>
                  <a:pt x="149" y="98"/>
                  <a:pt x="128" y="100"/>
                </a:cubicBezTo>
                <a:cubicBezTo>
                  <a:pt x="128" y="99"/>
                  <a:pt x="128" y="97"/>
                  <a:pt x="128" y="96"/>
                </a:cubicBezTo>
                <a:close/>
              </a:path>
              <a:path w="512" h="512">
                <a:moveTo>
                  <a:pt x="432" y="353"/>
                </a:moveTo>
                <a:lnTo>
                  <a:pt x="432" y="307"/>
                </a:lnTo>
                <a:cubicBezTo>
                  <a:pt x="447" y="303"/>
                  <a:pt x="461" y="298"/>
                  <a:pt x="474" y="293"/>
                </a:cubicBezTo>
                <a:cubicBezTo>
                  <a:pt x="487" y="287"/>
                  <a:pt x="500" y="281"/>
                  <a:pt x="512" y="273"/>
                </a:cubicBezTo>
                <a:lnTo>
                  <a:pt x="512" y="288"/>
                </a:lnTo>
                <a:cubicBezTo>
                  <a:pt x="512" y="315"/>
                  <a:pt x="481" y="339"/>
                  <a:pt x="432" y="353"/>
                </a:cubicBezTo>
                <a:close/>
              </a:path>
              <a:path w="512" h="512">
                <a:moveTo>
                  <a:pt x="432" y="257"/>
                </a:moveTo>
                <a:lnTo>
                  <a:pt x="432" y="224"/>
                </a:lnTo>
                <a:cubicBezTo>
                  <a:pt x="432" y="220"/>
                  <a:pt x="432" y="215"/>
                  <a:pt x="431" y="211"/>
                </a:cubicBezTo>
                <a:cubicBezTo>
                  <a:pt x="447" y="207"/>
                  <a:pt x="461" y="202"/>
                  <a:pt x="474" y="197"/>
                </a:cubicBezTo>
                <a:cubicBezTo>
                  <a:pt x="487" y="191"/>
                  <a:pt x="500" y="185"/>
                  <a:pt x="512" y="177"/>
                </a:cubicBezTo>
                <a:lnTo>
                  <a:pt x="512" y="192"/>
                </a:lnTo>
                <a:cubicBezTo>
                  <a:pt x="512" y="219"/>
                  <a:pt x="481" y="242"/>
                  <a:pt x="432" y="257"/>
                </a:cubicBezTo>
                <a:close/>
              </a:path>
              <a:path w="512" h="512">
                <a:moveTo>
                  <a:pt x="0" y="240"/>
                </a:moveTo>
                <a:lnTo>
                  <a:pt x="0" y="224"/>
                </a:lnTo>
                <a:cubicBezTo>
                  <a:pt x="0" y="180"/>
                  <a:pt x="86" y="144"/>
                  <a:pt x="192" y="144"/>
                </a:cubicBezTo>
                <a:cubicBezTo>
                  <a:pt x="298" y="144"/>
                  <a:pt x="384" y="180"/>
                  <a:pt x="384" y="224"/>
                </a:cubicBezTo>
                <a:lnTo>
                  <a:pt x="384" y="240"/>
                </a:lnTo>
                <a:cubicBezTo>
                  <a:pt x="384" y="284"/>
                  <a:pt x="298" y="320"/>
                  <a:pt x="192" y="320"/>
                </a:cubicBezTo>
                <a:cubicBezTo>
                  <a:pt x="86" y="320"/>
                  <a:pt x="0" y="284"/>
                  <a:pt x="0" y="240"/>
                </a:cubicBezTo>
                <a:close/>
              </a:path>
              <a:path w="512" h="512">
                <a:moveTo>
                  <a:pt x="384" y="336"/>
                </a:moveTo>
                <a:cubicBezTo>
                  <a:pt x="384" y="380"/>
                  <a:pt x="298" y="416"/>
                  <a:pt x="192" y="416"/>
                </a:cubicBezTo>
                <a:cubicBezTo>
                  <a:pt x="86" y="416"/>
                  <a:pt x="0" y="380"/>
                  <a:pt x="0" y="336"/>
                </a:cubicBezTo>
                <a:lnTo>
                  <a:pt x="0" y="321"/>
                </a:lnTo>
                <a:cubicBezTo>
                  <a:pt x="12" y="329"/>
                  <a:pt x="25" y="335"/>
                  <a:pt x="38" y="341"/>
                </a:cubicBezTo>
                <a:cubicBezTo>
                  <a:pt x="80" y="358"/>
                  <a:pt x="134" y="368"/>
                  <a:pt x="192" y="368"/>
                </a:cubicBezTo>
                <a:cubicBezTo>
                  <a:pt x="250" y="368"/>
                  <a:pt x="304" y="358"/>
                  <a:pt x="346" y="341"/>
                </a:cubicBezTo>
                <a:cubicBezTo>
                  <a:pt x="359" y="335"/>
                  <a:pt x="372" y="329"/>
                  <a:pt x="384" y="321"/>
                </a:cubicBezTo>
                <a:lnTo>
                  <a:pt x="384" y="336"/>
                </a:lnTo>
                <a:close/>
              </a:path>
              <a:path w="512" h="512">
                <a:moveTo>
                  <a:pt x="384" y="417"/>
                </a:moveTo>
                <a:lnTo>
                  <a:pt x="384" y="432"/>
                </a:lnTo>
                <a:cubicBezTo>
                  <a:pt x="384" y="476"/>
                  <a:pt x="298" y="512"/>
                  <a:pt x="192" y="512"/>
                </a:cubicBezTo>
                <a:cubicBezTo>
                  <a:pt x="86" y="512"/>
                  <a:pt x="0" y="476"/>
                  <a:pt x="0" y="432"/>
                </a:cubicBezTo>
                <a:lnTo>
                  <a:pt x="0" y="417"/>
                </a:lnTo>
                <a:cubicBezTo>
                  <a:pt x="12" y="425"/>
                  <a:pt x="25" y="431"/>
                  <a:pt x="38" y="437"/>
                </a:cubicBezTo>
                <a:cubicBezTo>
                  <a:pt x="80" y="454"/>
                  <a:pt x="134" y="464"/>
                  <a:pt x="192" y="464"/>
                </a:cubicBezTo>
                <a:cubicBezTo>
                  <a:pt x="250" y="464"/>
                  <a:pt x="304" y="454"/>
                  <a:pt x="346" y="437"/>
                </a:cubicBezTo>
                <a:cubicBezTo>
                  <a:pt x="359" y="431"/>
                  <a:pt x="372" y="425"/>
                  <a:pt x="384" y="417"/>
                </a:cubicBez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27" name="h3"/>
          <p:cNvSpPr txBox="1"/>
          <p:nvPr/>
        </p:nvSpPr>
        <p:spPr>
          <a:xfrm>
            <a:off x="6832600" y="36576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Costo</a:t>
            </a:r>
            <a:endParaRPr lang="en-US" sz="2000" noProof="1"/>
          </a:p>
        </p:txBody>
      </p:sp>
      <p:sp>
        <p:nvSpPr>
          <p:cNvPr id="28" name="q3"/>
          <p:cNvSpPr txBox="1"/>
          <p:nvPr/>
        </p:nvSpPr>
        <p:spPr>
          <a:xfrm>
            <a:off x="8890000" y="36830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¿A qué costo?</a:t>
            </a:r>
            <a:endParaRPr lang="en-US" sz="1400" noProof="1"/>
          </a:p>
        </p:txBody>
      </p:sp>
      <p:sp>
        <p:nvSpPr>
          <p:cNvPr id="29" name="b3"/>
          <p:cNvSpPr txBox="1"/>
          <p:nvPr/>
        </p:nvSpPr>
        <p:spPr>
          <a:xfrm>
            <a:off x="6832600" y="4178300"/>
            <a:ext cx="419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Costo por unidad, presupuesto ejecutado.</a:t>
            </a:r>
            <a:endParaRPr lang="en-US" sz="1600" noProof="1"/>
          </a:p>
        </p:txBody>
      </p:sp>
      <p:sp>
        <p:nvSpPr>
          <p:cNvPr id="30" name="l3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6223000" y="49530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31" name="rule"/>
          <p:cNvSpPr txBox="1"/>
          <p:nvPr/>
        </p:nvSpPr>
        <p:spPr>
          <a:xfrm>
            <a:off x="787400" y="55753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600" noProof="1" b="1">
                <a:solidFill>
                  <a:srgbClr val="173F3A"/>
                </a:solidFill>
                <a:latin typeface="Aptos"/>
                <a:ea typeface="Aptos"/>
              </a:rPr>
              <a:t>Regla de calidad: específico · medible · alcanzable · relevante · vinculado con un plazo</a:t>
            </a:r>
            <a:endParaRPr lang="en-US" sz="1600" noProof="1"/>
          </a:p>
        </p:txBody>
      </p:sp>
      <p:sp>
        <p:nvSpPr>
          <p:cNvPr id="3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3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EJEMPLO APLICADO · SERVICIO AL CLIENTE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Los KPI hacen visible la desviación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06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Ejemplo didáctico con valores ilustrativos.</a:t>
            </a:r>
            <a:endParaRPr lang="en-US" sz="900" noProof="1"/>
          </a:p>
        </p:txBody>
      </p:sp>
      <p:sp>
        <p:nvSpPr>
          <p:cNvPr id="11" name="big0"/>
          <p:cNvSpPr txBox="1"/>
          <p:nvPr/>
        </p:nvSpPr>
        <p:spPr>
          <a:xfrm>
            <a:off x="914400" y="2032000"/>
            <a:ext cx="3302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500" noProof="1" b="1">
                <a:solidFill>
                  <a:srgbClr val="173F3A"/>
                </a:solidFill>
                <a:latin typeface="Aptos"/>
                <a:ea typeface="Aptos"/>
              </a:rPr>
              <a:t>6 min</a:t>
            </a:r>
            <a:endParaRPr lang="en-US" sz="4500" noProof="1"/>
          </a:p>
        </p:txBody>
      </p:sp>
      <p:sp>
        <p:nvSpPr>
          <p:cNvPr id="12" name="lab0"/>
          <p:cNvSpPr txBox="1"/>
          <p:nvPr/>
        </p:nvSpPr>
        <p:spPr>
          <a:xfrm>
            <a:off x="914400" y="2933700"/>
            <a:ext cx="3175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Tiempo promedio de respuesta</a:t>
            </a:r>
            <a:endParaRPr lang="en-US" sz="1700" noProof="1"/>
          </a:p>
        </p:txBody>
      </p:sp>
      <p:sp>
        <p:nvSpPr>
          <p:cNvPr id="13" name="tar0"/>
          <p:cNvSpPr txBox="1"/>
          <p:nvPr/>
        </p:nvSpPr>
        <p:spPr>
          <a:xfrm>
            <a:off x="914400" y="35814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Meta: ≤ 5 min</a:t>
            </a:r>
            <a:endParaRPr lang="en-US" sz="1500" noProof="1"/>
          </a:p>
        </p:txBody>
      </p:sp>
      <p:sp>
        <p:nvSpPr>
          <p:cNvPr id="14" name="big1"/>
          <p:cNvSpPr txBox="1"/>
          <p:nvPr/>
        </p:nvSpPr>
        <p:spPr>
          <a:xfrm>
            <a:off x="4724400" y="2032000"/>
            <a:ext cx="3302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500" noProof="1" b="1">
                <a:solidFill>
                  <a:srgbClr val="173F3A"/>
                </a:solidFill>
                <a:latin typeface="Aptos"/>
                <a:ea typeface="Aptos"/>
              </a:rPr>
              <a:t>90 %</a:t>
            </a:r>
            <a:endParaRPr lang="en-US" sz="4500" noProof="1"/>
          </a:p>
        </p:txBody>
      </p:sp>
      <p:sp>
        <p:nvSpPr>
          <p:cNvPr id="15" name="lab1"/>
          <p:cNvSpPr txBox="1"/>
          <p:nvPr/>
        </p:nvSpPr>
        <p:spPr>
          <a:xfrm>
            <a:off x="4724400" y="2933700"/>
            <a:ext cx="3175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Satisfacción del cliente</a:t>
            </a:r>
            <a:endParaRPr lang="en-US" sz="1700" noProof="1"/>
          </a:p>
        </p:txBody>
      </p:sp>
      <p:sp>
        <p:nvSpPr>
          <p:cNvPr id="16" name="tar1"/>
          <p:cNvSpPr txBox="1"/>
          <p:nvPr/>
        </p:nvSpPr>
        <p:spPr>
          <a:xfrm>
            <a:off x="4724400" y="35814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Meta: ≥ 92 %</a:t>
            </a:r>
            <a:endParaRPr lang="en-US" sz="1500" noProof="1"/>
          </a:p>
        </p:txBody>
      </p:sp>
      <p:sp>
        <p:nvSpPr>
          <p:cNvPr id="17" name="deviation"/>
          <p:cNvSpPr/>
          <p:nvPr/>
        </p:nvSpPr>
        <p:spPr>
          <a:xfrm>
            <a:off x="8661400" y="1955800"/>
            <a:ext cx="2730500" cy="2159000"/>
          </a:xfrm>
          <a:prstGeom prst="rect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18" name="dtitle"/>
          <p:cNvSpPr txBox="1"/>
          <p:nvPr/>
        </p:nvSpPr>
        <p:spPr>
          <a:xfrm>
            <a:off x="8915400" y="2209800"/>
            <a:ext cx="22225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300" noProof="1" b="1">
                <a:solidFill>
                  <a:srgbClr val="F06449"/>
                </a:solidFill>
                <a:latin typeface="Aptos"/>
                <a:ea typeface="Aptos"/>
              </a:rPr>
              <a:t>DESVIACIÓN</a:t>
            </a:r>
            <a:endParaRPr lang="en-US" sz="1300" noProof="1"/>
          </a:p>
        </p:txBody>
      </p:sp>
      <p:sp>
        <p:nvSpPr>
          <p:cNvPr id="19" name="dtext"/>
          <p:cNvSpPr txBox="1"/>
          <p:nvPr/>
        </p:nvSpPr>
        <p:spPr>
          <a:xfrm>
            <a:off x="8915400" y="2667000"/>
            <a:ext cx="2209800" cy="1054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600" noProof="1" b="1">
                <a:solidFill>
                  <a:srgbClr val="173F3A"/>
                </a:solidFill>
                <a:latin typeface="Aptos"/>
                <a:ea typeface="Aptos"/>
              </a:rPr>
              <a:t>1 min por encima y 2 puntos por debajo de la meta.</a:t>
            </a:r>
            <a:endParaRPr lang="en-US" sz="2000" noProof="1"/>
          </a:p>
        </p:txBody>
      </p:sp>
      <p:sp>
        <p:nvSpPr>
          <p:cNvPr id="20" name="bottom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914400" y="4495800"/>
            <a:ext cx="104648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1" name="decision"/>
          <p:cNvSpPr txBox="1"/>
          <p:nvPr/>
        </p:nvSpPr>
        <p:spPr>
          <a:xfrm>
            <a:off x="914400" y="4787900"/>
            <a:ext cx="2349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200" noProof="1" b="1">
                <a:solidFill>
                  <a:srgbClr val="F06449"/>
                </a:solidFill>
                <a:latin typeface="Aptos"/>
                <a:ea typeface="Aptos"/>
              </a:rPr>
              <a:t>DECISIÓN POSIBLE</a:t>
            </a:r>
            <a:endParaRPr lang="en-US" sz="1200" noProof="1"/>
          </a:p>
        </p:txBody>
      </p:sp>
      <p:sp>
        <p:nvSpPr>
          <p:cNvPr id="22" name="action"/>
          <p:cNvSpPr txBox="1"/>
          <p:nvPr/>
        </p:nvSpPr>
        <p:spPr>
          <a:xfrm>
            <a:off x="914400" y="5207000"/>
            <a:ext cx="10033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>
                <a:solidFill>
                  <a:srgbClr val="344B47"/>
                </a:solidFill>
                <a:latin typeface="Aptos"/>
                <a:ea typeface="Aptos"/>
              </a:rPr>
              <a:t>Revisar la distribución de turnos y las causas de espera antes de cambiar la meta o sancionar al personal.</a:t>
            </a:r>
            <a:endParaRPr lang="en-US" sz="1900" noProof="1"/>
          </a:p>
        </p:txBody>
      </p:sp>
      <p:sp>
        <p:nvSpPr>
          <p:cNvPr id="23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4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25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COMPARACIÓN SISTEMÁTICA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Benchmarking: comparar para aprender, no para copiar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07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Fuente: Camp (1989); Robbins y Coulter (2018).</a:t>
            </a:r>
            <a:endParaRPr lang="en-US" sz="900" noProof="1"/>
          </a:p>
        </p:txBody>
      </p:sp>
      <p:sp>
        <p:nvSpPr>
          <p:cNvPr id="11" name="def"/>
          <p:cNvSpPr txBox="1"/>
          <p:nvPr/>
        </p:nvSpPr>
        <p:spPr>
          <a:xfrm>
            <a:off x="787400" y="1841500"/>
            <a:ext cx="10541000" cy="698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>
                <a:solidFill>
                  <a:srgbClr val="344B47"/>
                </a:solidFill>
                <a:latin typeface="Aptos"/>
                <a:ea typeface="Aptos"/>
              </a:rPr>
              <a:t>Proceso sistemático de comparar productos, servicios o prácticas con referentes pertinentes para identificar oportunidades de mejora.</a:t>
            </a:r>
            <a:endParaRPr lang="en-US" sz="1900" noProof="1"/>
          </a:p>
        </p:txBody>
      </p:sp>
      <p:sp>
        <p:nvSpPr>
          <p:cNvPr id="12" name="n0"/>
          <p:cNvSpPr txBox="1"/>
          <p:nvPr/>
        </p:nvSpPr>
        <p:spPr>
          <a:xfrm>
            <a:off x="825500" y="29337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01</a:t>
            </a:r>
            <a:endParaRPr lang="en-US" sz="1400" noProof="1"/>
          </a:p>
        </p:txBody>
      </p:sp>
      <p:sp>
        <p:nvSpPr>
          <p:cNvPr id="13" name="h0"/>
          <p:cNvSpPr txBox="1"/>
          <p:nvPr/>
        </p:nvSpPr>
        <p:spPr>
          <a:xfrm>
            <a:off x="1422400" y="29083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 b="1">
                <a:solidFill>
                  <a:srgbClr val="173F3A"/>
                </a:solidFill>
                <a:latin typeface="Aptos"/>
                <a:ea typeface="Aptos"/>
              </a:rPr>
              <a:t>Interno</a:t>
            </a:r>
            <a:endParaRPr lang="en-US" sz="1800" noProof="1"/>
          </a:p>
        </p:txBody>
      </p:sp>
      <p:sp>
        <p:nvSpPr>
          <p:cNvPr id="14" name="b0"/>
          <p:cNvSpPr txBox="1"/>
          <p:nvPr/>
        </p:nvSpPr>
        <p:spPr>
          <a:xfrm>
            <a:off x="3479800" y="2933700"/>
            <a:ext cx="7493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Entre unidades de la misma organización.</a:t>
            </a:r>
            <a:endParaRPr lang="en-US" sz="1600" noProof="1"/>
          </a:p>
        </p:txBody>
      </p:sp>
      <p:sp>
        <p:nvSpPr>
          <p:cNvPr id="15" name="l0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1422400" y="3416300"/>
            <a:ext cx="9461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16" name="n1"/>
          <p:cNvSpPr txBox="1"/>
          <p:nvPr/>
        </p:nvSpPr>
        <p:spPr>
          <a:xfrm>
            <a:off x="825500" y="36322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02</a:t>
            </a:r>
            <a:endParaRPr lang="en-US" sz="1400" noProof="1"/>
          </a:p>
        </p:txBody>
      </p:sp>
      <p:sp>
        <p:nvSpPr>
          <p:cNvPr id="17" name="h1"/>
          <p:cNvSpPr txBox="1"/>
          <p:nvPr/>
        </p:nvSpPr>
        <p:spPr>
          <a:xfrm>
            <a:off x="1422400" y="3606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 b="1">
                <a:solidFill>
                  <a:srgbClr val="173F3A"/>
                </a:solidFill>
                <a:latin typeface="Aptos"/>
                <a:ea typeface="Aptos"/>
              </a:rPr>
              <a:t>Competitivo</a:t>
            </a:r>
            <a:endParaRPr lang="en-US" sz="1800" noProof="1"/>
          </a:p>
        </p:txBody>
      </p:sp>
      <p:sp>
        <p:nvSpPr>
          <p:cNvPr id="18" name="b1"/>
          <p:cNvSpPr txBox="1"/>
          <p:nvPr/>
        </p:nvSpPr>
        <p:spPr>
          <a:xfrm>
            <a:off x="3479800" y="3632200"/>
            <a:ext cx="7493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Con competidores directos.</a:t>
            </a:r>
            <a:endParaRPr lang="en-US" sz="1600" noProof="1"/>
          </a:p>
        </p:txBody>
      </p:sp>
      <p:sp>
        <p:nvSpPr>
          <p:cNvPr id="19" name="l1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1422400" y="4114800"/>
            <a:ext cx="9461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0" name="n2"/>
          <p:cNvSpPr txBox="1"/>
          <p:nvPr/>
        </p:nvSpPr>
        <p:spPr>
          <a:xfrm>
            <a:off x="825500" y="43307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03</a:t>
            </a:r>
            <a:endParaRPr lang="en-US" sz="1400" noProof="1"/>
          </a:p>
        </p:txBody>
      </p:sp>
      <p:sp>
        <p:nvSpPr>
          <p:cNvPr id="21" name="h2"/>
          <p:cNvSpPr txBox="1"/>
          <p:nvPr/>
        </p:nvSpPr>
        <p:spPr>
          <a:xfrm>
            <a:off x="1422400" y="43053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 b="1">
                <a:solidFill>
                  <a:srgbClr val="173F3A"/>
                </a:solidFill>
                <a:latin typeface="Aptos"/>
                <a:ea typeface="Aptos"/>
              </a:rPr>
              <a:t>Funcional</a:t>
            </a:r>
            <a:endParaRPr lang="en-US" sz="1800" noProof="1"/>
          </a:p>
        </p:txBody>
      </p:sp>
      <p:sp>
        <p:nvSpPr>
          <p:cNvPr id="22" name="b2"/>
          <p:cNvSpPr txBox="1"/>
          <p:nvPr/>
        </p:nvSpPr>
        <p:spPr>
          <a:xfrm>
            <a:off x="3479800" y="4330700"/>
            <a:ext cx="7493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Con líderes de otras industrias en una función similar.</a:t>
            </a:r>
            <a:endParaRPr lang="en-US" sz="1600" noProof="1"/>
          </a:p>
        </p:txBody>
      </p:sp>
      <p:sp>
        <p:nvSpPr>
          <p:cNvPr id="23" name="l2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1422400" y="4813300"/>
            <a:ext cx="9461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4" name="n3"/>
          <p:cNvSpPr txBox="1"/>
          <p:nvPr/>
        </p:nvSpPr>
        <p:spPr>
          <a:xfrm>
            <a:off x="825500" y="5029200"/>
            <a:ext cx="35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04</a:t>
            </a:r>
            <a:endParaRPr lang="en-US" sz="1400" noProof="1"/>
          </a:p>
        </p:txBody>
      </p:sp>
      <p:sp>
        <p:nvSpPr>
          <p:cNvPr id="25" name="h3"/>
          <p:cNvSpPr txBox="1"/>
          <p:nvPr/>
        </p:nvSpPr>
        <p:spPr>
          <a:xfrm>
            <a:off x="1422400" y="50038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 b="1">
                <a:solidFill>
                  <a:srgbClr val="173F3A"/>
                </a:solidFill>
                <a:latin typeface="Aptos"/>
                <a:ea typeface="Aptos"/>
              </a:rPr>
              <a:t>Genérico</a:t>
            </a:r>
            <a:endParaRPr lang="en-US" sz="1800" noProof="1"/>
          </a:p>
        </p:txBody>
      </p:sp>
      <p:sp>
        <p:nvSpPr>
          <p:cNvPr id="26" name="b3"/>
          <p:cNvSpPr txBox="1"/>
          <p:nvPr/>
        </p:nvSpPr>
        <p:spPr>
          <a:xfrm>
            <a:off x="3479800" y="5029200"/>
            <a:ext cx="7493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Con procesos comparables de cualquier organización.</a:t>
            </a:r>
            <a:endParaRPr lang="en-US" sz="1600" noProof="1"/>
          </a:p>
        </p:txBody>
      </p:sp>
      <p:sp>
        <p:nvSpPr>
          <p:cNvPr id="27" name="l3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1422400" y="5511800"/>
            <a:ext cx="9461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8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9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30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MÉTODO DE BENCHMARKING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Cinco pasos convierten una comparación en una mejora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08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Fuente: Camp (1989).</a:t>
            </a:r>
            <a:endParaRPr lang="en-US" sz="900" noProof="1"/>
          </a:p>
        </p:txBody>
      </p:sp>
      <p:sp>
        <p:nvSpPr>
          <p:cNvPr id="11" name="c0"/>
          <p:cNvSpPr/>
          <p:nvPr/>
        </p:nvSpPr>
        <p:spPr>
          <a:xfrm>
            <a:off x="685800" y="2032000"/>
            <a:ext cx="533400" cy="53340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12" name="n0"/>
          <p:cNvSpPr txBox="1"/>
          <p:nvPr/>
        </p:nvSpPr>
        <p:spPr>
          <a:xfrm>
            <a:off x="685800" y="20955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800" noProof="1" b="1">
                <a:solidFill>
                  <a:srgbClr val="FFFFFF"/>
                </a:solidFill>
                <a:latin typeface="Aptos"/>
                <a:ea typeface="Aptos"/>
              </a:rPr>
              <a:t>1</a:t>
            </a:r>
            <a:endParaRPr lang="en-US" sz="1800" noProof="1"/>
          </a:p>
        </p:txBody>
      </p:sp>
      <p:sp>
        <p:nvSpPr>
          <p:cNvPr id="13" name="h0"/>
          <p:cNvSpPr txBox="1"/>
          <p:nvPr/>
        </p:nvSpPr>
        <p:spPr>
          <a:xfrm>
            <a:off x="635000" y="28194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Delimitar</a:t>
            </a:r>
            <a:endParaRPr lang="en-US" sz="1900" noProof="1"/>
          </a:p>
        </p:txBody>
      </p:sp>
      <p:sp>
        <p:nvSpPr>
          <p:cNvPr id="14" name="b0"/>
          <p:cNvSpPr txBox="1"/>
          <p:nvPr/>
        </p:nvSpPr>
        <p:spPr>
          <a:xfrm>
            <a:off x="635000" y="3302000"/>
            <a:ext cx="19685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344B47"/>
                </a:solidFill>
                <a:latin typeface="Aptos"/>
                <a:ea typeface="Aptos"/>
              </a:rPr>
              <a:t>¿Qué proceso y qué indicador se compararán?</a:t>
            </a:r>
            <a:endParaRPr lang="en-US" sz="1500" noProof="1"/>
          </a:p>
        </p:txBody>
      </p:sp>
      <p:sp>
        <p:nvSpPr>
          <p:cNvPr id="15" name="l0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1295400" y="2298700"/>
            <a:ext cx="1524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DDD8CE"/>
            </a:solidFill>
            <a:tailEnd type="arrow"/>
          </a:ln>
        </p:spPr>
      </p:sp>
      <p:sp>
        <p:nvSpPr>
          <p:cNvPr id="16" name="c1"/>
          <p:cNvSpPr/>
          <p:nvPr/>
        </p:nvSpPr>
        <p:spPr>
          <a:xfrm>
            <a:off x="2921000" y="2032000"/>
            <a:ext cx="533400" cy="53340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17" name="n1"/>
          <p:cNvSpPr txBox="1"/>
          <p:nvPr/>
        </p:nvSpPr>
        <p:spPr>
          <a:xfrm>
            <a:off x="2921000" y="20955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800" noProof="1" b="1">
                <a:solidFill>
                  <a:srgbClr val="FFFFFF"/>
                </a:solidFill>
                <a:latin typeface="Aptos"/>
                <a:ea typeface="Aptos"/>
              </a:rPr>
              <a:t>2</a:t>
            </a:r>
            <a:endParaRPr lang="en-US" sz="1800" noProof="1"/>
          </a:p>
        </p:txBody>
      </p:sp>
      <p:sp>
        <p:nvSpPr>
          <p:cNvPr id="18" name="h1"/>
          <p:cNvSpPr txBox="1"/>
          <p:nvPr/>
        </p:nvSpPr>
        <p:spPr>
          <a:xfrm>
            <a:off x="2870200" y="28194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Recopilar</a:t>
            </a:r>
            <a:endParaRPr lang="en-US" sz="1900" noProof="1"/>
          </a:p>
        </p:txBody>
      </p:sp>
      <p:sp>
        <p:nvSpPr>
          <p:cNvPr id="19" name="b1"/>
          <p:cNvSpPr txBox="1"/>
          <p:nvPr/>
        </p:nvSpPr>
        <p:spPr>
          <a:xfrm>
            <a:off x="2870200" y="3302000"/>
            <a:ext cx="19685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344B47"/>
                </a:solidFill>
                <a:latin typeface="Aptos"/>
                <a:ea typeface="Aptos"/>
              </a:rPr>
              <a:t>Obtener datos internos y externos confiables.</a:t>
            </a:r>
            <a:endParaRPr lang="en-US" sz="1500" noProof="1"/>
          </a:p>
        </p:txBody>
      </p:sp>
      <p:sp>
        <p:nvSpPr>
          <p:cNvPr id="20" name="l1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3530600" y="2298700"/>
            <a:ext cx="1524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DDD8CE"/>
            </a:solidFill>
            <a:tailEnd type="arrow"/>
          </a:ln>
        </p:spPr>
      </p:sp>
      <p:sp>
        <p:nvSpPr>
          <p:cNvPr id="21" name="c2"/>
          <p:cNvSpPr/>
          <p:nvPr/>
        </p:nvSpPr>
        <p:spPr>
          <a:xfrm>
            <a:off x="5156200" y="2032000"/>
            <a:ext cx="533400" cy="53340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22" name="n2"/>
          <p:cNvSpPr txBox="1"/>
          <p:nvPr/>
        </p:nvSpPr>
        <p:spPr>
          <a:xfrm>
            <a:off x="5156200" y="20955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800" noProof="1" b="1">
                <a:solidFill>
                  <a:srgbClr val="FFFFFF"/>
                </a:solidFill>
                <a:latin typeface="Aptos"/>
                <a:ea typeface="Aptos"/>
              </a:rPr>
              <a:t>3</a:t>
            </a:r>
            <a:endParaRPr lang="en-US" sz="1800" noProof="1"/>
          </a:p>
        </p:txBody>
      </p:sp>
      <p:sp>
        <p:nvSpPr>
          <p:cNvPr id="23" name="h2"/>
          <p:cNvSpPr txBox="1"/>
          <p:nvPr/>
        </p:nvSpPr>
        <p:spPr>
          <a:xfrm>
            <a:off x="5105400" y="28194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Analizar</a:t>
            </a:r>
            <a:endParaRPr lang="en-US" sz="1900" noProof="1"/>
          </a:p>
        </p:txBody>
      </p:sp>
      <p:sp>
        <p:nvSpPr>
          <p:cNvPr id="24" name="b2"/>
          <p:cNvSpPr txBox="1"/>
          <p:nvPr/>
        </p:nvSpPr>
        <p:spPr>
          <a:xfrm>
            <a:off x="5105400" y="3302000"/>
            <a:ext cx="19685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344B47"/>
                </a:solidFill>
                <a:latin typeface="Aptos"/>
                <a:ea typeface="Aptos"/>
              </a:rPr>
              <a:t>Identificar brechas y sus causas.</a:t>
            </a:r>
            <a:endParaRPr lang="en-US" sz="1500" noProof="1"/>
          </a:p>
        </p:txBody>
      </p:sp>
      <p:sp>
        <p:nvSpPr>
          <p:cNvPr id="25" name="l2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5765800" y="2298700"/>
            <a:ext cx="1524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DDD8CE"/>
            </a:solidFill>
            <a:tailEnd type="arrow"/>
          </a:ln>
        </p:spPr>
      </p:sp>
      <p:sp>
        <p:nvSpPr>
          <p:cNvPr id="26" name="c3"/>
          <p:cNvSpPr/>
          <p:nvPr/>
        </p:nvSpPr>
        <p:spPr>
          <a:xfrm>
            <a:off x="7391400" y="2032000"/>
            <a:ext cx="533400" cy="53340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27" name="n3"/>
          <p:cNvSpPr txBox="1"/>
          <p:nvPr/>
        </p:nvSpPr>
        <p:spPr>
          <a:xfrm>
            <a:off x="7391400" y="20955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800" noProof="1" b="1">
                <a:solidFill>
                  <a:srgbClr val="FFFFFF"/>
                </a:solidFill>
                <a:latin typeface="Aptos"/>
                <a:ea typeface="Aptos"/>
              </a:rPr>
              <a:t>4</a:t>
            </a:r>
            <a:endParaRPr lang="en-US" sz="1800" noProof="1"/>
          </a:p>
        </p:txBody>
      </p:sp>
      <p:sp>
        <p:nvSpPr>
          <p:cNvPr id="28" name="h3"/>
          <p:cNvSpPr txBox="1"/>
          <p:nvPr/>
        </p:nvSpPr>
        <p:spPr>
          <a:xfrm>
            <a:off x="7340600" y="28194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Adaptar</a:t>
            </a:r>
            <a:endParaRPr lang="en-US" sz="1900" noProof="1"/>
          </a:p>
        </p:txBody>
      </p:sp>
      <p:sp>
        <p:nvSpPr>
          <p:cNvPr id="29" name="b3"/>
          <p:cNvSpPr txBox="1"/>
          <p:nvPr/>
        </p:nvSpPr>
        <p:spPr>
          <a:xfrm>
            <a:off x="7340600" y="3302000"/>
            <a:ext cx="19685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344B47"/>
                </a:solidFill>
                <a:latin typeface="Aptos"/>
                <a:ea typeface="Aptos"/>
              </a:rPr>
              <a:t>Diseñar acciones según el contexto propio.</a:t>
            </a:r>
            <a:endParaRPr lang="en-US" sz="1500" noProof="1"/>
          </a:p>
        </p:txBody>
      </p:sp>
      <p:sp>
        <p:nvSpPr>
          <p:cNvPr id="30" name="l3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001000" y="2298700"/>
            <a:ext cx="1524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DDD8CE"/>
            </a:solidFill>
            <a:tailEnd type="arrow"/>
          </a:ln>
        </p:spPr>
      </p:sp>
      <p:sp>
        <p:nvSpPr>
          <p:cNvPr id="31" name="c4"/>
          <p:cNvSpPr/>
          <p:nvPr/>
        </p:nvSpPr>
        <p:spPr>
          <a:xfrm>
            <a:off x="9626600" y="2032000"/>
            <a:ext cx="533400" cy="53340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32" name="n4"/>
          <p:cNvSpPr txBox="1"/>
          <p:nvPr/>
        </p:nvSpPr>
        <p:spPr>
          <a:xfrm>
            <a:off x="9626600" y="20955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800" noProof="1" b="1">
                <a:solidFill>
                  <a:srgbClr val="FFFFFF"/>
                </a:solidFill>
                <a:latin typeface="Aptos"/>
                <a:ea typeface="Aptos"/>
              </a:rPr>
              <a:t>5</a:t>
            </a:r>
            <a:endParaRPr lang="en-US" sz="1800" noProof="1"/>
          </a:p>
        </p:txBody>
      </p:sp>
      <p:sp>
        <p:nvSpPr>
          <p:cNvPr id="33" name="h4"/>
          <p:cNvSpPr txBox="1"/>
          <p:nvPr/>
        </p:nvSpPr>
        <p:spPr>
          <a:xfrm>
            <a:off x="9575800" y="28194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Implantar</a:t>
            </a:r>
            <a:endParaRPr lang="en-US" sz="1900" noProof="1"/>
          </a:p>
        </p:txBody>
      </p:sp>
      <p:sp>
        <p:nvSpPr>
          <p:cNvPr id="34" name="b4"/>
          <p:cNvSpPr txBox="1"/>
          <p:nvPr/>
        </p:nvSpPr>
        <p:spPr>
          <a:xfrm>
            <a:off x="9575800" y="3302000"/>
            <a:ext cx="19685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344B47"/>
                </a:solidFill>
                <a:latin typeface="Aptos"/>
                <a:ea typeface="Aptos"/>
              </a:rPr>
              <a:t>Ejecutar, medir y ajustar.</a:t>
            </a:r>
            <a:endParaRPr lang="en-US" sz="1500" noProof="1"/>
          </a:p>
        </p:txBody>
      </p:sp>
      <p:sp>
        <p:nvSpPr>
          <p:cNvPr id="35" name="ethics"/>
          <p:cNvSpPr/>
          <p:nvPr/>
        </p:nvSpPr>
        <p:spPr>
          <a:xfrm>
            <a:off x="736600" y="4902200"/>
            <a:ext cx="10668000" cy="838200"/>
          </a:xfrm>
          <a:prstGeom prst="rect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6" name="e"/>
          <p:cNvSpPr txBox="1"/>
          <p:nvPr/>
        </p:nvSpPr>
        <p:spPr>
          <a:xfrm>
            <a:off x="1041400" y="5105400"/>
            <a:ext cx="10058400" cy="44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700" noProof="1" b="1">
                <a:solidFill>
                  <a:srgbClr val="173F3A"/>
                </a:solidFill>
                <a:latin typeface="Aptos"/>
                <a:ea typeface="Aptos"/>
              </a:rPr>
              <a:t>Criterio ético: usar información obtenida legítimamente y adaptar las prácticas; no copiar ni divulgar datos confidenciales.</a:t>
            </a:r>
            <a:endParaRPr lang="en-US" sz="1700" noProof="1"/>
          </a:p>
        </p:txBody>
      </p:sp>
      <p:sp>
        <p:nvSpPr>
          <p:cNvPr id="37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8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39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MAPA DE HERRAMIENTAS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Cada herramienta responde a una pregunta distinta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09</a:t>
            </a:r>
            <a:endParaRPr lang="en-US" sz="1100" noProof="1"/>
          </a:p>
        </p:txBody>
      </p:sp>
      <p:sp>
        <p:nvSpPr>
          <p:cNvPr id="10" name="h0"/>
          <p:cNvSpPr txBox="1"/>
          <p:nvPr/>
        </p:nvSpPr>
        <p:spPr>
          <a:xfrm>
            <a:off x="787400" y="18796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Benchmarking</a:t>
            </a:r>
            <a:endParaRPr lang="en-US" sz="2000" noProof="1"/>
          </a:p>
        </p:txBody>
      </p:sp>
      <p:sp>
        <p:nvSpPr>
          <p:cNvPr id="11" name="q0"/>
          <p:cNvSpPr txBox="1"/>
          <p:nvPr/>
        </p:nvSpPr>
        <p:spPr>
          <a:xfrm>
            <a:off x="3619500" y="1879600"/>
            <a:ext cx="4826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¿Qué nivel de desempeño deberíamos alcanzar?</a:t>
            </a:r>
            <a:endParaRPr lang="en-US" sz="1700" noProof="1"/>
          </a:p>
        </p:txBody>
      </p:sp>
      <p:sp>
        <p:nvSpPr>
          <p:cNvPr id="12" name="a0"/>
          <p:cNvSpPr txBox="1"/>
          <p:nvPr/>
        </p:nvSpPr>
        <p:spPr>
          <a:xfrm>
            <a:off x="8864600" y="1879600"/>
            <a:ext cx="2540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Referentes y brechas</a:t>
            </a:r>
            <a:endParaRPr lang="en-US" sz="1500" noProof="1"/>
          </a:p>
        </p:txBody>
      </p:sp>
      <p:sp>
        <p:nvSpPr>
          <p:cNvPr id="13" name="l0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87400" y="2603500"/>
            <a:ext cx="10617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14" name="h1"/>
          <p:cNvSpPr txBox="1"/>
          <p:nvPr/>
        </p:nvSpPr>
        <p:spPr>
          <a:xfrm>
            <a:off x="787400" y="28702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Gantt</a:t>
            </a:r>
            <a:endParaRPr lang="en-US" sz="2000" noProof="1"/>
          </a:p>
        </p:txBody>
      </p:sp>
      <p:sp>
        <p:nvSpPr>
          <p:cNvPr id="15" name="q1"/>
          <p:cNvSpPr txBox="1"/>
          <p:nvPr/>
        </p:nvSpPr>
        <p:spPr>
          <a:xfrm>
            <a:off x="3619500" y="2870200"/>
            <a:ext cx="4826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¿Qué actividades ocurren y cuándo?</a:t>
            </a:r>
            <a:endParaRPr lang="en-US" sz="1700" noProof="1"/>
          </a:p>
        </p:txBody>
      </p:sp>
      <p:sp>
        <p:nvSpPr>
          <p:cNvPr id="16" name="a1"/>
          <p:cNvSpPr txBox="1"/>
          <p:nvPr/>
        </p:nvSpPr>
        <p:spPr>
          <a:xfrm>
            <a:off x="8864600" y="2870200"/>
            <a:ext cx="2540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Calendario y avance</a:t>
            </a:r>
            <a:endParaRPr lang="en-US" sz="1500" noProof="1"/>
          </a:p>
        </p:txBody>
      </p:sp>
      <p:sp>
        <p:nvSpPr>
          <p:cNvPr id="17" name="l1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87400" y="3594100"/>
            <a:ext cx="10617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18" name="h2"/>
          <p:cNvSpPr txBox="1"/>
          <p:nvPr/>
        </p:nvSpPr>
        <p:spPr>
          <a:xfrm>
            <a:off x="787400" y="38608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PERT</a:t>
            </a:r>
            <a:endParaRPr lang="en-US" sz="2000" noProof="1"/>
          </a:p>
        </p:txBody>
      </p:sp>
      <p:sp>
        <p:nvSpPr>
          <p:cNvPr id="19" name="q2"/>
          <p:cNvSpPr txBox="1"/>
          <p:nvPr/>
        </p:nvSpPr>
        <p:spPr>
          <a:xfrm>
            <a:off x="3619500" y="3860800"/>
            <a:ext cx="4826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¿Cómo planificar con duraciones inciertas?</a:t>
            </a:r>
            <a:endParaRPr lang="en-US" sz="1700" noProof="1"/>
          </a:p>
        </p:txBody>
      </p:sp>
      <p:sp>
        <p:nvSpPr>
          <p:cNvPr id="20" name="a2"/>
          <p:cNvSpPr txBox="1"/>
          <p:nvPr/>
        </p:nvSpPr>
        <p:spPr>
          <a:xfrm>
            <a:off x="8864600" y="3860800"/>
            <a:ext cx="2540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Red, estimados y probabilidad</a:t>
            </a:r>
            <a:endParaRPr lang="en-US" sz="1500" noProof="1"/>
          </a:p>
        </p:txBody>
      </p:sp>
      <p:sp>
        <p:nvSpPr>
          <p:cNvPr id="21" name="l2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87400" y="4584700"/>
            <a:ext cx="10617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2" name="h3"/>
          <p:cNvSpPr txBox="1"/>
          <p:nvPr/>
        </p:nvSpPr>
        <p:spPr>
          <a:xfrm>
            <a:off x="787400" y="48514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Ruta crítica · CPM</a:t>
            </a:r>
            <a:endParaRPr lang="en-US" sz="2000" noProof="1"/>
          </a:p>
        </p:txBody>
      </p:sp>
      <p:sp>
        <p:nvSpPr>
          <p:cNvPr id="23" name="q3"/>
          <p:cNvSpPr txBox="1"/>
          <p:nvPr/>
        </p:nvSpPr>
        <p:spPr>
          <a:xfrm>
            <a:off x="3619500" y="4851400"/>
            <a:ext cx="4826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¿Qué actividades determinan la duración total?</a:t>
            </a:r>
            <a:endParaRPr lang="en-US" sz="1700" noProof="1"/>
          </a:p>
        </p:txBody>
      </p:sp>
      <p:sp>
        <p:nvSpPr>
          <p:cNvPr id="24" name="a3"/>
          <p:cNvSpPr txBox="1"/>
          <p:nvPr/>
        </p:nvSpPr>
        <p:spPr>
          <a:xfrm>
            <a:off x="8864600" y="4851400"/>
            <a:ext cx="2540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Dependencias y holguras</a:t>
            </a:r>
            <a:endParaRPr lang="en-US" sz="1500" noProof="1"/>
          </a:p>
        </p:txBody>
      </p:sp>
      <p:sp>
        <p:nvSpPr>
          <p:cNvPr id="25" name="l3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87400" y="5575300"/>
            <a:ext cx="106172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6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7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28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DIAGRAMA DE GANTT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Gantt permite contrastar el plan con el avance real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10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Ejemplo didáctico: feria de salud comunitaria.</a:t>
            </a:r>
            <a:endParaRPr lang="en-US" sz="900" noProof="1"/>
          </a:p>
        </p:txBody>
      </p:sp>
      <p:sp>
        <p:nvSpPr>
          <p:cNvPr id="11" name="w0"/>
          <p:cNvSpPr txBox="1"/>
          <p:nvPr/>
        </p:nvSpPr>
        <p:spPr>
          <a:xfrm>
            <a:off x="4572000" y="18796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S1</a:t>
            </a:r>
            <a:endParaRPr lang="en-US" sz="1100" noProof="1"/>
          </a:p>
        </p:txBody>
      </p:sp>
      <p:sp>
        <p:nvSpPr>
          <p:cNvPr id="12" name="w1"/>
          <p:cNvSpPr txBox="1"/>
          <p:nvPr/>
        </p:nvSpPr>
        <p:spPr>
          <a:xfrm>
            <a:off x="5308600" y="18796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S2</a:t>
            </a:r>
            <a:endParaRPr lang="en-US" sz="1100" noProof="1"/>
          </a:p>
        </p:txBody>
      </p:sp>
      <p:sp>
        <p:nvSpPr>
          <p:cNvPr id="13" name="w2"/>
          <p:cNvSpPr txBox="1"/>
          <p:nvPr/>
        </p:nvSpPr>
        <p:spPr>
          <a:xfrm>
            <a:off x="6045200" y="18796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S3</a:t>
            </a:r>
            <a:endParaRPr lang="en-US" sz="1100" noProof="1"/>
          </a:p>
        </p:txBody>
      </p:sp>
      <p:sp>
        <p:nvSpPr>
          <p:cNvPr id="14" name="w3"/>
          <p:cNvSpPr txBox="1"/>
          <p:nvPr/>
        </p:nvSpPr>
        <p:spPr>
          <a:xfrm>
            <a:off x="6781800" y="18796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S4</a:t>
            </a:r>
            <a:endParaRPr lang="en-US" sz="1100" noProof="1"/>
          </a:p>
        </p:txBody>
      </p:sp>
      <p:sp>
        <p:nvSpPr>
          <p:cNvPr id="15" name="w4"/>
          <p:cNvSpPr txBox="1"/>
          <p:nvPr/>
        </p:nvSpPr>
        <p:spPr>
          <a:xfrm>
            <a:off x="7518400" y="18796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S5</a:t>
            </a:r>
            <a:endParaRPr lang="en-US" sz="1100" noProof="1"/>
          </a:p>
        </p:txBody>
      </p:sp>
      <p:sp>
        <p:nvSpPr>
          <p:cNvPr id="16" name="w5"/>
          <p:cNvSpPr txBox="1"/>
          <p:nvPr/>
        </p:nvSpPr>
        <p:spPr>
          <a:xfrm>
            <a:off x="8255000" y="18796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S6</a:t>
            </a:r>
            <a:endParaRPr lang="en-US" sz="1100" noProof="1"/>
          </a:p>
        </p:txBody>
      </p:sp>
      <p:sp>
        <p:nvSpPr>
          <p:cNvPr id="17" name="w6"/>
          <p:cNvSpPr txBox="1"/>
          <p:nvPr/>
        </p:nvSpPr>
        <p:spPr>
          <a:xfrm>
            <a:off x="8991600" y="18796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S7</a:t>
            </a:r>
            <a:endParaRPr lang="en-US" sz="1100" noProof="1"/>
          </a:p>
        </p:txBody>
      </p:sp>
      <p:sp>
        <p:nvSpPr>
          <p:cNvPr id="18" name="w7"/>
          <p:cNvSpPr txBox="1"/>
          <p:nvPr/>
        </p:nvSpPr>
        <p:spPr>
          <a:xfrm>
            <a:off x="9728200" y="1879600"/>
            <a:ext cx="685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S8</a:t>
            </a:r>
            <a:endParaRPr lang="en-US" sz="1100" noProof="1"/>
          </a:p>
        </p:txBody>
      </p:sp>
      <p:sp>
        <p:nvSpPr>
          <p:cNvPr id="19" name="a0"/>
          <p:cNvSpPr txBox="1"/>
          <p:nvPr/>
        </p:nvSpPr>
        <p:spPr>
          <a:xfrm>
            <a:off x="889000" y="24130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b="1">
                <a:solidFill>
                  <a:srgbClr val="173F3A"/>
                </a:solidFill>
                <a:latin typeface="Aptos"/>
                <a:ea typeface="Aptos"/>
              </a:rPr>
              <a:t>Permisos</a:t>
            </a:r>
            <a:endParaRPr lang="en-US" sz="1700" noProof="1"/>
          </a:p>
        </p:txBody>
      </p:sp>
      <p:sp>
        <p:nvSpPr>
          <p:cNvPr id="20" name="grid0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3429000" y="2679700"/>
            <a:ext cx="7937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1" name="plan0"/>
          <p:cNvSpPr/>
          <p:nvPr/>
        </p:nvSpPr>
        <p:spPr>
          <a:xfrm>
            <a:off x="4572000" y="2463800"/>
            <a:ext cx="1371600" cy="228600"/>
          </a:xfrm>
          <a:prstGeom prst="rect">
            <a:avLst/>
          </a:prstGeom>
          <a:solidFill>
            <a:srgbClr val="173F3A"/>
          </a:solidFill>
          <a:ln>
            <a:noFill/>
          </a:ln>
        </p:spPr>
      </p:sp>
      <p:sp>
        <p:nvSpPr>
          <p:cNvPr id="22" name="act0"/>
          <p:cNvSpPr/>
          <p:nvPr/>
        </p:nvSpPr>
        <p:spPr>
          <a:xfrm>
            <a:off x="4572000" y="2768600"/>
            <a:ext cx="1371600" cy="88900"/>
          </a:xfrm>
          <a:prstGeom prst="rect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23" name="a1"/>
          <p:cNvSpPr txBox="1"/>
          <p:nvPr/>
        </p:nvSpPr>
        <p:spPr>
          <a:xfrm>
            <a:off x="889000" y="31242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b="1">
                <a:solidFill>
                  <a:srgbClr val="173F3A"/>
                </a:solidFill>
                <a:latin typeface="Aptos"/>
                <a:ea typeface="Aptos"/>
              </a:rPr>
              <a:t>Voluntarios</a:t>
            </a:r>
            <a:endParaRPr lang="en-US" sz="1700" noProof="1"/>
          </a:p>
        </p:txBody>
      </p:sp>
      <p:sp>
        <p:nvSpPr>
          <p:cNvPr id="24" name="grid1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3429000" y="3390900"/>
            <a:ext cx="7937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5" name="plan1"/>
          <p:cNvSpPr/>
          <p:nvPr/>
        </p:nvSpPr>
        <p:spPr>
          <a:xfrm>
            <a:off x="5308600" y="3175000"/>
            <a:ext cx="2108200" cy="228600"/>
          </a:xfrm>
          <a:prstGeom prst="rect">
            <a:avLst/>
          </a:prstGeom>
          <a:solidFill>
            <a:srgbClr val="173F3A"/>
          </a:solidFill>
          <a:ln>
            <a:noFill/>
          </a:ln>
        </p:spPr>
      </p:sp>
      <p:sp>
        <p:nvSpPr>
          <p:cNvPr id="26" name="act1"/>
          <p:cNvSpPr/>
          <p:nvPr/>
        </p:nvSpPr>
        <p:spPr>
          <a:xfrm>
            <a:off x="5308600" y="3479800"/>
            <a:ext cx="2108200" cy="88900"/>
          </a:xfrm>
          <a:prstGeom prst="rect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27" name="a2"/>
          <p:cNvSpPr txBox="1"/>
          <p:nvPr/>
        </p:nvSpPr>
        <p:spPr>
          <a:xfrm>
            <a:off x="889000" y="38354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b="1">
                <a:solidFill>
                  <a:srgbClr val="173F3A"/>
                </a:solidFill>
                <a:latin typeface="Aptos"/>
                <a:ea typeface="Aptos"/>
              </a:rPr>
              <a:t>Promoción</a:t>
            </a:r>
            <a:endParaRPr lang="en-US" sz="1700" noProof="1"/>
          </a:p>
        </p:txBody>
      </p:sp>
      <p:sp>
        <p:nvSpPr>
          <p:cNvPr id="28" name="grid2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3429000" y="4102100"/>
            <a:ext cx="7937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9" name="plan2"/>
          <p:cNvSpPr/>
          <p:nvPr/>
        </p:nvSpPr>
        <p:spPr>
          <a:xfrm>
            <a:off x="6781800" y="3886200"/>
            <a:ext cx="2844800" cy="228600"/>
          </a:xfrm>
          <a:prstGeom prst="rect">
            <a:avLst/>
          </a:prstGeom>
          <a:solidFill>
            <a:srgbClr val="173F3A"/>
          </a:solidFill>
          <a:ln>
            <a:noFill/>
          </a:ln>
        </p:spPr>
      </p:sp>
      <p:sp>
        <p:nvSpPr>
          <p:cNvPr id="30" name="act2"/>
          <p:cNvSpPr/>
          <p:nvPr/>
        </p:nvSpPr>
        <p:spPr>
          <a:xfrm>
            <a:off x="6781800" y="4191000"/>
            <a:ext cx="2108200" cy="88900"/>
          </a:xfrm>
          <a:prstGeom prst="rect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31" name="a3"/>
          <p:cNvSpPr txBox="1"/>
          <p:nvPr/>
        </p:nvSpPr>
        <p:spPr>
          <a:xfrm>
            <a:off x="889000" y="45466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b="1">
                <a:solidFill>
                  <a:srgbClr val="173F3A"/>
                </a:solidFill>
                <a:latin typeface="Aptos"/>
                <a:ea typeface="Aptos"/>
              </a:rPr>
              <a:t>Feria</a:t>
            </a:r>
            <a:endParaRPr lang="en-US" sz="1700" noProof="1"/>
          </a:p>
        </p:txBody>
      </p:sp>
      <p:sp>
        <p:nvSpPr>
          <p:cNvPr id="32" name="grid3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3429000" y="4813300"/>
            <a:ext cx="7937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33" name="plan3"/>
          <p:cNvSpPr/>
          <p:nvPr/>
        </p:nvSpPr>
        <p:spPr>
          <a:xfrm>
            <a:off x="9728200" y="4597400"/>
            <a:ext cx="635000" cy="228600"/>
          </a:xfrm>
          <a:prstGeom prst="rect">
            <a:avLst/>
          </a:prstGeom>
          <a:solidFill>
            <a:srgbClr val="173F3A"/>
          </a:solidFill>
          <a:ln>
            <a:noFill/>
          </a:ln>
        </p:spPr>
      </p:sp>
      <p:sp>
        <p:nvSpPr>
          <p:cNvPr id="34" name="today"/>
          <p:cNvSpPr/>
          <p:nvPr>
            <p:extLst>
              <p:ext uri="{F5677B7D-0D2A-4D9B-9A5C-6D8D7D0E5A5D}">
                <pptd:line encoding="base64url">eyJ2aWV3Qm94IjpbMSwxXSwicG9pbnRzIjoiMCwwIDAsMSIsImN1cnZlIjoic2hhcnAifQ</pptd:line>
              </p:ext>
            </p:extLst>
          </p:nvPr>
        </p:nvSpPr>
        <p:spPr>
          <a:xfrm>
            <a:off x="8255000" y="2247900"/>
            <a:ext cx="12700" cy="28321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25400">
            <a:solidFill>
              <a:srgbClr val="F06449"/>
            </a:solidFill>
          </a:ln>
        </p:spPr>
      </p:sp>
      <p:sp>
        <p:nvSpPr>
          <p:cNvPr id="35" name="todayt"/>
          <p:cNvSpPr txBox="1"/>
          <p:nvPr/>
        </p:nvSpPr>
        <p:spPr>
          <a:xfrm>
            <a:off x="7670800" y="50800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200" noProof="1" b="1">
                <a:solidFill>
                  <a:srgbClr val="F06449"/>
                </a:solidFill>
                <a:latin typeface="Aptos"/>
                <a:ea typeface="Aptos"/>
              </a:rPr>
              <a:t>Seguimiento: semana 6</a:t>
            </a:r>
            <a:endParaRPr lang="en-US" sz="1200" noProof="1"/>
          </a:p>
        </p:txBody>
      </p:sp>
      <p:sp>
        <p:nvSpPr>
          <p:cNvPr id="36" name="legend"/>
          <p:cNvSpPr txBox="1"/>
          <p:nvPr/>
        </p:nvSpPr>
        <p:spPr>
          <a:xfrm>
            <a:off x="889000" y="5511800"/>
            <a:ext cx="1041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>
                <a:solidFill>
                  <a:srgbClr val="344B47"/>
                </a:solidFill>
                <a:latin typeface="Aptos"/>
                <a:ea typeface="Aptos"/>
              </a:rPr>
              <a:t>Barra oscura: plan   ·   Línea naranja: avance real   ·   La lectura rápida facilita reprogramar y comunicar.</a:t>
            </a:r>
            <a:endParaRPr lang="en-US" sz="1500" noProof="1"/>
          </a:p>
        </p:txBody>
      </p:sp>
      <p:sp>
        <p:nvSpPr>
          <p:cNvPr id="37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8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39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TÉCNICA PERT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PERT mide la incertidumbre con tres estimados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11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Fuente: Malcolm et al. (1959); Kerzner (2017).</a:t>
            </a:r>
            <a:endParaRPr lang="en-US" sz="900" noProof="1"/>
          </a:p>
        </p:txBody>
      </p:sp>
      <p:sp>
        <p:nvSpPr>
          <p:cNvPr id="11" name="s0"/>
          <p:cNvSpPr txBox="1"/>
          <p:nvPr/>
        </p:nvSpPr>
        <p:spPr>
          <a:xfrm>
            <a:off x="863600" y="1917700"/>
            <a:ext cx="50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500" noProof="1" b="1">
                <a:solidFill>
                  <a:srgbClr val="F06449"/>
                </a:solidFill>
                <a:latin typeface="Aptos"/>
                <a:ea typeface="Aptos"/>
              </a:rPr>
              <a:t>a</a:t>
            </a:r>
            <a:endParaRPr lang="en-US" sz="2500" noProof="1"/>
          </a:p>
        </p:txBody>
      </p:sp>
      <p:sp>
        <p:nvSpPr>
          <p:cNvPr id="12" name="h0"/>
          <p:cNvSpPr txBox="1"/>
          <p:nvPr/>
        </p:nvSpPr>
        <p:spPr>
          <a:xfrm>
            <a:off x="1524000" y="19177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Optimista</a:t>
            </a:r>
            <a:endParaRPr lang="en-US" sz="1900" noProof="1"/>
          </a:p>
        </p:txBody>
      </p:sp>
      <p:sp>
        <p:nvSpPr>
          <p:cNvPr id="13" name="b0"/>
          <p:cNvSpPr txBox="1"/>
          <p:nvPr/>
        </p:nvSpPr>
        <p:spPr>
          <a:xfrm>
            <a:off x="3937000" y="1917700"/>
            <a:ext cx="330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Si las condiciones son favorables</a:t>
            </a:r>
            <a:endParaRPr lang="en-US" sz="1600" noProof="1"/>
          </a:p>
        </p:txBody>
      </p:sp>
      <p:sp>
        <p:nvSpPr>
          <p:cNvPr id="14" name="s1"/>
          <p:cNvSpPr txBox="1"/>
          <p:nvPr/>
        </p:nvSpPr>
        <p:spPr>
          <a:xfrm>
            <a:off x="863600" y="2768600"/>
            <a:ext cx="50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500" noProof="1" b="1">
                <a:solidFill>
                  <a:srgbClr val="F06449"/>
                </a:solidFill>
                <a:latin typeface="Aptos"/>
                <a:ea typeface="Aptos"/>
              </a:rPr>
              <a:t>m</a:t>
            </a:r>
            <a:endParaRPr lang="en-US" sz="2500" noProof="1"/>
          </a:p>
        </p:txBody>
      </p:sp>
      <p:sp>
        <p:nvSpPr>
          <p:cNvPr id="15" name="h1"/>
          <p:cNvSpPr txBox="1"/>
          <p:nvPr/>
        </p:nvSpPr>
        <p:spPr>
          <a:xfrm>
            <a:off x="1524000" y="27686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Más probable</a:t>
            </a:r>
            <a:endParaRPr lang="en-US" sz="1900" noProof="1"/>
          </a:p>
        </p:txBody>
      </p:sp>
      <p:sp>
        <p:nvSpPr>
          <p:cNvPr id="16" name="b1"/>
          <p:cNvSpPr txBox="1"/>
          <p:nvPr/>
        </p:nvSpPr>
        <p:spPr>
          <a:xfrm>
            <a:off x="3937000" y="2768600"/>
            <a:ext cx="330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En condiciones normales</a:t>
            </a:r>
            <a:endParaRPr lang="en-US" sz="1600" noProof="1"/>
          </a:p>
        </p:txBody>
      </p:sp>
      <p:sp>
        <p:nvSpPr>
          <p:cNvPr id="17" name="s2"/>
          <p:cNvSpPr txBox="1"/>
          <p:nvPr/>
        </p:nvSpPr>
        <p:spPr>
          <a:xfrm>
            <a:off x="863600" y="3619500"/>
            <a:ext cx="50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500" noProof="1" b="1">
                <a:solidFill>
                  <a:srgbClr val="F06449"/>
                </a:solidFill>
                <a:latin typeface="Aptos"/>
                <a:ea typeface="Aptos"/>
              </a:rPr>
              <a:t>b</a:t>
            </a:r>
            <a:endParaRPr lang="en-US" sz="2500" noProof="1"/>
          </a:p>
        </p:txBody>
      </p:sp>
      <p:sp>
        <p:nvSpPr>
          <p:cNvPr id="18" name="h2"/>
          <p:cNvSpPr txBox="1"/>
          <p:nvPr/>
        </p:nvSpPr>
        <p:spPr>
          <a:xfrm>
            <a:off x="1524000" y="361950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Pesimista</a:t>
            </a:r>
            <a:endParaRPr lang="en-US" sz="1900" noProof="1"/>
          </a:p>
        </p:txBody>
      </p:sp>
      <p:sp>
        <p:nvSpPr>
          <p:cNvPr id="19" name="b2"/>
          <p:cNvSpPr txBox="1"/>
          <p:nvPr/>
        </p:nvSpPr>
        <p:spPr>
          <a:xfrm>
            <a:off x="3937000" y="3619500"/>
            <a:ext cx="330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Si ocurren dificultades</a:t>
            </a:r>
            <a:endParaRPr lang="en-US" sz="1600" noProof="1"/>
          </a:p>
        </p:txBody>
      </p:sp>
      <p:sp>
        <p:nvSpPr>
          <p:cNvPr id="20" name="formula"/>
          <p:cNvSpPr/>
          <p:nvPr/>
        </p:nvSpPr>
        <p:spPr>
          <a:xfrm>
            <a:off x="7874000" y="1955800"/>
            <a:ext cx="3530600" cy="2286000"/>
          </a:xfrm>
          <a:prstGeom prst="rect">
            <a:avLst/>
          </a:prstGeom>
          <a:solidFill>
            <a:srgbClr val="173F3A"/>
          </a:solidFill>
          <a:ln>
            <a:noFill/>
          </a:ln>
        </p:spPr>
      </p:sp>
      <p:sp>
        <p:nvSpPr>
          <p:cNvPr id="21" name="ft"/>
          <p:cNvSpPr txBox="1"/>
          <p:nvPr/>
        </p:nvSpPr>
        <p:spPr>
          <a:xfrm>
            <a:off x="8229600" y="22733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200" noProof="1" b="1">
                <a:solidFill>
                  <a:srgbClr val="FFFFFF"/>
                </a:solidFill>
                <a:latin typeface="Aptos"/>
                <a:ea typeface="Aptos"/>
              </a:rPr>
              <a:t>TIEMPO ESPERADO</a:t>
            </a:r>
            <a:endParaRPr lang="en-US" sz="1200" noProof="1"/>
          </a:p>
        </p:txBody>
      </p:sp>
      <p:sp>
        <p:nvSpPr>
          <p:cNvPr id="22" name="f"/>
          <p:cNvSpPr txBox="1"/>
          <p:nvPr/>
        </p:nvSpPr>
        <p:spPr>
          <a:xfrm>
            <a:off x="8128000" y="2844800"/>
            <a:ext cx="3022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500" noProof="1" b="1">
                <a:solidFill>
                  <a:srgbClr val="FFFFFF"/>
                </a:solidFill>
                <a:latin typeface="Aptos"/>
                <a:ea typeface="Aptos"/>
              </a:rPr>
              <a:t>te = (a + 4m + b) / 6</a:t>
            </a:r>
            <a:endParaRPr lang="en-US" sz="2500" noProof="1"/>
          </a:p>
        </p:txBody>
      </p:sp>
      <p:sp>
        <p:nvSpPr>
          <p:cNvPr id="23" name="example"/>
          <p:cNvSpPr txBox="1"/>
          <p:nvPr/>
        </p:nvSpPr>
        <p:spPr>
          <a:xfrm>
            <a:off x="8229600" y="3644900"/>
            <a:ext cx="27940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300" noProof="1" b="1">
                <a:solidFill>
                  <a:srgbClr val="F4C8AE"/>
                </a:solidFill>
                <a:latin typeface="Aptos"/>
                <a:ea typeface="Aptos"/>
              </a:rPr>
              <a:t>Ej.: (4 + 24 + 14) / 6 = 7 días</a:t>
            </a:r>
            <a:endParaRPr lang="en-US" sz="1300" noProof="1"/>
          </a:p>
        </p:txBody>
      </p:sp>
      <p:sp>
        <p:nvSpPr>
          <p:cNvPr id="24" name="note"/>
          <p:cNvSpPr txBox="1"/>
          <p:nvPr/>
        </p:nvSpPr>
        <p:spPr>
          <a:xfrm>
            <a:off x="889000" y="4940300"/>
            <a:ext cx="10033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El peso mayor del estimado más probable evita que los extremos dominen el cálculo. La fórmula resume una aproximación, no elimina la incertidumbre.</a:t>
            </a:r>
            <a:endParaRPr lang="en-US" sz="1700" noProof="1"/>
          </a:p>
        </p:txBody>
      </p:sp>
      <p:sp>
        <p:nvSpPr>
          <p:cNvPr id="25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6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27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ELEMENTOS DE LA RED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La red muestra qué depende de qué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12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Ejemplo del trabajo escrito: organización de una actividad comunitaria (datos hipotéticos).</a:t>
            </a:r>
            <a:endParaRPr lang="en-US" sz="900" noProof="1"/>
          </a:p>
        </p:txBody>
      </p:sp>
      <p:sp>
        <p:nvSpPr>
          <p:cNvPr id="11" name="eAB"/>
          <p:cNvSpPr/>
          <p:nvPr>
            <p:extLst>
              <p:ext uri="{F5677B7D-0D2A-4D9B-9A5C-6D8D7D0E5A5D}">
                <pptd:line encoding="base64url">eyJ2aWV3Qm94IjpbMSwxXSwicG9pbnRzIjoiMCwxIDEsMCIsImN1cnZlIjoic2hhcnAifQ</pptd:line>
              </p:ext>
            </p:extLst>
          </p:nvPr>
        </p:nvSpPr>
        <p:spPr>
          <a:xfrm>
            <a:off x="1968500" y="2578100"/>
            <a:ext cx="1460500" cy="9525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6B7C77"/>
            </a:solidFill>
          </a:ln>
        </p:spPr>
      </p:sp>
      <p:sp>
        <p:nvSpPr>
          <p:cNvPr id="12" name="eAC"/>
          <p:cNvSpPr/>
          <p:nvPr>
            <p:extLst>
              <p:ext uri="{F5677B7D-0D2A-4D9B-9A5C-6D8D7D0E5A5D}">
                <pptd:line encoding="base64url">eyJ2aWV3Qm94IjpbMSwxXSwicG9pbnRzIjoiMCwwIDEsMSIsImN1cnZlIjoic2hhcnAifQ</pptd:line>
              </p:ext>
            </p:extLst>
          </p:nvPr>
        </p:nvSpPr>
        <p:spPr>
          <a:xfrm>
            <a:off x="1968500" y="3530600"/>
            <a:ext cx="1460500" cy="9525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1"/>
                </a:lnTo>
              </a:path>
            </a:pathLst>
          </a:custGeom>
          <a:noFill/>
          <a:ln w="25400">
            <a:solidFill>
              <a:srgbClr val="6B7C77"/>
            </a:solidFill>
          </a:ln>
        </p:spPr>
      </p:sp>
      <p:sp>
        <p:nvSpPr>
          <p:cNvPr id="13" name="eBD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4254500" y="2578100"/>
            <a:ext cx="1714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6B7C77"/>
            </a:solidFill>
          </a:ln>
        </p:spPr>
      </p:sp>
      <p:sp>
        <p:nvSpPr>
          <p:cNvPr id="14" name="eCE"/>
          <p:cNvSpPr/>
          <p:nvPr>
            <p:extLst>
              <p:ext uri="{F5677B7D-0D2A-4D9B-9A5C-6D8D7D0E5A5D}">
                <pptd:line encoding="base64url">eyJ2aWV3Qm94IjpbMSwxXSwicG9pbnRzIjoiMCwxIDEsMCIsImN1cnZlIjoic2hhcnAifQ</pptd:line>
              </p:ext>
            </p:extLst>
          </p:nvPr>
        </p:nvSpPr>
        <p:spPr>
          <a:xfrm>
            <a:off x="4254500" y="3530600"/>
            <a:ext cx="4254500" cy="9525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6B7C77"/>
            </a:solidFill>
          </a:ln>
        </p:spPr>
      </p:sp>
      <p:sp>
        <p:nvSpPr>
          <p:cNvPr id="15" name="eDE"/>
          <p:cNvSpPr/>
          <p:nvPr>
            <p:extLst>
              <p:ext uri="{F5677B7D-0D2A-4D9B-9A5C-6D8D7D0E5A5D}">
                <pptd:line encoding="base64url">eyJ2aWV3Qm94IjpbMSwxXSwicG9pbnRzIjoiMCwwIDEsMSIsImN1cnZlIjoic2hhcnAifQ</pptd:line>
              </p:ext>
            </p:extLst>
          </p:nvPr>
        </p:nvSpPr>
        <p:spPr>
          <a:xfrm>
            <a:off x="6794500" y="2578100"/>
            <a:ext cx="1714500" cy="9525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1"/>
                </a:lnTo>
              </a:path>
            </a:pathLst>
          </a:custGeom>
          <a:noFill/>
          <a:ln w="25400">
            <a:solidFill>
              <a:srgbClr val="6B7C77"/>
            </a:solidFill>
          </a:ln>
        </p:spPr>
      </p:sp>
      <p:sp>
        <p:nvSpPr>
          <p:cNvPr id="16" name="nA"/>
          <p:cNvSpPr/>
          <p:nvPr/>
        </p:nvSpPr>
        <p:spPr>
          <a:xfrm>
            <a:off x="1270000" y="3175000"/>
            <a:ext cx="939800" cy="71120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17" name="tA"/>
          <p:cNvSpPr txBox="1"/>
          <p:nvPr/>
        </p:nvSpPr>
        <p:spPr>
          <a:xfrm>
            <a:off x="1270000" y="3302000"/>
            <a:ext cx="939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2200" noProof="1" b="1">
                <a:solidFill>
                  <a:srgbClr val="FFFFFF"/>
                </a:solidFill>
                <a:latin typeface="Aptos"/>
                <a:ea typeface="Aptos"/>
              </a:rPr>
              <a:t>A</a:t>
            </a:r>
            <a:endParaRPr lang="en-US" sz="2200" noProof="1"/>
          </a:p>
        </p:txBody>
      </p:sp>
      <p:sp>
        <p:nvSpPr>
          <p:cNvPr id="18" name="lA"/>
          <p:cNvSpPr txBox="1"/>
          <p:nvPr/>
        </p:nvSpPr>
        <p:spPr>
          <a:xfrm>
            <a:off x="678180" y="4000500"/>
            <a:ext cx="213614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344B47"/>
                </a:solidFill>
                <a:latin typeface="Aptos"/>
                <a:ea typeface="Aptos"/>
              </a:rPr>
              <a:t>Planificación · 3 d</a:t>
            </a:r>
            <a:endParaRPr lang="en-US" sz="1200" noProof="1"/>
          </a:p>
        </p:txBody>
      </p:sp>
      <p:sp>
        <p:nvSpPr>
          <p:cNvPr id="19" name="nB"/>
          <p:cNvSpPr/>
          <p:nvPr/>
        </p:nvSpPr>
        <p:spPr>
          <a:xfrm>
            <a:off x="3556000" y="2222500"/>
            <a:ext cx="939800" cy="71120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20" name="tB"/>
          <p:cNvSpPr txBox="1"/>
          <p:nvPr/>
        </p:nvSpPr>
        <p:spPr>
          <a:xfrm>
            <a:off x="3556000" y="2349500"/>
            <a:ext cx="939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2200" noProof="1" b="1">
                <a:solidFill>
                  <a:srgbClr val="FFFFFF"/>
                </a:solidFill>
                <a:latin typeface="Aptos"/>
                <a:ea typeface="Aptos"/>
              </a:rPr>
              <a:t>B</a:t>
            </a:r>
            <a:endParaRPr lang="en-US" sz="2200" noProof="1"/>
          </a:p>
        </p:txBody>
      </p:sp>
      <p:sp>
        <p:nvSpPr>
          <p:cNvPr id="21" name="lB"/>
          <p:cNvSpPr txBox="1"/>
          <p:nvPr/>
        </p:nvSpPr>
        <p:spPr>
          <a:xfrm>
            <a:off x="3238500" y="3048000"/>
            <a:ext cx="15875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344B47"/>
                </a:solidFill>
                <a:latin typeface="Aptos"/>
                <a:ea typeface="Aptos"/>
              </a:rPr>
              <a:t>Permisos · 4 d</a:t>
            </a:r>
            <a:endParaRPr lang="en-US" sz="1200" noProof="1"/>
          </a:p>
        </p:txBody>
      </p:sp>
      <p:sp>
        <p:nvSpPr>
          <p:cNvPr id="22" name="nC"/>
          <p:cNvSpPr/>
          <p:nvPr/>
        </p:nvSpPr>
        <p:spPr>
          <a:xfrm>
            <a:off x="3556000" y="4127500"/>
            <a:ext cx="939800" cy="711200"/>
          </a:xfrm>
          <a:prstGeom prst="ellipse">
            <a:avLst/>
          </a:prstGeom>
          <a:solidFill>
            <a:srgbClr val="173F3A"/>
          </a:solidFill>
          <a:ln>
            <a:noFill/>
          </a:ln>
        </p:spPr>
      </p:sp>
      <p:sp>
        <p:nvSpPr>
          <p:cNvPr id="23" name="tC"/>
          <p:cNvSpPr txBox="1"/>
          <p:nvPr/>
        </p:nvSpPr>
        <p:spPr>
          <a:xfrm>
            <a:off x="3556000" y="4254500"/>
            <a:ext cx="939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2200" noProof="1" b="1">
                <a:solidFill>
                  <a:srgbClr val="FFFFFF"/>
                </a:solidFill>
                <a:latin typeface="Aptos"/>
                <a:ea typeface="Aptos"/>
              </a:rPr>
              <a:t>C</a:t>
            </a:r>
            <a:endParaRPr lang="en-US" sz="2200" noProof="1"/>
          </a:p>
        </p:txBody>
      </p:sp>
      <p:sp>
        <p:nvSpPr>
          <p:cNvPr id="24" name="lC"/>
          <p:cNvSpPr txBox="1"/>
          <p:nvPr/>
        </p:nvSpPr>
        <p:spPr>
          <a:xfrm>
            <a:off x="3238500" y="4953000"/>
            <a:ext cx="15875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344B47"/>
                </a:solidFill>
                <a:latin typeface="Aptos"/>
                <a:ea typeface="Aptos"/>
              </a:rPr>
              <a:t>Materiales · 2 d</a:t>
            </a:r>
            <a:endParaRPr lang="en-US" sz="1200" noProof="1"/>
          </a:p>
        </p:txBody>
      </p:sp>
      <p:sp>
        <p:nvSpPr>
          <p:cNvPr id="25" name="nD"/>
          <p:cNvSpPr/>
          <p:nvPr/>
        </p:nvSpPr>
        <p:spPr>
          <a:xfrm>
            <a:off x="6096000" y="2222500"/>
            <a:ext cx="939800" cy="71120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26" name="tD"/>
          <p:cNvSpPr txBox="1"/>
          <p:nvPr/>
        </p:nvSpPr>
        <p:spPr>
          <a:xfrm>
            <a:off x="6096000" y="2349500"/>
            <a:ext cx="939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2200" noProof="1" b="1">
                <a:solidFill>
                  <a:srgbClr val="FFFFFF"/>
                </a:solidFill>
                <a:latin typeface="Aptos"/>
                <a:ea typeface="Aptos"/>
              </a:rPr>
              <a:t>D</a:t>
            </a:r>
            <a:endParaRPr lang="en-US" sz="2200" noProof="1"/>
          </a:p>
        </p:txBody>
      </p:sp>
      <p:sp>
        <p:nvSpPr>
          <p:cNvPr id="27" name="lD"/>
          <p:cNvSpPr txBox="1"/>
          <p:nvPr/>
        </p:nvSpPr>
        <p:spPr>
          <a:xfrm>
            <a:off x="5778500" y="3048000"/>
            <a:ext cx="15875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344B47"/>
                </a:solidFill>
                <a:latin typeface="Aptos"/>
                <a:ea typeface="Aptos"/>
              </a:rPr>
              <a:t>Montaje · 5 d</a:t>
            </a:r>
            <a:endParaRPr lang="en-US" sz="1200" noProof="1"/>
          </a:p>
        </p:txBody>
      </p:sp>
      <p:sp>
        <p:nvSpPr>
          <p:cNvPr id="28" name="nE"/>
          <p:cNvSpPr/>
          <p:nvPr/>
        </p:nvSpPr>
        <p:spPr>
          <a:xfrm>
            <a:off x="8636000" y="3175000"/>
            <a:ext cx="939800" cy="711200"/>
          </a:xfrm>
          <a:prstGeom prst="ellipse">
            <a:avLst/>
          </a:prstGeom>
          <a:solidFill>
            <a:srgbClr val="F06449"/>
          </a:solidFill>
          <a:ln>
            <a:noFill/>
          </a:ln>
        </p:spPr>
      </p:sp>
      <p:sp>
        <p:nvSpPr>
          <p:cNvPr id="29" name="tE"/>
          <p:cNvSpPr txBox="1"/>
          <p:nvPr/>
        </p:nvSpPr>
        <p:spPr>
          <a:xfrm>
            <a:off x="8636000" y="3302000"/>
            <a:ext cx="9398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2200" noProof="1" b="1">
                <a:solidFill>
                  <a:srgbClr val="FFFFFF"/>
                </a:solidFill>
                <a:latin typeface="Aptos"/>
                <a:ea typeface="Aptos"/>
              </a:rPr>
              <a:t>E</a:t>
            </a:r>
            <a:endParaRPr lang="en-US" sz="2200" noProof="1"/>
          </a:p>
        </p:txBody>
      </p:sp>
      <p:sp>
        <p:nvSpPr>
          <p:cNvPr id="30" name="lE"/>
          <p:cNvSpPr txBox="1"/>
          <p:nvPr/>
        </p:nvSpPr>
        <p:spPr>
          <a:xfrm>
            <a:off x="8044180" y="4000500"/>
            <a:ext cx="213614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200" noProof="1">
                <a:solidFill>
                  <a:srgbClr val="344B47"/>
                </a:solidFill>
                <a:latin typeface="Aptos"/>
                <a:ea typeface="Aptos"/>
              </a:rPr>
              <a:t>Ejecución y cierre · 3 d</a:t>
            </a:r>
            <a:endParaRPr lang="en-US" sz="1200" noProof="1"/>
          </a:p>
        </p:txBody>
      </p:sp>
      <p:sp>
        <p:nvSpPr>
          <p:cNvPr id="31" name="critical"/>
          <p:cNvSpPr txBox="1"/>
          <p:nvPr/>
        </p:nvSpPr>
        <p:spPr>
          <a:xfrm>
            <a:off x="965200" y="5499100"/>
            <a:ext cx="1028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700" noProof="1" b="1">
                <a:solidFill>
                  <a:srgbClr val="173F3A"/>
                </a:solidFill>
                <a:latin typeface="Aptos"/>
                <a:ea typeface="Aptos"/>
              </a:rPr>
              <a:t>Ruta crítica: A → B → D → E = 15 días  ·  Una demora en esta secuencia mueve la fecha final.</a:t>
            </a:r>
            <a:endParaRPr lang="en-US" sz="1700" noProof="1"/>
          </a:p>
        </p:txBody>
      </p:sp>
      <p:sp>
        <p:nvSpPr>
          <p:cNvPr id="3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3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PERT · INTERPRETACIÓN DEL PLAZO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La probabilidad ayuda a evaluar si un plazo es realista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13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Ejemplo didáctico con supuestos simplificados: σ = 2 semanas.</a:t>
            </a:r>
            <a:endParaRPr lang="en-US" sz="900" noProof="1"/>
          </a:p>
        </p:txBody>
      </p:sp>
      <p:sp>
        <p:nvSpPr>
          <p:cNvPr id="11" name="given"/>
          <p:cNvSpPr txBox="1"/>
          <p:nvPr/>
        </p:nvSpPr>
        <p:spPr>
          <a:xfrm>
            <a:off x="812800" y="1905000"/>
            <a:ext cx="10287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>
                <a:solidFill>
                  <a:srgbClr val="344B47"/>
                </a:solidFill>
                <a:latin typeface="Aptos"/>
                <a:ea typeface="Aptos"/>
              </a:rPr>
              <a:t>Tiempo esperado del proyecto: 20 semanas. Se evalúa cumplir en 22 o en 18 semanas.</a:t>
            </a:r>
            <a:endParaRPr lang="en-US" sz="1900" noProof="1"/>
          </a:p>
        </p:txBody>
      </p:sp>
      <p:sp>
        <p:nvSpPr>
          <p:cNvPr id="12" name="w0"/>
          <p:cNvSpPr txBox="1"/>
          <p:nvPr/>
        </p:nvSpPr>
        <p:spPr>
          <a:xfrm>
            <a:off x="889000" y="2908300"/>
            <a:ext cx="444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200" noProof="1" b="1">
                <a:solidFill>
                  <a:srgbClr val="173F3A"/>
                </a:solidFill>
                <a:latin typeface="Aptos"/>
                <a:ea typeface="Aptos"/>
              </a:rPr>
              <a:t>22 semanas</a:t>
            </a:r>
            <a:endParaRPr lang="en-US" sz="2200" noProof="1"/>
          </a:p>
        </p:txBody>
      </p:sp>
      <p:sp>
        <p:nvSpPr>
          <p:cNvPr id="13" name="z0"/>
          <p:cNvSpPr txBox="1"/>
          <p:nvPr/>
        </p:nvSpPr>
        <p:spPr>
          <a:xfrm>
            <a:off x="889000" y="3429000"/>
            <a:ext cx="444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6B7C77"/>
                </a:solidFill>
                <a:latin typeface="Aptos"/>
                <a:ea typeface="Aptos"/>
              </a:rPr>
              <a:t>z = +1</a:t>
            </a:r>
            <a:endParaRPr lang="en-US" sz="1700" noProof="1"/>
          </a:p>
        </p:txBody>
      </p:sp>
      <p:sp>
        <p:nvSpPr>
          <p:cNvPr id="14" name="p0"/>
          <p:cNvSpPr txBox="1"/>
          <p:nvPr/>
        </p:nvSpPr>
        <p:spPr>
          <a:xfrm>
            <a:off x="889000" y="3924300"/>
            <a:ext cx="4445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>
                <a:solidFill>
                  <a:srgbClr val="173F3A"/>
                </a:solidFill>
                <a:latin typeface="Aptos"/>
                <a:ea typeface="Aptos"/>
              </a:rPr>
              <a:t>84 %</a:t>
            </a:r>
            <a:endParaRPr lang="en-US" sz="4400" noProof="1"/>
          </a:p>
        </p:txBody>
      </p:sp>
      <p:sp>
        <p:nvSpPr>
          <p:cNvPr id="15" name="l0"/>
          <p:cNvSpPr txBox="1"/>
          <p:nvPr/>
        </p:nvSpPr>
        <p:spPr>
          <a:xfrm>
            <a:off x="889000" y="4800600"/>
            <a:ext cx="444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b="1">
                <a:solidFill>
                  <a:srgbClr val="173F3A"/>
                </a:solidFill>
                <a:latin typeface="Aptos"/>
                <a:ea typeface="Aptos"/>
              </a:rPr>
              <a:t>Plazo relativamente favorable</a:t>
            </a:r>
            <a:endParaRPr lang="en-US" sz="1600" noProof="1"/>
          </a:p>
        </p:txBody>
      </p:sp>
      <p:sp>
        <p:nvSpPr>
          <p:cNvPr id="16" name="w1"/>
          <p:cNvSpPr txBox="1"/>
          <p:nvPr/>
        </p:nvSpPr>
        <p:spPr>
          <a:xfrm>
            <a:off x="6413500" y="2908300"/>
            <a:ext cx="444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200" noProof="1" b="1">
                <a:solidFill>
                  <a:srgbClr val="B84A44"/>
                </a:solidFill>
                <a:latin typeface="Aptos"/>
                <a:ea typeface="Aptos"/>
              </a:rPr>
              <a:t>18 semanas</a:t>
            </a:r>
            <a:endParaRPr lang="en-US" sz="2200" noProof="1"/>
          </a:p>
        </p:txBody>
      </p:sp>
      <p:sp>
        <p:nvSpPr>
          <p:cNvPr id="17" name="z1"/>
          <p:cNvSpPr txBox="1"/>
          <p:nvPr/>
        </p:nvSpPr>
        <p:spPr>
          <a:xfrm>
            <a:off x="6413500" y="3429000"/>
            <a:ext cx="444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6B7C77"/>
                </a:solidFill>
                <a:latin typeface="Aptos"/>
                <a:ea typeface="Aptos"/>
              </a:rPr>
              <a:t>z = −1</a:t>
            </a:r>
            <a:endParaRPr lang="en-US" sz="1700" noProof="1"/>
          </a:p>
        </p:txBody>
      </p:sp>
      <p:sp>
        <p:nvSpPr>
          <p:cNvPr id="18" name="p1"/>
          <p:cNvSpPr txBox="1"/>
          <p:nvPr/>
        </p:nvSpPr>
        <p:spPr>
          <a:xfrm>
            <a:off x="6413500" y="3924300"/>
            <a:ext cx="4445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400" noProof="1" b="1">
                <a:solidFill>
                  <a:srgbClr val="B84A44"/>
                </a:solidFill>
                <a:latin typeface="Aptos"/>
                <a:ea typeface="Aptos"/>
              </a:rPr>
              <a:t>16 %</a:t>
            </a:r>
            <a:endParaRPr lang="en-US" sz="4400" noProof="1"/>
          </a:p>
        </p:txBody>
      </p:sp>
      <p:sp>
        <p:nvSpPr>
          <p:cNvPr id="19" name="l1"/>
          <p:cNvSpPr txBox="1"/>
          <p:nvPr/>
        </p:nvSpPr>
        <p:spPr>
          <a:xfrm>
            <a:off x="6413500" y="4800600"/>
            <a:ext cx="444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 b="1">
                <a:solidFill>
                  <a:srgbClr val="B84A44"/>
                </a:solidFill>
                <a:latin typeface="Aptos"/>
                <a:ea typeface="Aptos"/>
              </a:rPr>
              <a:t>Plazo poco probable</a:t>
            </a:r>
            <a:endParaRPr lang="en-US" sz="1600" noProof="1"/>
          </a:p>
        </p:txBody>
      </p:sp>
      <p:sp>
        <p:nvSpPr>
          <p:cNvPr id="20" name="caution"/>
          <p:cNvSpPr txBox="1"/>
          <p:nvPr/>
        </p:nvSpPr>
        <p:spPr>
          <a:xfrm>
            <a:off x="863600" y="5626100"/>
            <a:ext cx="1041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400" noProof="1">
                <a:solidFill>
                  <a:srgbClr val="6B7C77"/>
                </a:solidFill>
                <a:latin typeface="Aptos"/>
                <a:ea typeface="Aptos"/>
              </a:rPr>
              <a:t>La cifra orienta la conversación sobre recursos y compromisos; depende de la calidad de los estimados.</a:t>
            </a:r>
            <a:endParaRPr lang="en-US" sz="1400" noProof="1"/>
          </a:p>
        </p:txBody>
      </p:sp>
      <p:sp>
        <p:nvSpPr>
          <p:cNvPr id="21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2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23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VENTAJAS Y LÍMITES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PERT ayuda a decidir, pero exige actualizarse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14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Fuente: Kerzner (2017).</a:t>
            </a:r>
            <a:endParaRPr lang="en-US" sz="900" noProof="1"/>
          </a:p>
        </p:txBody>
      </p:sp>
      <p:sp>
        <p:nvSpPr>
          <p:cNvPr id="11" name="v"/>
          <p:cNvSpPr txBox="1"/>
          <p:nvPr/>
        </p:nvSpPr>
        <p:spPr>
          <a:xfrm>
            <a:off x="863600" y="19177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QUÉ APORTA</a:t>
            </a:r>
            <a:endParaRPr lang="en-US" sz="1400" noProof="1"/>
          </a:p>
        </p:txBody>
      </p:sp>
      <p:sp>
        <p:nvSpPr>
          <p:cNvPr id="12" name="l"/>
          <p:cNvSpPr txBox="1"/>
          <p:nvPr/>
        </p:nvSpPr>
        <p:spPr>
          <a:xfrm>
            <a:off x="6731000" y="19177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400" noProof="1" b="1">
                <a:solidFill>
                  <a:srgbClr val="B84A44"/>
                </a:solidFill>
                <a:latin typeface="Aptos"/>
                <a:ea typeface="Aptos"/>
              </a:rPr>
              <a:t>QUÉ DEBE CUIDARSE</a:t>
            </a:r>
            <a:endParaRPr lang="en-US" sz="1400" noProof="1"/>
          </a:p>
        </p:txBody>
      </p:sp>
      <p:sp>
        <p:nvSpPr>
          <p:cNvPr id="13" name="ic680"/>
          <p:cNvSpPr/>
          <p:nvPr>
            <p:extLst>
              <p:ext uri="{F5677B7D-0D2A-4D9B-9A5C-6D8D7D0E5A5D}">
                <pptd:icon encoding="base64url">eyJpY29uTmFtZSI6ImZhczpjaGVjayJ9</pptd:icon>
              </p:ext>
            </p:extLst>
          </p:nvPr>
        </p:nvSpPr>
        <p:spPr>
          <a:xfrm>
            <a:off x="863600" y="2552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14" name="t680"/>
          <p:cNvSpPr txBox="1"/>
          <p:nvPr/>
        </p:nvSpPr>
        <p:spPr>
          <a:xfrm>
            <a:off x="1270000" y="2514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Hace explícitas las dependencias.</a:t>
            </a:r>
            <a:endParaRPr lang="en-US" sz="1600" noProof="1"/>
          </a:p>
        </p:txBody>
      </p:sp>
      <p:sp>
        <p:nvSpPr>
          <p:cNvPr id="15" name="ic681"/>
          <p:cNvSpPr/>
          <p:nvPr>
            <p:extLst>
              <p:ext uri="{F5677B7D-0D2A-4D9B-9A5C-6D8D7D0E5A5D}">
                <pptd:icon encoding="base64url">eyJpY29uTmFtZSI6ImZhczpjaGVjayJ9</pptd:icon>
              </p:ext>
            </p:extLst>
          </p:nvPr>
        </p:nvSpPr>
        <p:spPr>
          <a:xfrm>
            <a:off x="863600" y="3314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16" name="t681"/>
          <p:cNvSpPr txBox="1"/>
          <p:nvPr/>
        </p:nvSpPr>
        <p:spPr>
          <a:xfrm>
            <a:off x="1270000" y="3276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Permite analizar escenarios de duración.</a:t>
            </a:r>
            <a:endParaRPr lang="en-US" sz="1600" noProof="1"/>
          </a:p>
        </p:txBody>
      </p:sp>
      <p:sp>
        <p:nvSpPr>
          <p:cNvPr id="17" name="ic682"/>
          <p:cNvSpPr/>
          <p:nvPr>
            <p:extLst>
              <p:ext uri="{F5677B7D-0D2A-4D9B-9A5C-6D8D7D0E5A5D}">
                <pptd:icon encoding="base64url">eyJpY29uTmFtZSI6ImZhczpjaGVjayJ9</pptd:icon>
              </p:ext>
            </p:extLst>
          </p:nvPr>
        </p:nvSpPr>
        <p:spPr>
          <a:xfrm>
            <a:off x="863600" y="4076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18" name="t682"/>
          <p:cNvSpPr txBox="1"/>
          <p:nvPr/>
        </p:nvSpPr>
        <p:spPr>
          <a:xfrm>
            <a:off x="1270000" y="4038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Ayuda a priorizar actividades críticas.</a:t>
            </a:r>
            <a:endParaRPr lang="en-US" sz="1600" noProof="1"/>
          </a:p>
        </p:txBody>
      </p:sp>
      <p:sp>
        <p:nvSpPr>
          <p:cNvPr id="19" name="ic683"/>
          <p:cNvSpPr/>
          <p:nvPr>
            <p:extLst>
              <p:ext uri="{F5677B7D-0D2A-4D9B-9A5C-6D8D7D0E5A5D}">
                <pptd:icon encoding="base64url">eyJpY29uTmFtZSI6ImZhczpjaGVjayJ9</pptd:icon>
              </p:ext>
            </p:extLst>
          </p:nvPr>
        </p:nvSpPr>
        <p:spPr>
          <a:xfrm>
            <a:off x="863600" y="4838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F06449"/>
          </a:solidFill>
          <a:ln>
            <a:noFill/>
          </a:ln>
        </p:spPr>
      </p:sp>
      <p:sp>
        <p:nvSpPr>
          <p:cNvPr id="20" name="t683"/>
          <p:cNvSpPr txBox="1"/>
          <p:nvPr/>
        </p:nvSpPr>
        <p:spPr>
          <a:xfrm>
            <a:off x="1270000" y="4800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Facilita conversar sobre riesgos y plazos.</a:t>
            </a:r>
            <a:endParaRPr lang="en-US" sz="1600" noProof="1"/>
          </a:p>
        </p:txBody>
      </p:sp>
      <p:sp>
        <p:nvSpPr>
          <p:cNvPr id="21" name="ic5300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6731000" y="2552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B84A44"/>
          </a:solidFill>
          <a:ln>
            <a:noFill/>
          </a:ln>
        </p:spPr>
      </p:sp>
      <p:sp>
        <p:nvSpPr>
          <p:cNvPr id="22" name="t5300"/>
          <p:cNvSpPr txBox="1"/>
          <p:nvPr/>
        </p:nvSpPr>
        <p:spPr>
          <a:xfrm>
            <a:off x="7137400" y="2514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Los estimados pueden ser subjetivos.</a:t>
            </a:r>
            <a:endParaRPr lang="en-US" sz="1600" noProof="1"/>
          </a:p>
        </p:txBody>
      </p:sp>
      <p:sp>
        <p:nvSpPr>
          <p:cNvPr id="23" name="ic5301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6731000" y="3314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B84A44"/>
          </a:solidFill>
          <a:ln>
            <a:noFill/>
          </a:ln>
        </p:spPr>
      </p:sp>
      <p:sp>
        <p:nvSpPr>
          <p:cNvPr id="24" name="t5301"/>
          <p:cNvSpPr txBox="1"/>
          <p:nvPr/>
        </p:nvSpPr>
        <p:spPr>
          <a:xfrm>
            <a:off x="7137400" y="3276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Supone independencia entre estimados.</a:t>
            </a:r>
            <a:endParaRPr lang="en-US" sz="1600" noProof="1"/>
          </a:p>
        </p:txBody>
      </p:sp>
      <p:sp>
        <p:nvSpPr>
          <p:cNvPr id="25" name="ic5302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6731000" y="4076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B84A44"/>
          </a:solidFill>
          <a:ln>
            <a:noFill/>
          </a:ln>
        </p:spPr>
      </p:sp>
      <p:sp>
        <p:nvSpPr>
          <p:cNvPr id="26" name="t5302"/>
          <p:cNvSpPr txBox="1"/>
          <p:nvPr/>
        </p:nvSpPr>
        <p:spPr>
          <a:xfrm>
            <a:off x="7137400" y="4038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La red exige mantenimiento durante el proyecto.</a:t>
            </a:r>
            <a:endParaRPr lang="en-US" sz="1600" noProof="1"/>
          </a:p>
        </p:txBody>
      </p:sp>
      <p:sp>
        <p:nvSpPr>
          <p:cNvPr id="27" name="ic5303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6731000" y="4838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B84A44"/>
          </a:solidFill>
          <a:ln>
            <a:noFill/>
          </a:ln>
        </p:spPr>
      </p:sp>
      <p:sp>
        <p:nvSpPr>
          <p:cNvPr id="28" name="t5303"/>
          <p:cNvSpPr txBox="1"/>
          <p:nvPr/>
        </p:nvSpPr>
        <p:spPr>
          <a:xfrm>
            <a:off x="7137400" y="4800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No reemplaza el juicio ni la gestión de recursos.</a:t>
            </a:r>
            <a:endParaRPr lang="en-US" sz="1600" noProof="1"/>
          </a:p>
        </p:txBody>
      </p:sp>
      <p:sp>
        <p:nvSpPr>
          <p:cNvPr id="29" name="mid"/>
          <p:cNvSpPr/>
          <p:nvPr>
            <p:extLst>
              <p:ext uri="{F5677B7D-0D2A-4D9B-9A5C-6D8D7D0E5A5D}">
                <pptd:line encoding="base64url">eyJ2aWV3Qm94IjpbMSwxXSwicG9pbnRzIjoiMCwwIDAsMSIsImN1cnZlIjoic2hhcnAifQ</pptd:line>
              </p:ext>
            </p:extLst>
          </p:nvPr>
        </p:nvSpPr>
        <p:spPr>
          <a:xfrm>
            <a:off x="6096000" y="1917700"/>
            <a:ext cx="12700" cy="35306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30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1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32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MÉTODO CPM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La ruta crítica muestra qué demora afecta todo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15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Fuente: Kelley y Walker (1959); PMI (2021).</a:t>
            </a:r>
            <a:endParaRPr lang="en-US" sz="900" noProof="1"/>
          </a:p>
        </p:txBody>
      </p:sp>
      <p:sp>
        <p:nvSpPr>
          <p:cNvPr id="11" name="p0"/>
          <p:cNvSpPr txBox="1"/>
          <p:nvPr/>
        </p:nvSpPr>
        <p:spPr>
          <a:xfrm>
            <a:off x="889000" y="20955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200" noProof="1" b="1">
                <a:solidFill>
                  <a:srgbClr val="F06449"/>
                </a:solidFill>
                <a:latin typeface="Aptos"/>
                <a:ea typeface="Aptos"/>
              </a:rPr>
              <a:t>Ruta A–B–D–E</a:t>
            </a:r>
            <a:endParaRPr lang="en-US" sz="2200" noProof="1"/>
          </a:p>
        </p:txBody>
      </p:sp>
      <p:sp>
        <p:nvSpPr>
          <p:cNvPr id="12" name="d0"/>
          <p:cNvSpPr txBox="1"/>
          <p:nvPr/>
        </p:nvSpPr>
        <p:spPr>
          <a:xfrm>
            <a:off x="5397500" y="20955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F06449"/>
                </a:solidFill>
                <a:latin typeface="Aptos"/>
                <a:ea typeface="Aptos"/>
              </a:rPr>
              <a:t>15 días</a:t>
            </a:r>
            <a:endParaRPr lang="en-US" sz="2900" noProof="1"/>
          </a:p>
        </p:txBody>
      </p:sp>
      <p:sp>
        <p:nvSpPr>
          <p:cNvPr id="13" name="h0"/>
          <p:cNvSpPr txBox="1"/>
          <p:nvPr/>
        </p:nvSpPr>
        <p:spPr>
          <a:xfrm>
            <a:off x="7747000" y="2095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>
                <a:solidFill>
                  <a:srgbClr val="344B47"/>
                </a:solidFill>
                <a:latin typeface="Aptos"/>
                <a:ea typeface="Aptos"/>
              </a:rPr>
              <a:t>0 días de holgura</a:t>
            </a:r>
            <a:endParaRPr lang="en-US" sz="1800" noProof="1"/>
          </a:p>
        </p:txBody>
      </p:sp>
      <p:sp>
        <p:nvSpPr>
          <p:cNvPr id="14" name="tag0"/>
          <p:cNvSpPr txBox="1"/>
          <p:nvPr/>
        </p:nvSpPr>
        <p:spPr>
          <a:xfrm>
            <a:off x="7747000" y="26035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200" noProof="1" b="1">
                <a:solidFill>
                  <a:srgbClr val="F06449"/>
                </a:solidFill>
                <a:latin typeface="Aptos"/>
                <a:ea typeface="Aptos"/>
              </a:rPr>
              <a:t>CRÍTICA</a:t>
            </a:r>
            <a:endParaRPr lang="en-US" sz="1200" noProof="1"/>
          </a:p>
        </p:txBody>
      </p:sp>
      <p:sp>
        <p:nvSpPr>
          <p:cNvPr id="15" name="l0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89000" y="3136900"/>
            <a:ext cx="10033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16" name="p1"/>
          <p:cNvSpPr txBox="1"/>
          <p:nvPr/>
        </p:nvSpPr>
        <p:spPr>
          <a:xfrm>
            <a:off x="889000" y="37465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200" noProof="1" b="1">
                <a:solidFill>
                  <a:srgbClr val="173F3A"/>
                </a:solidFill>
                <a:latin typeface="Aptos"/>
                <a:ea typeface="Aptos"/>
              </a:rPr>
              <a:t>Ruta A–C–E</a:t>
            </a:r>
            <a:endParaRPr lang="en-US" sz="2200" noProof="1"/>
          </a:p>
        </p:txBody>
      </p:sp>
      <p:sp>
        <p:nvSpPr>
          <p:cNvPr id="17" name="d1"/>
          <p:cNvSpPr txBox="1"/>
          <p:nvPr/>
        </p:nvSpPr>
        <p:spPr>
          <a:xfrm>
            <a:off x="5397500" y="37465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8 días</a:t>
            </a:r>
            <a:endParaRPr lang="en-US" sz="2900" noProof="1"/>
          </a:p>
        </p:txBody>
      </p:sp>
      <p:sp>
        <p:nvSpPr>
          <p:cNvPr id="18" name="h1"/>
          <p:cNvSpPr txBox="1"/>
          <p:nvPr/>
        </p:nvSpPr>
        <p:spPr>
          <a:xfrm>
            <a:off x="7747000" y="3746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800" noProof="1">
                <a:solidFill>
                  <a:srgbClr val="344B47"/>
                </a:solidFill>
                <a:latin typeface="Aptos"/>
                <a:ea typeface="Aptos"/>
              </a:rPr>
              <a:t>7 días de holgura</a:t>
            </a:r>
            <a:endParaRPr lang="en-US" sz="1800" noProof="1"/>
          </a:p>
        </p:txBody>
      </p:sp>
      <p:sp>
        <p:nvSpPr>
          <p:cNvPr id="19" name="tag1"/>
          <p:cNvSpPr txBox="1"/>
          <p:nvPr/>
        </p:nvSpPr>
        <p:spPr>
          <a:xfrm>
            <a:off x="7747000" y="42545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200" noProof="1" b="1">
                <a:solidFill>
                  <a:srgbClr val="173F3A"/>
                </a:solidFill>
                <a:latin typeface="Aptos"/>
                <a:ea typeface="Aptos"/>
              </a:rPr>
              <a:t>NO CRÍTICA</a:t>
            </a:r>
            <a:endParaRPr lang="en-US" sz="1200" noProof="1"/>
          </a:p>
        </p:txBody>
      </p:sp>
      <p:sp>
        <p:nvSpPr>
          <p:cNvPr id="20" name="l1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89000" y="4787900"/>
            <a:ext cx="100330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1" name="def"/>
          <p:cNvSpPr txBox="1"/>
          <p:nvPr/>
        </p:nvSpPr>
        <p:spPr>
          <a:xfrm>
            <a:off x="889000" y="5511800"/>
            <a:ext cx="10287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600" noProof="1">
                <a:solidFill>
                  <a:srgbClr val="344B47"/>
                </a:solidFill>
                <a:latin typeface="Aptos"/>
                <a:ea typeface="Aptos"/>
              </a:rPr>
              <a:t>Holgura: tiempo que una actividad puede retrasarse sin modificar la fecha de terminación del proyecto.</a:t>
            </a:r>
            <a:endParaRPr lang="en-US" sz="1600" noProof="1"/>
          </a:p>
        </p:txBody>
      </p:sp>
      <p:sp>
        <p:nvSpPr>
          <p:cNvPr id="2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2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COMPARACIÓN PARA ELEGIR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La herramienta depende del problema a resolver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16</a:t>
            </a:r>
            <a:endParaRPr lang="en-US" sz="1100" noProof="1"/>
          </a:p>
        </p:txBody>
      </p:sp>
      <p:graphicFrame>
        <p:nvGraphicFramePr>
          <p:cNvPr id="10" name="table"/>
          <p:cNvGraphicFramePr>
            <a:graphicFrameLocks noGrp="1"/>
          </p:cNvGraphicFramePr>
          <p:nvPr/>
        </p:nvGraphicFramePr>
        <p:xfrm>
          <a:off x="736600" y="1917700"/>
          <a:ext cx="10718800" cy="3632200"/>
        </p:xfrm>
        <a:graphic>
          <a:graphicData uri="http://schemas.openxmlformats.org/drawingml/2006/table">
            <a:tbl>
              <a:tblPr/>
              <a:tblGrid>
                <a:gridCol w="2358136"/>
                <a:gridCol w="3430016"/>
                <a:gridCol w="2894076"/>
                <a:gridCol w="2036572"/>
              </a:tblGrid>
              <a:tr h="65379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173F3A"/>
                          </a:solidFill>
                          <a:latin typeface="Aptos"/>
                          <a:ea typeface="Aptos"/>
                        </a:rPr>
                        <a:t>Herramienta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solidFill>
                      <a:srgbClr val="DDF1E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173F3A"/>
                          </a:solidFill>
                          <a:latin typeface="Aptos"/>
                          <a:ea typeface="Aptos"/>
                        </a:rPr>
                        <a:t>Pregunta principal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solidFill>
                      <a:srgbClr val="DDF1E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173F3A"/>
                          </a:solidFill>
                          <a:latin typeface="Aptos"/>
                          <a:ea typeface="Aptos"/>
                        </a:rPr>
                        <a:t>Aporta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solidFill>
                      <a:srgbClr val="DDF1E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173F3A"/>
                          </a:solidFill>
                          <a:latin typeface="Aptos"/>
                          <a:ea typeface="Aptos"/>
                        </a:rPr>
                        <a:t>Ideal cuando…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solidFill>
                      <a:srgbClr val="DDF1EC"/>
                    </a:solidFill>
                  </a:tcPr>
                </a:tc>
              </a:tr>
              <a:tr h="74460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Benchmarking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¿Qué nivel aspirar?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Referentes y brechas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Hay prácticas comparables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</a:tr>
              <a:tr h="74460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Gantt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¿Cuándo se ejecuta?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Calendario visible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El proyecto es sencillo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</a:tr>
              <a:tr h="74460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PERT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¿Qué duración esperar?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Escenarios e incertidumbre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Hay poca experiencia previa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</a:tr>
              <a:tr h="74460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CPM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¿Qué no puede retrasarse?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Ruta crítica y holguras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344B47"/>
                          </a:solidFill>
                          <a:latin typeface="Aptos"/>
                          <a:ea typeface="Aptos"/>
                        </a:rPr>
                        <a:t>Las dependencias son claras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ule"/>
          <p:cNvSpPr txBox="1"/>
          <p:nvPr/>
        </p:nvSpPr>
        <p:spPr>
          <a:xfrm>
            <a:off x="825500" y="5816600"/>
            <a:ext cx="1041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En la práctica pueden complementarse: benchmarking para la meta; Gantt, PERT o CPM para ejecutar y controlar.</a:t>
            </a:r>
            <a:endParaRPr lang="en-US" sz="1400" noProof="1"/>
          </a:p>
        </p:txBody>
      </p:sp>
      <p:sp>
        <p:nvSpPr>
          <p:cNvPr id="1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1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1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PRÁCTICA GRUPAL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Caso: una feria universitaria se atrasa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17</a:t>
            </a:r>
            <a:endParaRPr lang="en-US" sz="1100" noProof="1"/>
          </a:p>
        </p:txBody>
      </p:sp>
      <p:sp>
        <p:nvSpPr>
          <p:cNvPr id="10" name="source"/>
          <p:cNvSpPr txBox="1"/>
          <p:nvPr/>
        </p:nvSpPr>
        <p:spPr>
          <a:xfrm>
            <a:off x="711200" y="6350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900" noProof="1">
                <a:solidFill>
                  <a:srgbClr val="6B7C77"/>
                </a:solidFill>
                <a:latin typeface="Aptos"/>
                <a:ea typeface="Aptos"/>
              </a:rPr>
              <a:t>Escenario ficticio para discusión en clase.</a:t>
            </a:r>
            <a:endParaRPr lang="en-US" sz="900" noProof="1"/>
          </a:p>
        </p:txBody>
      </p:sp>
      <p:sp>
        <p:nvSpPr>
          <p:cNvPr id="11" name="case"/>
          <p:cNvSpPr/>
          <p:nvPr/>
        </p:nvSpPr>
        <p:spPr>
          <a:xfrm>
            <a:off x="736600" y="1879600"/>
            <a:ext cx="3873500" cy="3556000"/>
          </a:xfrm>
          <a:prstGeom prst="rect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12" name="ct"/>
          <p:cNvSpPr txBox="1"/>
          <p:nvPr/>
        </p:nvSpPr>
        <p:spPr>
          <a:xfrm>
            <a:off x="1016000" y="21717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300" noProof="1" b="1">
                <a:solidFill>
                  <a:srgbClr val="F06449"/>
                </a:solidFill>
                <a:latin typeface="Aptos"/>
                <a:ea typeface="Aptos"/>
              </a:rPr>
              <a:t>SITUACIÓN</a:t>
            </a:r>
            <a:endParaRPr lang="en-US" sz="1300" noProof="1"/>
          </a:p>
        </p:txBody>
      </p:sp>
      <p:sp>
        <p:nvSpPr>
          <p:cNvPr id="13" name="cb"/>
          <p:cNvSpPr txBox="1"/>
          <p:nvPr/>
        </p:nvSpPr>
        <p:spPr>
          <a:xfrm>
            <a:off x="1016000" y="2628900"/>
            <a:ext cx="3238500" cy="220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1500" noProof="1">
                <a:solidFill>
                  <a:srgbClr val="173F3A"/>
                </a:solidFill>
                <a:latin typeface="Aptos"/>
                <a:ea typeface="Aptos"/>
              </a:rPr>
              <a:t>Faltan 4 semanas para la feria.
La promoción lleva una semana de retraso y dos proveedores aún no confirman.
El equipo dispone de un presupuesto limitado.</a:t>
            </a:r>
            <a:endParaRPr lang="en-US" sz="1800" noProof="1"/>
          </a:p>
        </p:txBody>
      </p:sp>
      <p:sp>
        <p:nvSpPr>
          <p:cNvPr id="14" name="task"/>
          <p:cNvSpPr txBox="1"/>
          <p:nvPr/>
        </p:nvSpPr>
        <p:spPr>
          <a:xfrm>
            <a:off x="5143500" y="1943100"/>
            <a:ext cx="584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400" noProof="1" b="1">
                <a:solidFill>
                  <a:srgbClr val="F06449"/>
                </a:solidFill>
                <a:latin typeface="Aptos"/>
                <a:ea typeface="Aptos"/>
              </a:rPr>
              <a:t>DECISIONES QUE DEBEN JUSTIFICAR</a:t>
            </a:r>
            <a:endParaRPr lang="en-US" sz="1400" noProof="1"/>
          </a:p>
        </p:txBody>
      </p:sp>
      <p:sp>
        <p:nvSpPr>
          <p:cNvPr id="15" name="n0"/>
          <p:cNvSpPr txBox="1"/>
          <p:nvPr/>
        </p:nvSpPr>
        <p:spPr>
          <a:xfrm>
            <a:off x="5168900" y="26035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b="1">
                <a:solidFill>
                  <a:srgbClr val="F06449"/>
                </a:solidFill>
                <a:latin typeface="Aptos"/>
                <a:ea typeface="Aptos"/>
              </a:rPr>
              <a:t>1</a:t>
            </a:r>
            <a:endParaRPr lang="en-US" sz="1700" noProof="1"/>
          </a:p>
        </p:txBody>
      </p:sp>
      <p:sp>
        <p:nvSpPr>
          <p:cNvPr id="16" name="q0"/>
          <p:cNvSpPr txBox="1"/>
          <p:nvPr/>
        </p:nvSpPr>
        <p:spPr>
          <a:xfrm>
            <a:off x="5715000" y="2578100"/>
            <a:ext cx="546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¿Qué estándar e indicador revisarían primero?</a:t>
            </a:r>
            <a:endParaRPr lang="en-US" sz="1700" noProof="1"/>
          </a:p>
        </p:txBody>
      </p:sp>
      <p:sp>
        <p:nvSpPr>
          <p:cNvPr id="17" name="n1"/>
          <p:cNvSpPr txBox="1"/>
          <p:nvPr/>
        </p:nvSpPr>
        <p:spPr>
          <a:xfrm>
            <a:off x="5168900" y="33782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b="1">
                <a:solidFill>
                  <a:srgbClr val="F06449"/>
                </a:solidFill>
                <a:latin typeface="Aptos"/>
                <a:ea typeface="Aptos"/>
              </a:rPr>
              <a:t>2</a:t>
            </a:r>
            <a:endParaRPr lang="en-US" sz="1700" noProof="1"/>
          </a:p>
        </p:txBody>
      </p:sp>
      <p:sp>
        <p:nvSpPr>
          <p:cNvPr id="18" name="q1"/>
          <p:cNvSpPr txBox="1"/>
          <p:nvPr/>
        </p:nvSpPr>
        <p:spPr>
          <a:xfrm>
            <a:off x="5715000" y="3352800"/>
            <a:ext cx="546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¿Qué actividad parece crítica y qué datos faltan para confirmarlo?</a:t>
            </a:r>
            <a:endParaRPr lang="en-US" sz="1700" noProof="1"/>
          </a:p>
        </p:txBody>
      </p:sp>
      <p:sp>
        <p:nvSpPr>
          <p:cNvPr id="19" name="n2"/>
          <p:cNvSpPr txBox="1"/>
          <p:nvPr/>
        </p:nvSpPr>
        <p:spPr>
          <a:xfrm>
            <a:off x="5168900" y="41529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b="1">
                <a:solidFill>
                  <a:srgbClr val="F06449"/>
                </a:solidFill>
                <a:latin typeface="Aptos"/>
                <a:ea typeface="Aptos"/>
              </a:rPr>
              <a:t>3</a:t>
            </a:r>
            <a:endParaRPr lang="en-US" sz="1700" noProof="1"/>
          </a:p>
        </p:txBody>
      </p:sp>
      <p:sp>
        <p:nvSpPr>
          <p:cNvPr id="20" name="q2"/>
          <p:cNvSpPr txBox="1"/>
          <p:nvPr/>
        </p:nvSpPr>
        <p:spPr>
          <a:xfrm>
            <a:off x="5715000" y="4127500"/>
            <a:ext cx="546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¿Qué herramienta usarían para replanificar y por qué?</a:t>
            </a:r>
            <a:endParaRPr lang="en-US" sz="1700" noProof="1"/>
          </a:p>
        </p:txBody>
      </p:sp>
      <p:sp>
        <p:nvSpPr>
          <p:cNvPr id="21" name="n3"/>
          <p:cNvSpPr txBox="1"/>
          <p:nvPr/>
        </p:nvSpPr>
        <p:spPr>
          <a:xfrm>
            <a:off x="5168900" y="49276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 b="1">
                <a:solidFill>
                  <a:srgbClr val="F06449"/>
                </a:solidFill>
                <a:latin typeface="Aptos"/>
                <a:ea typeface="Aptos"/>
              </a:rPr>
              <a:t>4</a:t>
            </a:r>
            <a:endParaRPr lang="en-US" sz="1700" noProof="1"/>
          </a:p>
        </p:txBody>
      </p:sp>
      <p:sp>
        <p:nvSpPr>
          <p:cNvPr id="22" name="q3"/>
          <p:cNvSpPr txBox="1"/>
          <p:nvPr/>
        </p:nvSpPr>
        <p:spPr>
          <a:xfrm>
            <a:off x="5715000" y="4902200"/>
            <a:ext cx="5461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¿Qué acción correctiva proponen sin comprometer la calidad?</a:t>
            </a:r>
            <a:endParaRPr lang="en-US" sz="1700" noProof="1"/>
          </a:p>
        </p:txBody>
      </p:sp>
      <p:sp>
        <p:nvSpPr>
          <p:cNvPr id="23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4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25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RETROALIMENTACIÓN DEL CASO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Respuesta sólida: evidencia, prioridad y acción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18</a:t>
            </a:r>
            <a:endParaRPr lang="en-US" sz="1100" noProof="1"/>
          </a:p>
        </p:txBody>
      </p:sp>
      <p:sp>
        <p:nvSpPr>
          <p:cNvPr id="10" name="h0"/>
          <p:cNvSpPr txBox="1"/>
          <p:nvPr/>
        </p:nvSpPr>
        <p:spPr>
          <a:xfrm>
            <a:off x="825500" y="19050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Medir</a:t>
            </a:r>
            <a:endParaRPr lang="en-US" sz="2000" noProof="1"/>
          </a:p>
        </p:txBody>
      </p:sp>
      <p:sp>
        <p:nvSpPr>
          <p:cNvPr id="11" name="b0"/>
          <p:cNvSpPr txBox="1"/>
          <p:nvPr/>
        </p:nvSpPr>
        <p:spPr>
          <a:xfrm>
            <a:off x="2603500" y="1879600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Confirmar el avance real de promoción y proveedores; comparar contra el plan semanal.</a:t>
            </a:r>
            <a:endParaRPr lang="en-US" sz="1700" noProof="1"/>
          </a:p>
        </p:txBody>
      </p:sp>
      <p:sp>
        <p:nvSpPr>
          <p:cNvPr id="12" name="l0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25500" y="2603500"/>
            <a:ext cx="10350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13" name="h1"/>
          <p:cNvSpPr txBox="1"/>
          <p:nvPr/>
        </p:nvSpPr>
        <p:spPr>
          <a:xfrm>
            <a:off x="825500" y="28702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Priorizar</a:t>
            </a:r>
            <a:endParaRPr lang="en-US" sz="2000" noProof="1"/>
          </a:p>
        </p:txBody>
      </p:sp>
      <p:sp>
        <p:nvSpPr>
          <p:cNvPr id="14" name="b1"/>
          <p:cNvSpPr txBox="1"/>
          <p:nvPr/>
        </p:nvSpPr>
        <p:spPr>
          <a:xfrm>
            <a:off x="2603500" y="2844800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Revisar dependencias y holguras antes de declarar una actividad como crítica.</a:t>
            </a:r>
            <a:endParaRPr lang="en-US" sz="1700" noProof="1"/>
          </a:p>
        </p:txBody>
      </p:sp>
      <p:sp>
        <p:nvSpPr>
          <p:cNvPr id="15" name="l1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25500" y="3568700"/>
            <a:ext cx="10350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16" name="h2"/>
          <p:cNvSpPr txBox="1"/>
          <p:nvPr/>
        </p:nvSpPr>
        <p:spPr>
          <a:xfrm>
            <a:off x="825500" y="38354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Decidir</a:t>
            </a:r>
            <a:endParaRPr lang="en-US" sz="2000" noProof="1"/>
          </a:p>
        </p:txBody>
      </p:sp>
      <p:sp>
        <p:nvSpPr>
          <p:cNvPr id="17" name="b2"/>
          <p:cNvSpPr txBox="1"/>
          <p:nvPr/>
        </p:nvSpPr>
        <p:spPr>
          <a:xfrm>
            <a:off x="2603500" y="3810000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Actualizar el Gantt y, si las duraciones son inciertas, estimar escenarios con PERT.</a:t>
            </a:r>
            <a:endParaRPr lang="en-US" sz="1700" noProof="1"/>
          </a:p>
        </p:txBody>
      </p:sp>
      <p:sp>
        <p:nvSpPr>
          <p:cNvPr id="18" name="l2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25500" y="4533900"/>
            <a:ext cx="10350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19" name="h3"/>
          <p:cNvSpPr txBox="1"/>
          <p:nvPr/>
        </p:nvSpPr>
        <p:spPr>
          <a:xfrm>
            <a:off x="825500" y="48006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Actuar</a:t>
            </a:r>
            <a:endParaRPr lang="en-US" sz="2000" noProof="1"/>
          </a:p>
        </p:txBody>
      </p:sp>
      <p:sp>
        <p:nvSpPr>
          <p:cNvPr id="20" name="b3"/>
          <p:cNvSpPr txBox="1"/>
          <p:nvPr/>
        </p:nvSpPr>
        <p:spPr>
          <a:xfrm>
            <a:off x="2603500" y="4775200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700" noProof="1">
                <a:solidFill>
                  <a:srgbClr val="344B47"/>
                </a:solidFill>
                <a:latin typeface="Aptos"/>
                <a:ea typeface="Aptos"/>
              </a:rPr>
              <a:t>Reasignar apoyo a promoción, negociar confirmaciones y definir un responsable de seguimiento.</a:t>
            </a:r>
            <a:endParaRPr lang="en-US" sz="1700" noProof="1"/>
          </a:p>
        </p:txBody>
      </p:sp>
      <p:sp>
        <p:nvSpPr>
          <p:cNvPr id="21" name="l3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25500" y="5499100"/>
            <a:ext cx="10350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22" name="error"/>
          <p:cNvSpPr txBox="1"/>
          <p:nvPr/>
        </p:nvSpPr>
        <p:spPr>
          <a:xfrm>
            <a:off x="863600" y="57912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15000"/>
              </a:lnSpc>
            </a:pPr>
            <a:r>
              <a:rPr lang="en-US" sz="1300" noProof="1" b="1">
                <a:solidFill>
                  <a:srgbClr val="B84A44"/>
                </a:solidFill>
                <a:latin typeface="Aptos"/>
                <a:ea typeface="Aptos"/>
              </a:rPr>
              <a:t>Error frecuente: acelerar todas las tareas por igual en lugar de atender la restricción que realmente afecta la entrega.</a:t>
            </a:r>
            <a:endParaRPr lang="en-US" sz="1300" noProof="1"/>
          </a:p>
        </p:txBody>
      </p:sp>
      <p:sp>
        <p:nvSpPr>
          <p:cNvPr id="23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4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25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CONCLUSIONES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Controlar es decidir mejor con información oportuna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19</a:t>
            </a:r>
            <a:endParaRPr lang="en-US" sz="1100" noProof="1"/>
          </a:p>
        </p:txBody>
      </p:sp>
      <p:sp>
        <p:nvSpPr>
          <p:cNvPr id="10" name="n0"/>
          <p:cNvSpPr txBox="1"/>
          <p:nvPr/>
        </p:nvSpPr>
        <p:spPr>
          <a:xfrm>
            <a:off x="863600" y="18542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01</a:t>
            </a:r>
            <a:endParaRPr lang="en-US" sz="1500" noProof="1"/>
          </a:p>
        </p:txBody>
      </p:sp>
      <p:sp>
        <p:nvSpPr>
          <p:cNvPr id="11" name="t0"/>
          <p:cNvSpPr txBox="1"/>
          <p:nvPr/>
        </p:nvSpPr>
        <p:spPr>
          <a:xfrm>
            <a:off x="1651000" y="1828800"/>
            <a:ext cx="9271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El estándar hace evaluable una meta.</a:t>
            </a:r>
            <a:endParaRPr lang="en-US" sz="1900" noProof="1"/>
          </a:p>
        </p:txBody>
      </p:sp>
      <p:sp>
        <p:nvSpPr>
          <p:cNvPr id="12" name="n1"/>
          <p:cNvSpPr txBox="1"/>
          <p:nvPr/>
        </p:nvSpPr>
        <p:spPr>
          <a:xfrm>
            <a:off x="863600" y="26289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02</a:t>
            </a:r>
            <a:endParaRPr lang="en-US" sz="1500" noProof="1"/>
          </a:p>
        </p:txBody>
      </p:sp>
      <p:sp>
        <p:nvSpPr>
          <p:cNvPr id="13" name="t1"/>
          <p:cNvSpPr txBox="1"/>
          <p:nvPr/>
        </p:nvSpPr>
        <p:spPr>
          <a:xfrm>
            <a:off x="1651000" y="2603500"/>
            <a:ext cx="9271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>
                <a:solidFill>
                  <a:srgbClr val="344B47"/>
                </a:solidFill>
                <a:latin typeface="Aptos"/>
                <a:ea typeface="Aptos"/>
              </a:rPr>
              <a:t>La medición solo sirve si conduce a una decisión.</a:t>
            </a:r>
            <a:endParaRPr lang="en-US" sz="1900" noProof="1"/>
          </a:p>
        </p:txBody>
      </p:sp>
      <p:sp>
        <p:nvSpPr>
          <p:cNvPr id="14" name="n2"/>
          <p:cNvSpPr txBox="1"/>
          <p:nvPr/>
        </p:nvSpPr>
        <p:spPr>
          <a:xfrm>
            <a:off x="863600" y="34036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03</a:t>
            </a:r>
            <a:endParaRPr lang="en-US" sz="1500" noProof="1"/>
          </a:p>
        </p:txBody>
      </p:sp>
      <p:sp>
        <p:nvSpPr>
          <p:cNvPr id="15" name="t2"/>
          <p:cNvSpPr txBox="1"/>
          <p:nvPr/>
        </p:nvSpPr>
        <p:spPr>
          <a:xfrm>
            <a:off x="1651000" y="3378200"/>
            <a:ext cx="9271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>
                <a:solidFill>
                  <a:srgbClr val="344B47"/>
                </a:solidFill>
                <a:latin typeface="Aptos"/>
                <a:ea typeface="Aptos"/>
              </a:rPr>
              <a:t>Benchmarking abre referentes; no ofrece recetas universales.</a:t>
            </a:r>
            <a:endParaRPr lang="en-US" sz="1900" noProof="1"/>
          </a:p>
        </p:txBody>
      </p:sp>
      <p:sp>
        <p:nvSpPr>
          <p:cNvPr id="16" name="n3"/>
          <p:cNvSpPr txBox="1"/>
          <p:nvPr/>
        </p:nvSpPr>
        <p:spPr>
          <a:xfrm>
            <a:off x="863600" y="41783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04</a:t>
            </a:r>
            <a:endParaRPr lang="en-US" sz="1500" noProof="1"/>
          </a:p>
        </p:txBody>
      </p:sp>
      <p:sp>
        <p:nvSpPr>
          <p:cNvPr id="17" name="t3"/>
          <p:cNvSpPr txBox="1"/>
          <p:nvPr/>
        </p:nvSpPr>
        <p:spPr>
          <a:xfrm>
            <a:off x="1651000" y="4152900"/>
            <a:ext cx="9271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>
                <a:solidFill>
                  <a:srgbClr val="344B47"/>
                </a:solidFill>
                <a:latin typeface="Aptos"/>
                <a:ea typeface="Aptos"/>
              </a:rPr>
              <a:t>Gantt ordena el tiempo; PERT y CPM, incertidumbre y dependencias.</a:t>
            </a:r>
            <a:endParaRPr lang="en-US" sz="1900" noProof="1"/>
          </a:p>
        </p:txBody>
      </p:sp>
      <p:sp>
        <p:nvSpPr>
          <p:cNvPr id="18" name="n4"/>
          <p:cNvSpPr txBox="1"/>
          <p:nvPr/>
        </p:nvSpPr>
        <p:spPr>
          <a:xfrm>
            <a:off x="863600" y="4953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500" noProof="1" b="1">
                <a:solidFill>
                  <a:srgbClr val="F06449"/>
                </a:solidFill>
                <a:latin typeface="Aptos"/>
                <a:ea typeface="Aptos"/>
              </a:rPr>
              <a:t>05</a:t>
            </a:r>
            <a:endParaRPr lang="en-US" sz="1500" noProof="1"/>
          </a:p>
        </p:txBody>
      </p:sp>
      <p:sp>
        <p:nvSpPr>
          <p:cNvPr id="19" name="t4"/>
          <p:cNvSpPr txBox="1"/>
          <p:nvPr/>
        </p:nvSpPr>
        <p:spPr>
          <a:xfrm>
            <a:off x="1651000" y="4927600"/>
            <a:ext cx="9271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900" noProof="1" b="1">
                <a:solidFill>
                  <a:srgbClr val="173F3A"/>
                </a:solidFill>
                <a:latin typeface="Aptos"/>
                <a:ea typeface="Aptos"/>
              </a:rPr>
              <a:t>La herramienta se elige según la pregunta de gestión.</a:t>
            </a:r>
            <a:endParaRPr lang="en-US" sz="1900" noProof="1"/>
          </a:p>
        </p:txBody>
      </p:sp>
      <p:sp>
        <p:nvSpPr>
          <p:cNvPr id="20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21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22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3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4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355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1100" noProof="1" b="1">
                <a:solidFill>
                  <a:srgbClr val="F06449"/>
                </a:solidFill>
                <a:latin typeface="Aptos"/>
                <a:ea typeface="Aptos"/>
              </a:rPr>
              <a:t>FUENTES CONSULTADAS</a:t>
            </a:r>
            <a:endParaRPr lang="en-US" sz="1100" noProof="1"/>
          </a:p>
        </p:txBody>
      </p:sp>
      <p:sp>
        <p:nvSpPr>
          <p:cNvPr id="6" name="title"/>
          <p:cNvSpPr txBox="1"/>
          <p:nvPr/>
        </p:nvSpPr>
        <p:spPr>
          <a:xfrm>
            <a:off x="711200" y="6858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900" noProof="1" b="1">
                <a:solidFill>
                  <a:srgbClr val="173F3A"/>
                </a:solidFill>
                <a:latin typeface="Aptos"/>
                <a:ea typeface="Aptos"/>
              </a:rPr>
              <a:t>Referencias y cierre</a:t>
            </a:r>
            <a:endParaRPr lang="en-US" sz="2900" noProof="1"/>
          </a:p>
        </p:txBody>
      </p:sp>
      <p:sp>
        <p:nvSpPr>
          <p:cNvPr id="7" name="head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07696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DDD8CE"/>
            </a:solidFill>
          </a:ln>
        </p:spPr>
      </p:sp>
      <p:sp>
        <p:nvSpPr>
          <p:cNvPr id="8" name="accentline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711200" y="1511300"/>
            <a:ext cx="11684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50800">
            <a:solidFill>
              <a:srgbClr val="F06449"/>
            </a:solidFill>
          </a:ln>
        </p:spPr>
      </p:sp>
      <p:sp>
        <p:nvSpPr>
          <p:cNvPr id="9" name="num"/>
          <p:cNvSpPr txBox="1"/>
          <p:nvPr/>
        </p:nvSpPr>
        <p:spPr>
          <a:xfrm>
            <a:off x="10998200" y="6350000"/>
            <a:ext cx="482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15000"/>
              </a:lnSpc>
            </a:pPr>
            <a:r>
              <a:rPr lang="en-US" sz="1100" noProof="1">
                <a:solidFill>
                  <a:srgbClr val="6B7C77"/>
                </a:solidFill>
                <a:latin typeface="Aptos"/>
                <a:ea typeface="Aptos"/>
              </a:rPr>
              <a:t>20</a:t>
            </a:r>
            <a:endParaRPr lang="en-US" sz="1100" noProof="1"/>
          </a:p>
        </p:txBody>
      </p:sp>
      <p:sp>
        <p:nvSpPr>
          <p:cNvPr id="10" name="refs"/>
          <p:cNvSpPr txBox="1"/>
          <p:nvPr/>
        </p:nvSpPr>
        <p:spPr>
          <a:xfrm>
            <a:off x="825500" y="1737360"/>
            <a:ext cx="10414000" cy="3977639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Camp, R. C. (1989). </a:t>
            </a:r>
            <a:r>
              <a:rPr lang="en-US" sz="1150" noProof="1" i="1">
                <a:solidFill>
                  <a:srgbClr val="344B47"/>
                </a:solidFill>
                <a:latin typeface="Aptos"/>
                <a:ea typeface="Aptos"/>
              </a:rPr>
              <a:t>Benchmarking: The search for industry best practices that lead to superior performance</a:t>
            </a: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. ASQC Quality Press.</a:t>
            </a:r>
            <a:endParaRPr lang="en-US" sz="1300" noProof="1"/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Chiavenato, I. (2014). </a:t>
            </a:r>
            <a:r>
              <a:rPr lang="en-US" sz="1150" noProof="1" i="1">
                <a:solidFill>
                  <a:srgbClr val="344B47"/>
                </a:solidFill>
                <a:latin typeface="Aptos"/>
                <a:ea typeface="Aptos"/>
              </a:rPr>
              <a:t>Introducción a la teoría general de la administración</a:t>
            </a: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 (8.ª ed.). McGraw-Hill Interamericana.</a:t>
            </a:r>
            <a:endParaRPr lang="en-US" sz="1300" noProof="1"/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Clark, W. (1922). </a:t>
            </a:r>
            <a:r>
              <a:rPr lang="en-US" sz="1150" noProof="1" i="1">
                <a:solidFill>
                  <a:srgbClr val="344B47"/>
                </a:solidFill>
                <a:latin typeface="Aptos"/>
                <a:ea typeface="Aptos"/>
              </a:rPr>
              <a:t>The Gantt chart: A working tool of management</a:t>
            </a: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. The Ronald Press Company.</a:t>
            </a:r>
            <a:endParaRPr lang="en-US" sz="1300" noProof="1"/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Kelley, J. E., y Walker, M. R. (1959). Critical-path planning and scheduling. En </a:t>
            </a:r>
            <a:r>
              <a:rPr lang="en-US" sz="1150" noProof="1" i="1">
                <a:solidFill>
                  <a:srgbClr val="344B47"/>
                </a:solidFill>
                <a:latin typeface="Aptos"/>
                <a:ea typeface="Aptos"/>
              </a:rPr>
              <a:t>Proceedings of the Eastern Joint Computer Conference</a:t>
            </a: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 (pp. 160–173). Association for Computing Machinery.</a:t>
            </a:r>
            <a:endParaRPr lang="en-US" sz="1300" noProof="1"/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Kerzner, H. (2017). </a:t>
            </a:r>
            <a:r>
              <a:rPr lang="en-US" sz="1150" noProof="1" i="1">
                <a:solidFill>
                  <a:srgbClr val="344B47"/>
                </a:solidFill>
                <a:latin typeface="Aptos"/>
                <a:ea typeface="Aptos"/>
              </a:rPr>
              <a:t>Project management: A systems approach to planning, scheduling, and controlling</a:t>
            </a: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 (12.ª ed.). Wiley.</a:t>
            </a:r>
            <a:endParaRPr lang="en-US" sz="1300" noProof="1"/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Koontz, H., Weihrich, H., y Cannice, M. (2017). </a:t>
            </a:r>
            <a:r>
              <a:rPr lang="en-US" sz="1150" noProof="1" i="1">
                <a:solidFill>
                  <a:srgbClr val="344B47"/>
                </a:solidFill>
                <a:latin typeface="Aptos"/>
                <a:ea typeface="Aptos"/>
              </a:rPr>
              <a:t>Administración: Una perspectiva global, empresarial y de innovación</a:t>
            </a: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 (15.ª ed.). McGraw-Hill Education.</a:t>
            </a:r>
            <a:endParaRPr lang="en-US" sz="1300" noProof="1"/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Malcolm, D. G., Roseboom, J. H., Clark, C. E., y Fazar, W. (1959). Application of a technique for research and development program evaluation. </a:t>
            </a:r>
            <a:r>
              <a:rPr lang="en-US" sz="1150" noProof="1" i="1">
                <a:solidFill>
                  <a:srgbClr val="344B47"/>
                </a:solidFill>
                <a:latin typeface="Aptos"/>
                <a:ea typeface="Aptos"/>
              </a:rPr>
              <a:t>Operations Research, 7</a:t>
            </a: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(5), 646–669.</a:t>
            </a:r>
            <a:endParaRPr lang="en-US" sz="1300" noProof="1"/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Project Management Institute. (2021). </a:t>
            </a:r>
            <a:r>
              <a:rPr lang="en-US" sz="1150" noProof="1" i="1">
                <a:solidFill>
                  <a:srgbClr val="344B47"/>
                </a:solidFill>
                <a:latin typeface="Aptos"/>
                <a:ea typeface="Aptos"/>
              </a:rPr>
              <a:t>A guide to the project management body of knowledge (PMBOK guide)</a:t>
            </a: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 (7.ª ed.).</a:t>
            </a:r>
            <a:endParaRPr lang="en-US" sz="1300" noProof="1"/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Robbins, S. P., y Coulter, M. (2018). </a:t>
            </a:r>
            <a:r>
              <a:rPr lang="en-US" sz="1150" noProof="1" i="1">
                <a:solidFill>
                  <a:srgbClr val="344B47"/>
                </a:solidFill>
                <a:latin typeface="Aptos"/>
                <a:ea typeface="Aptos"/>
              </a:rPr>
              <a:t>Administración</a:t>
            </a:r>
            <a:r>
              <a:rPr lang="en-US" sz="1150" noProof="1">
                <a:solidFill>
                  <a:srgbClr val="344B47"/>
                </a:solidFill>
                <a:latin typeface="Aptos"/>
                <a:ea typeface="Aptos"/>
              </a:rPr>
              <a:t> (13.ª ed.). Pearson Educación.</a:t>
            </a:r>
            <a:endParaRPr lang="en-US" sz="1300" noProof="1"/>
          </a:p>
        </p:txBody>
      </p:sp>
      <p:sp>
        <p:nvSpPr>
          <p:cNvPr id="11" name="end"/>
          <p:cNvSpPr/>
          <p:nvPr>
            <p:extLst>
              <p:ext uri="{F5677B7D-0D2A-4D9B-9A5C-6D8D7D0E5A5D}">
                <pptd:line encoding="base64url">eyJ2aWV3Qm94IjpbMSwxXSwicG9pbnRzIjoiMCwwIDEsMCIsImN1cnZlIjoic2hhcnAifQ</pptd:line>
              </p:ext>
            </p:extLst>
          </p:nvPr>
        </p:nvSpPr>
        <p:spPr>
          <a:xfrm>
            <a:off x="825500" y="5854700"/>
            <a:ext cx="104775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w="25400">
            <a:solidFill>
              <a:srgbClr val="173F3A"/>
            </a:solidFill>
          </a:ln>
        </p:spPr>
      </p:sp>
      <p:sp>
        <p:nvSpPr>
          <p:cNvPr id="12" name="thanks"/>
          <p:cNvSpPr txBox="1"/>
          <p:nvPr/>
        </p:nvSpPr>
        <p:spPr>
          <a:xfrm>
            <a:off x="825500" y="6057900"/>
            <a:ext cx="825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2000" noProof="1" b="1">
                <a:solidFill>
                  <a:srgbClr val="173F3A"/>
                </a:solidFill>
                <a:latin typeface="Aptos"/>
                <a:ea typeface="Aptos"/>
              </a:rPr>
              <a:t>Gracias · ¿Preguntas?</a:t>
            </a:r>
            <a:endParaRPr lang="en-US" sz="2000" noProof="1"/>
          </a:p>
        </p:txBody>
      </p:sp>
      <p:sp>
        <p:nvSpPr>
          <p:cNvPr id="13" name="blob-top"/>
          <p:cNvSpPr/>
          <p:nvPr/>
        </p:nvSpPr>
        <p:spPr>
          <a:xfrm>
            <a:off x="11201400" y="0"/>
            <a:ext cx="990600" cy="990600"/>
          </a:xfrm>
          <a:prstGeom prst="ellipse">
            <a:avLst/>
          </a:prstGeom>
          <a:solidFill>
            <a:srgbClr val="DDF1EC"/>
          </a:solidFill>
          <a:ln>
            <a:noFill/>
          </a:ln>
        </p:spPr>
      </p:sp>
      <p:sp>
        <p:nvSpPr>
          <p:cNvPr id="14" name="dot-top"/>
          <p:cNvSpPr/>
          <p:nvPr/>
        </p:nvSpPr>
        <p:spPr>
          <a:xfrm>
            <a:off x="10795000" y="304800"/>
            <a:ext cx="190500" cy="1905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</p:sp>
      <p:sp>
        <p:nvSpPr>
          <p:cNvPr id="15" name="blob-bottom"/>
          <p:cNvSpPr/>
          <p:nvPr/>
        </p:nvSpPr>
        <p:spPr>
          <a:xfrm>
            <a:off x="0" y="6350000"/>
            <a:ext cx="660400" cy="508000"/>
          </a:xfrm>
          <a:prstGeom prst="ellipse">
            <a:avLst/>
          </a:prstGeom>
          <a:solidFill>
            <a:srgbClr val="FFE3D3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20</Slides>
</Properties>
</file>

<file path=docProps/core.xml><?xml version="1.0" encoding="utf-8"?>
<cp:coreProperties xmlns:dc="http://purl.org/dc/elements/1.1/" xmlns:cp="http://schemas.openxmlformats.org/package/2006/metadata/core-properties">
  <dc:title>Tipos de control administrativo — Edición estilo Canva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