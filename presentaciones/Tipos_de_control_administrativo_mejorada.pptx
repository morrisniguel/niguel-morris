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254000" cy="68580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" name="coverblob"/>
          <p:cNvSpPr/>
          <p:nvPr/>
        </p:nvSpPr>
        <p:spPr>
          <a:xfrm>
            <a:off x="8763000" y="939800"/>
            <a:ext cx="2768600" cy="2768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4" name="coveryellow"/>
          <p:cNvSpPr/>
          <p:nvPr/>
        </p:nvSpPr>
        <p:spPr>
          <a:xfrm>
            <a:off x="10769600" y="1320800"/>
            <a:ext cx="533400" cy="5334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5" name="covermini"/>
          <p:cNvSpPr/>
          <p:nvPr/>
        </p:nvSpPr>
        <p:spPr>
          <a:xfrm>
            <a:off x="8585200" y="3873500"/>
            <a:ext cx="304800" cy="3048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6" name="course"/>
          <p:cNvSpPr txBox="1"/>
          <p:nvPr/>
        </p:nvSpPr>
        <p:spPr>
          <a:xfrm>
            <a:off x="889000" y="660400"/>
            <a:ext cx="8255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INTRODUCCIÓN A LA ADMINISTRACIÓN</a:t>
            </a:r>
            <a:endParaRPr lang="en-US" sz="1300" noProof="1"/>
          </a:p>
        </p:txBody>
      </p:sp>
      <p:sp>
        <p:nvSpPr>
          <p:cNvPr id="7" name="title"/>
          <p:cNvSpPr txBox="1"/>
          <p:nvPr/>
        </p:nvSpPr>
        <p:spPr>
          <a:xfrm>
            <a:off x="889000" y="1422400"/>
            <a:ext cx="8763000" cy="162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00000"/>
              </a:lnSpc>
            </a:pPr>
            <a:r>
              <a:rPr lang="en-US" sz="4600" noProof="1" b="1">
                <a:solidFill>
                  <a:srgbClr val="173F3A"/>
                </a:solidFill>
                <a:latin typeface="Aptos"/>
                <a:ea typeface="Aptos"/>
              </a:rPr>
              <a:t>Tipos de control
administrativo</a:t>
            </a:r>
            <a:endParaRPr lang="en-US" sz="4600" noProof="1"/>
          </a:p>
        </p:txBody>
      </p:sp>
      <p:sp>
        <p:nvSpPr>
          <p:cNvPr id="8" name="sub"/>
          <p:cNvSpPr txBox="1"/>
          <p:nvPr/>
        </p:nvSpPr>
        <p:spPr>
          <a:xfrm>
            <a:off x="914400" y="3289300"/>
            <a:ext cx="7239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100" noProof="1">
                <a:solidFill>
                  <a:srgbClr val="344B47"/>
                </a:solidFill>
                <a:latin typeface="Aptos"/>
                <a:ea typeface="Aptos"/>
              </a:rPr>
              <a:t>Estándares, benchmarking y técnicas de planificación para dirigir con evidencia.</a:t>
            </a:r>
            <a:endParaRPr lang="en-US" sz="2100" noProof="1"/>
          </a:p>
        </p:txBody>
      </p:sp>
      <p:sp>
        <p:nvSpPr>
          <p:cNvPr id="9" name="cover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83100"/>
            <a:ext cx="6477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0" name="task"/>
          <p:cNvSpPr txBox="1"/>
          <p:nvPr/>
        </p:nvSpPr>
        <p:spPr>
          <a:xfrm>
            <a:off x="914400" y="4709160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Tarea previa al Taller #5  ·  Presentación oral grupal</a:t>
            </a:r>
            <a:endParaRPr lang="en-US" sz="1500" noProof="1"/>
          </a:p>
        </p:txBody>
      </p:sp>
      <p:sp>
        <p:nvSpPr>
          <p:cNvPr id="14" name="team"/>
          <p:cNvSpPr txBox="1"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6B7C77"/>
                </a:solidFill>
                <a:latin typeface="Aptos"/>
                <a:ea typeface="Aptos"/>
              </a:rPr>
              <a:t>Alayla Arbonies · Suheil Collazo · Yadiel Cruz · Niguel Morris-Santiago · Suheily Ramos · Joan Rios</a:t>
            </a:r>
            <a:endParaRPr lang="en-US" sz="1500" noProof="1"/>
          </a:p>
          <a:p>
            <a:pPr algn="l">
              <a:lnSpc>
                <a:spcPct val="115000"/>
              </a:lnSpc>
            </a:pPr>
            <a:r>
              <a:rPr lang="en-US" sz="1200" noProof="1" b="0">
                <a:solidFill>
                  <a:srgbClr val="6B7C77"/>
                </a:solidFill>
                <a:latin typeface="Aptos"/>
                <a:ea typeface="Aptos"/>
              </a:rPr>
              <a:t>Universidad Ana G. Méndez, Recinto de Cupey · MANA 210 CRN 22460 · Prof. René Berríos · 26 de octubre de 2026</a:t>
            </a:r>
            <a:endParaRPr lang="en-US" sz="1500" noProof="1"/>
          </a:p>
        </p:txBody>
      </p:sp>
      <p:sp>
        <p:nvSpPr>
          <p:cNvPr id="11" name="eye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474200" y="1727200"/>
            <a:ext cx="1168400" cy="1168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c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033000" y="2984500"/>
            <a:ext cx="12700" cy="6858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38100">
            <a:solidFill>
              <a:srgbClr val="F06449"/>
            </a:solidFill>
          </a:ln>
        </p:spPr>
      </p:sp>
      <p:sp>
        <p:nvSpPr>
          <p:cNvPr id="13" name="side"/>
          <p:cNvSpPr txBox="1"/>
          <p:nvPr/>
        </p:nvSpPr>
        <p:spPr>
          <a:xfrm>
            <a:off x="9055100" y="3937000"/>
            <a:ext cx="21336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173F3A"/>
                </a:solidFill>
                <a:latin typeface="Aptos"/>
                <a:ea typeface="Aptos"/>
              </a:rPr>
              <a:t>Medir.
Comparar.
Mejorar.</a:t>
            </a:r>
            <a:endParaRPr lang="en-US" sz="25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RUTA DE APRENDIZAJE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Al final podrás elegir la herramienta de control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02</a:t>
            </a:r>
            <a:endParaRPr lang="en-US" sz="1100" noProof="1"/>
          </a:p>
        </p:txBody>
      </p:sp>
      <p:sp>
        <p:nvSpPr>
          <p:cNvPr id="10" name="i0"/>
          <p:cNvSpPr/>
          <p:nvPr>
            <p:extLst>
              <p:ext uri="{F5677B7D-0D2A-4D9B-9A5C-6D8D7D0E5A5D}">
                <pptd:icon encoding="base64url">eyJpY29uTmFtZSI6ImZhczphcnJvd3Mtcm90YXRlIn0</pptd:icon>
              </p:ext>
            </p:extLst>
          </p:nvPr>
        </p:nvSpPr>
        <p:spPr>
          <a:xfrm>
            <a:off x="787400" y="203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1" name="n0"/>
          <p:cNvSpPr txBox="1"/>
          <p:nvPr/>
        </p:nvSpPr>
        <p:spPr>
          <a:xfrm>
            <a:off x="1473200" y="203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2" name="h0"/>
          <p:cNvSpPr txBox="1"/>
          <p:nvPr/>
        </p:nvSpPr>
        <p:spPr>
          <a:xfrm>
            <a:off x="2095500" y="200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Comprender</a:t>
            </a:r>
            <a:endParaRPr lang="en-US" sz="2100" noProof="1"/>
          </a:p>
        </p:txBody>
      </p:sp>
      <p:sp>
        <p:nvSpPr>
          <p:cNvPr id="13" name="b0"/>
          <p:cNvSpPr txBox="1"/>
          <p:nvPr/>
        </p:nvSpPr>
        <p:spPr>
          <a:xfrm>
            <a:off x="4419600" y="201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Explicar el control como parte del proceso administrativo.</a:t>
            </a:r>
            <a:endParaRPr lang="en-US" sz="1700" noProof="1"/>
          </a:p>
        </p:txBody>
      </p:sp>
      <p:sp>
        <p:nvSpPr>
          <p:cNvPr id="14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285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eyJpY29uTmFtZSI6ImZhczpsYXllci1ncm91cCJ9</pptd:icon>
              </p:ext>
            </p:extLst>
          </p:nvPr>
        </p:nvSpPr>
        <p:spPr>
          <a:xfrm>
            <a:off x="787400" y="330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33" y="5"/>
                </a:moveTo>
                <a:cubicBezTo>
                  <a:pt x="247" y="-2"/>
                  <a:pt x="265" y="-2"/>
                  <a:pt x="280" y="5"/>
                </a:cubicBezTo>
                <a:lnTo>
                  <a:pt x="498" y="106"/>
                </a:lnTo>
                <a:cubicBezTo>
                  <a:pt x="507" y="110"/>
                  <a:pt x="512" y="119"/>
                  <a:pt x="512" y="128"/>
                </a:cubicBezTo>
                <a:cubicBezTo>
                  <a:pt x="512" y="137"/>
                  <a:pt x="507" y="146"/>
                  <a:pt x="498" y="150"/>
                </a:cubicBezTo>
                <a:lnTo>
                  <a:pt x="280" y="251"/>
                </a:lnTo>
                <a:cubicBezTo>
                  <a:pt x="265" y="258"/>
                  <a:pt x="247" y="258"/>
                  <a:pt x="233" y="251"/>
                </a:cubicBezTo>
                <a:lnTo>
                  <a:pt x="14" y="150"/>
                </a:lnTo>
                <a:cubicBezTo>
                  <a:pt x="5" y="146"/>
                  <a:pt x="0" y="137"/>
                  <a:pt x="0" y="128"/>
                </a:cubicBezTo>
                <a:cubicBezTo>
                  <a:pt x="0" y="119"/>
                  <a:pt x="5" y="110"/>
                  <a:pt x="14" y="106"/>
                </a:cubicBezTo>
                <a:lnTo>
                  <a:pt x="233" y="5"/>
                </a:lnTo>
                <a:close/>
              </a:path>
              <a:path w="512" h="512">
                <a:moveTo>
                  <a:pt x="48" y="218"/>
                </a:moveTo>
                <a:lnTo>
                  <a:pt x="212" y="294"/>
                </a:lnTo>
                <a:cubicBezTo>
                  <a:pt x="240" y="307"/>
                  <a:pt x="272" y="307"/>
                  <a:pt x="300" y="294"/>
                </a:cubicBezTo>
                <a:lnTo>
                  <a:pt x="464" y="218"/>
                </a:lnTo>
                <a:lnTo>
                  <a:pt x="498" y="234"/>
                </a:lnTo>
                <a:cubicBezTo>
                  <a:pt x="507" y="238"/>
                  <a:pt x="512" y="247"/>
                  <a:pt x="512" y="256"/>
                </a:cubicBezTo>
                <a:cubicBezTo>
                  <a:pt x="512" y="265"/>
                  <a:pt x="507" y="274"/>
                  <a:pt x="498" y="278"/>
                </a:cubicBezTo>
                <a:lnTo>
                  <a:pt x="280" y="379"/>
                </a:lnTo>
                <a:cubicBezTo>
                  <a:pt x="265" y="386"/>
                  <a:pt x="247" y="386"/>
                  <a:pt x="233" y="379"/>
                </a:cubicBezTo>
                <a:lnTo>
                  <a:pt x="14" y="278"/>
                </a:lnTo>
                <a:cubicBezTo>
                  <a:pt x="5" y="274"/>
                  <a:pt x="0" y="265"/>
                  <a:pt x="0" y="256"/>
                </a:cubicBezTo>
                <a:cubicBezTo>
                  <a:pt x="0" y="247"/>
                  <a:pt x="5" y="238"/>
                  <a:pt x="14" y="234"/>
                </a:cubicBezTo>
                <a:lnTo>
                  <a:pt x="48" y="218"/>
                </a:lnTo>
                <a:close/>
              </a:path>
              <a:path w="512" h="512">
                <a:moveTo>
                  <a:pt x="14" y="362"/>
                </a:moveTo>
                <a:lnTo>
                  <a:pt x="48" y="346"/>
                </a:lnTo>
                <a:lnTo>
                  <a:pt x="212" y="422"/>
                </a:lnTo>
                <a:cubicBezTo>
                  <a:pt x="240" y="435"/>
                  <a:pt x="272" y="435"/>
                  <a:pt x="300" y="422"/>
                </a:cubicBezTo>
                <a:lnTo>
                  <a:pt x="464" y="346"/>
                </a:lnTo>
                <a:lnTo>
                  <a:pt x="498" y="362"/>
                </a:lnTo>
                <a:cubicBezTo>
                  <a:pt x="507" y="366"/>
                  <a:pt x="512" y="375"/>
                  <a:pt x="512" y="384"/>
                </a:cubicBezTo>
                <a:cubicBezTo>
                  <a:pt x="512" y="393"/>
                  <a:pt x="507" y="402"/>
                  <a:pt x="498" y="406"/>
                </a:cubicBezTo>
                <a:lnTo>
                  <a:pt x="279" y="507"/>
                </a:lnTo>
                <a:cubicBezTo>
                  <a:pt x="265" y="514"/>
                  <a:pt x="247" y="514"/>
                  <a:pt x="232" y="507"/>
                </a:cubicBezTo>
                <a:lnTo>
                  <a:pt x="14" y="406"/>
                </a:lnTo>
                <a:cubicBezTo>
                  <a:pt x="5" y="402"/>
                  <a:pt x="0" y="393"/>
                  <a:pt x="0" y="384"/>
                </a:cubicBezTo>
                <a:cubicBezTo>
                  <a:pt x="0" y="375"/>
                  <a:pt x="5" y="366"/>
                  <a:pt x="14" y="362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n1"/>
          <p:cNvSpPr txBox="1"/>
          <p:nvPr/>
        </p:nvSpPr>
        <p:spPr>
          <a:xfrm>
            <a:off x="1473200" y="330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7" name="h1"/>
          <p:cNvSpPr txBox="1"/>
          <p:nvPr/>
        </p:nvSpPr>
        <p:spPr>
          <a:xfrm>
            <a:off x="2095500" y="327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Distinguir</a:t>
            </a:r>
            <a:endParaRPr lang="en-US" sz="2100" noProof="1"/>
          </a:p>
        </p:txBody>
      </p:sp>
      <p:sp>
        <p:nvSpPr>
          <p:cNvPr id="18" name="b1"/>
          <p:cNvSpPr txBox="1"/>
          <p:nvPr/>
        </p:nvSpPr>
        <p:spPr>
          <a:xfrm>
            <a:off x="4419600" y="328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Diferenciar estándares, benchmarking, Gantt, PERT y CPM.</a:t>
            </a:r>
            <a:endParaRPr lang="en-US" sz="17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412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i2"/>
          <p:cNvSpPr/>
          <p:nvPr>
            <p:extLst>
              <p:ext uri="{F5677B7D-0D2A-4D9B-9A5C-6D8D7D0E5A5D}">
                <pptd:icon encoding="base64url">eyJpY29uTmFtZSI6ImZhczpjbGlwYm9hcmQtY2hlY2sifQ</pptd:icon>
              </p:ext>
            </p:extLst>
          </p:nvPr>
        </p:nvSpPr>
        <p:spPr>
          <a:xfrm>
            <a:off x="787400" y="457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56" y="0"/>
                </a:moveTo>
                <a:cubicBezTo>
                  <a:pt x="280" y="0"/>
                  <a:pt x="300" y="13"/>
                  <a:pt x="311" y="32"/>
                </a:cubicBezTo>
                <a:lnTo>
                  <a:pt x="320" y="32"/>
                </a:lnTo>
                <a:cubicBezTo>
                  <a:pt x="355" y="32"/>
                  <a:pt x="384" y="61"/>
                  <a:pt x="384" y="96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96"/>
                </a:lnTo>
                <a:cubicBezTo>
                  <a:pt x="0" y="61"/>
                  <a:pt x="29" y="32"/>
                  <a:pt x="64" y="32"/>
                </a:cubicBezTo>
                <a:lnTo>
                  <a:pt x="73" y="32"/>
                </a:lnTo>
                <a:cubicBezTo>
                  <a:pt x="84" y="13"/>
                  <a:pt x="104" y="0"/>
                  <a:pt x="128" y="0"/>
                </a:cubicBezTo>
                <a:lnTo>
                  <a:pt x="256" y="0"/>
                </a:lnTo>
                <a:close/>
                <a:moveTo>
                  <a:pt x="283" y="213"/>
                </a:moveTo>
                <a:cubicBezTo>
                  <a:pt x="272" y="205"/>
                  <a:pt x="257" y="207"/>
                  <a:pt x="249" y="218"/>
                </a:cubicBezTo>
                <a:lnTo>
                  <a:pt x="164" y="336"/>
                </a:lnTo>
                <a:lnTo>
                  <a:pt x="137" y="308"/>
                </a:lnTo>
                <a:cubicBezTo>
                  <a:pt x="128" y="299"/>
                  <a:pt x="113" y="298"/>
                  <a:pt x="103" y="308"/>
                </a:cubicBezTo>
                <a:cubicBezTo>
                  <a:pt x="94" y="317"/>
                  <a:pt x="94" y="332"/>
                  <a:pt x="103" y="342"/>
                </a:cubicBezTo>
                <a:lnTo>
                  <a:pt x="149" y="390"/>
                </a:lnTo>
                <a:cubicBezTo>
                  <a:pt x="154" y="395"/>
                  <a:pt x="161" y="397"/>
                  <a:pt x="168" y="397"/>
                </a:cubicBezTo>
                <a:cubicBezTo>
                  <a:pt x="175" y="396"/>
                  <a:pt x="182" y="393"/>
                  <a:pt x="186" y="387"/>
                </a:cubicBezTo>
                <a:lnTo>
                  <a:pt x="288" y="246"/>
                </a:lnTo>
                <a:cubicBezTo>
                  <a:pt x="296" y="235"/>
                  <a:pt x="294" y="220"/>
                  <a:pt x="283" y="213"/>
                </a:cubicBezTo>
                <a:close/>
                <a:moveTo>
                  <a:pt x="136" y="64"/>
                </a:moveTo>
                <a:cubicBezTo>
                  <a:pt x="123" y="64"/>
                  <a:pt x="112" y="75"/>
                  <a:pt x="112" y="88"/>
                </a:cubicBezTo>
                <a:cubicBezTo>
                  <a:pt x="112" y="101"/>
                  <a:pt x="123" y="112"/>
                  <a:pt x="136" y="112"/>
                </a:cubicBezTo>
                <a:lnTo>
                  <a:pt x="248" y="112"/>
                </a:lnTo>
                <a:cubicBezTo>
                  <a:pt x="261" y="112"/>
                  <a:pt x="272" y="101"/>
                  <a:pt x="272" y="88"/>
                </a:cubicBezTo>
                <a:cubicBezTo>
                  <a:pt x="272" y="75"/>
                  <a:pt x="261" y="64"/>
                  <a:pt x="248" y="64"/>
                </a:cubicBezTo>
                <a:lnTo>
                  <a:pt x="136" y="64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1" name="n2"/>
          <p:cNvSpPr txBox="1"/>
          <p:nvPr/>
        </p:nvSpPr>
        <p:spPr>
          <a:xfrm>
            <a:off x="1473200" y="457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22" name="h2"/>
          <p:cNvSpPr txBox="1"/>
          <p:nvPr/>
        </p:nvSpPr>
        <p:spPr>
          <a:xfrm>
            <a:off x="20955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Aplicar</a:t>
            </a:r>
            <a:endParaRPr lang="en-US" sz="2100" noProof="1"/>
          </a:p>
        </p:txBody>
      </p:sp>
      <p:sp>
        <p:nvSpPr>
          <p:cNvPr id="23" name="b2"/>
          <p:cNvSpPr txBox="1"/>
          <p:nvPr/>
        </p:nvSpPr>
        <p:spPr>
          <a:xfrm>
            <a:off x="4419600" y="455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Seleccionar una herramienta según el problema y justificar la decisión.</a:t>
            </a:r>
            <a:endParaRPr lang="en-US" sz="1700" noProof="1"/>
          </a:p>
        </p:txBody>
      </p:sp>
      <p:sp>
        <p:nvSpPr>
          <p:cNvPr id="24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539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FUNCIÓN ADMINISTRATIVA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conecta los resultados con las decisiones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eyJpY29uTmFtZSI6ImZhczpidWxsc2V5ZSJ9</pptd:icon>
              </p:ext>
            </p:extLst>
          </p:nvPr>
        </p:nvSpPr>
        <p:spPr>
          <a:xfrm>
            <a:off x="825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762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Planificación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762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Define metas</a:t>
            </a:r>
            <a:endParaRPr lang="en-US" sz="1500" noProof="1"/>
          </a:p>
        </p:txBody>
      </p:sp>
      <p:sp>
        <p:nvSpPr>
          <p:cNvPr id="14" name="a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2667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eyJpY29uTmFtZSI6ImZhczpzaXRlbWFwIn0</pptd:icon>
              </p:ext>
            </p:extLst>
          </p:nvPr>
        </p:nvSpPr>
        <p:spPr>
          <a:xfrm>
            <a:off x="3619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92" y="64"/>
                </a:moveTo>
                <a:cubicBezTo>
                  <a:pt x="192" y="46"/>
                  <a:pt x="206" y="32"/>
                  <a:pt x="224" y="32"/>
                </a:cubicBezTo>
                <a:lnTo>
                  <a:pt x="288" y="32"/>
                </a:lnTo>
                <a:cubicBezTo>
                  <a:pt x="306" y="32"/>
                  <a:pt x="320" y="46"/>
                  <a:pt x="320" y="64"/>
                </a:cubicBezTo>
                <a:lnTo>
                  <a:pt x="320" y="128"/>
                </a:lnTo>
                <a:cubicBezTo>
                  <a:pt x="320" y="146"/>
                  <a:pt x="306" y="160"/>
                  <a:pt x="288" y="160"/>
                </a:cubicBezTo>
                <a:lnTo>
                  <a:pt x="280" y="160"/>
                </a:lnTo>
                <a:lnTo>
                  <a:pt x="280" y="224"/>
                </a:lnTo>
                <a:lnTo>
                  <a:pt x="400" y="224"/>
                </a:lnTo>
                <a:cubicBezTo>
                  <a:pt x="440" y="224"/>
                  <a:pt x="472" y="256"/>
                  <a:pt x="472" y="296"/>
                </a:cubicBezTo>
                <a:lnTo>
                  <a:pt x="472" y="352"/>
                </a:lnTo>
                <a:lnTo>
                  <a:pt x="480" y="352"/>
                </a:lnTo>
                <a:cubicBezTo>
                  <a:pt x="498" y="352"/>
                  <a:pt x="512" y="366"/>
                  <a:pt x="512" y="384"/>
                </a:cubicBezTo>
                <a:lnTo>
                  <a:pt x="512" y="448"/>
                </a:lnTo>
                <a:cubicBezTo>
                  <a:pt x="512" y="466"/>
                  <a:pt x="498" y="480"/>
                  <a:pt x="480" y="480"/>
                </a:cubicBezTo>
                <a:lnTo>
                  <a:pt x="416" y="480"/>
                </a:lnTo>
                <a:cubicBezTo>
                  <a:pt x="398" y="480"/>
                  <a:pt x="384" y="466"/>
                  <a:pt x="384" y="448"/>
                </a:cubicBezTo>
                <a:lnTo>
                  <a:pt x="384" y="384"/>
                </a:lnTo>
                <a:cubicBezTo>
                  <a:pt x="384" y="366"/>
                  <a:pt x="398" y="352"/>
                  <a:pt x="416" y="352"/>
                </a:cubicBezTo>
                <a:lnTo>
                  <a:pt x="424" y="352"/>
                </a:lnTo>
                <a:lnTo>
                  <a:pt x="424" y="296"/>
                </a:lnTo>
                <a:cubicBezTo>
                  <a:pt x="424" y="283"/>
                  <a:pt x="413" y="272"/>
                  <a:pt x="400" y="272"/>
                </a:cubicBezTo>
                <a:lnTo>
                  <a:pt x="280" y="272"/>
                </a:lnTo>
                <a:lnTo>
                  <a:pt x="280" y="352"/>
                </a:lnTo>
                <a:lnTo>
                  <a:pt x="288" y="352"/>
                </a:lnTo>
                <a:cubicBezTo>
                  <a:pt x="306" y="352"/>
                  <a:pt x="320" y="366"/>
                  <a:pt x="320" y="384"/>
                </a:cubicBezTo>
                <a:lnTo>
                  <a:pt x="320" y="448"/>
                </a:lnTo>
                <a:cubicBezTo>
                  <a:pt x="320" y="466"/>
                  <a:pt x="306" y="480"/>
                  <a:pt x="288" y="480"/>
                </a:cubicBezTo>
                <a:lnTo>
                  <a:pt x="224" y="480"/>
                </a:lnTo>
                <a:cubicBezTo>
                  <a:pt x="206" y="480"/>
                  <a:pt x="192" y="466"/>
                  <a:pt x="192" y="448"/>
                </a:cubicBezTo>
                <a:lnTo>
                  <a:pt x="192" y="384"/>
                </a:lnTo>
                <a:cubicBezTo>
                  <a:pt x="192" y="366"/>
                  <a:pt x="206" y="352"/>
                  <a:pt x="224" y="352"/>
                </a:cubicBezTo>
                <a:lnTo>
                  <a:pt x="232" y="352"/>
                </a:lnTo>
                <a:lnTo>
                  <a:pt x="232" y="272"/>
                </a:lnTo>
                <a:lnTo>
                  <a:pt x="112" y="272"/>
                </a:lnTo>
                <a:cubicBezTo>
                  <a:pt x="99" y="272"/>
                  <a:pt x="88" y="283"/>
                  <a:pt x="88" y="296"/>
                </a:cubicBezTo>
                <a:lnTo>
                  <a:pt x="88" y="352"/>
                </a:lnTo>
                <a:lnTo>
                  <a:pt x="96" y="352"/>
                </a:lnTo>
                <a:cubicBezTo>
                  <a:pt x="114" y="352"/>
                  <a:pt x="128" y="366"/>
                  <a:pt x="128" y="384"/>
                </a:cubicBezTo>
                <a:lnTo>
                  <a:pt x="128" y="448"/>
                </a:lnTo>
                <a:cubicBezTo>
                  <a:pt x="128" y="466"/>
                  <a:pt x="114" y="480"/>
                  <a:pt x="96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384"/>
                </a:lnTo>
                <a:cubicBezTo>
                  <a:pt x="0" y="366"/>
                  <a:pt x="14" y="352"/>
                  <a:pt x="32" y="352"/>
                </a:cubicBezTo>
                <a:lnTo>
                  <a:pt x="40" y="352"/>
                </a:lnTo>
                <a:lnTo>
                  <a:pt x="40" y="296"/>
                </a:lnTo>
                <a:cubicBezTo>
                  <a:pt x="40" y="256"/>
                  <a:pt x="72" y="224"/>
                  <a:pt x="112" y="224"/>
                </a:cubicBezTo>
                <a:lnTo>
                  <a:pt x="232" y="224"/>
                </a:lnTo>
                <a:lnTo>
                  <a:pt x="232" y="160"/>
                </a:lnTo>
                <a:lnTo>
                  <a:pt x="224" y="160"/>
                </a:lnTo>
                <a:cubicBezTo>
                  <a:pt x="206" y="160"/>
                  <a:pt x="192" y="146"/>
                  <a:pt x="192" y="128"/>
                </a:cubicBezTo>
                <a:lnTo>
                  <a:pt x="192" y="64"/>
                </a:ln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6" name="h1"/>
          <p:cNvSpPr txBox="1"/>
          <p:nvPr/>
        </p:nvSpPr>
        <p:spPr>
          <a:xfrm>
            <a:off x="3556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Organización</a:t>
            </a:r>
            <a:endParaRPr lang="en-US" sz="1900" noProof="1"/>
          </a:p>
        </p:txBody>
      </p:sp>
      <p:sp>
        <p:nvSpPr>
          <p:cNvPr id="17" name="b1"/>
          <p:cNvSpPr txBox="1"/>
          <p:nvPr/>
        </p:nvSpPr>
        <p:spPr>
          <a:xfrm>
            <a:off x="3556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Asigna recursos</a:t>
            </a:r>
            <a:endParaRPr lang="en-US" sz="1500" noProof="1"/>
          </a:p>
        </p:txBody>
      </p:sp>
      <p:sp>
        <p:nvSpPr>
          <p:cNvPr id="18" name="a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461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9" name="i2"/>
          <p:cNvSpPr/>
          <p:nvPr>
            <p:extLst>
              <p:ext uri="{F5677B7D-0D2A-4D9B-9A5C-6D8D7D0E5A5D}">
                <pptd:icon encoding="base64url">eyJpY29uTmFtZSI6ImZhczpwZW9wbGUtZ3JvdXAifQ</pptd:icon>
              </p:ext>
            </p:extLst>
          </p:nvPr>
        </p:nvSpPr>
        <p:spPr>
          <a:xfrm>
            <a:off x="6413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91" y="0"/>
                  <a:pt x="320" y="29"/>
                  <a:pt x="320" y="64"/>
                </a:cubicBezTo>
                <a:cubicBezTo>
                  <a:pt x="320" y="99"/>
                  <a:pt x="291" y="128"/>
                  <a:pt x="256" y="128"/>
                </a:cubicBezTo>
                <a:cubicBezTo>
                  <a:pt x="221" y="128"/>
                  <a:pt x="192" y="99"/>
                  <a:pt x="192" y="64"/>
                </a:cubicBezTo>
                <a:cubicBezTo>
                  <a:pt x="192" y="29"/>
                  <a:pt x="221" y="0"/>
                  <a:pt x="256" y="0"/>
                </a:cubicBezTo>
                <a:close/>
              </a:path>
              <a:path w="512" h="512">
                <a:moveTo>
                  <a:pt x="352" y="312"/>
                </a:moveTo>
                <a:cubicBezTo>
                  <a:pt x="352" y="337"/>
                  <a:pt x="339" y="359"/>
                  <a:pt x="320" y="372"/>
                </a:cubicBezTo>
                <a:lnTo>
                  <a:pt x="320" y="464"/>
                </a:lnTo>
                <a:cubicBezTo>
                  <a:pt x="320" y="491"/>
                  <a:pt x="299" y="512"/>
                  <a:pt x="272" y="512"/>
                </a:cubicBezTo>
                <a:lnTo>
                  <a:pt x="240" y="512"/>
                </a:lnTo>
                <a:cubicBezTo>
                  <a:pt x="214" y="512"/>
                  <a:pt x="192" y="491"/>
                  <a:pt x="192" y="464"/>
                </a:cubicBezTo>
                <a:lnTo>
                  <a:pt x="192" y="372"/>
                </a:lnTo>
                <a:cubicBezTo>
                  <a:pt x="173" y="359"/>
                  <a:pt x="160" y="337"/>
                  <a:pt x="160" y="312"/>
                </a:cubicBezTo>
                <a:lnTo>
                  <a:pt x="160" y="272"/>
                </a:lnTo>
                <a:cubicBezTo>
                  <a:pt x="160" y="219"/>
                  <a:pt x="203" y="176"/>
                  <a:pt x="256" y="176"/>
                </a:cubicBezTo>
                <a:cubicBezTo>
                  <a:pt x="309" y="176"/>
                  <a:pt x="352" y="219"/>
                  <a:pt x="352" y="272"/>
                </a:cubicBezTo>
                <a:lnTo>
                  <a:pt x="352" y="312"/>
                </a:lnTo>
                <a:close/>
              </a:path>
              <a:path w="512" h="512">
                <a:moveTo>
                  <a:pt x="96" y="32"/>
                </a:moveTo>
                <a:cubicBezTo>
                  <a:pt x="127" y="32"/>
                  <a:pt x="152" y="57"/>
                  <a:pt x="152" y="88"/>
                </a:cubicBezTo>
                <a:cubicBezTo>
                  <a:pt x="152" y="119"/>
                  <a:pt x="127" y="144"/>
                  <a:pt x="96" y="144"/>
                </a:cubicBezTo>
                <a:cubicBezTo>
                  <a:pt x="65" y="144"/>
                  <a:pt x="40" y="119"/>
                  <a:pt x="40" y="88"/>
                </a:cubicBezTo>
                <a:cubicBezTo>
                  <a:pt x="40" y="57"/>
                  <a:pt x="65" y="32"/>
                  <a:pt x="96" y="32"/>
                </a:cubicBezTo>
                <a:close/>
              </a:path>
              <a:path w="512" h="512">
                <a:moveTo>
                  <a:pt x="112" y="272"/>
                </a:moveTo>
                <a:lnTo>
                  <a:pt x="112" y="304"/>
                </a:lnTo>
                <a:cubicBezTo>
                  <a:pt x="112" y="337"/>
                  <a:pt x="124" y="366"/>
                  <a:pt x="144" y="389"/>
                </a:cubicBezTo>
                <a:lnTo>
                  <a:pt x="144" y="464"/>
                </a:lnTo>
                <a:cubicBezTo>
                  <a:pt x="144" y="465"/>
                  <a:pt x="144" y="467"/>
                  <a:pt x="144" y="468"/>
                </a:cubicBezTo>
                <a:cubicBezTo>
                  <a:pt x="136" y="475"/>
                  <a:pt x="124" y="480"/>
                  <a:pt x="11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375"/>
                </a:lnTo>
                <a:cubicBezTo>
                  <a:pt x="13" y="364"/>
                  <a:pt x="0" y="344"/>
                  <a:pt x="0" y="320"/>
                </a:cubicBezTo>
                <a:lnTo>
                  <a:pt x="0" y="288"/>
                </a:lnTo>
                <a:cubicBezTo>
                  <a:pt x="0" y="235"/>
                  <a:pt x="43" y="192"/>
                  <a:pt x="96" y="192"/>
                </a:cubicBezTo>
                <a:cubicBezTo>
                  <a:pt x="109" y="192"/>
                  <a:pt x="121" y="195"/>
                  <a:pt x="132" y="199"/>
                </a:cubicBezTo>
                <a:cubicBezTo>
                  <a:pt x="119" y="220"/>
                  <a:pt x="112" y="245"/>
                  <a:pt x="112" y="272"/>
                </a:cubicBezTo>
                <a:close/>
              </a:path>
              <a:path w="512" h="512">
                <a:moveTo>
                  <a:pt x="368" y="464"/>
                </a:moveTo>
                <a:lnTo>
                  <a:pt x="368" y="389"/>
                </a:lnTo>
                <a:cubicBezTo>
                  <a:pt x="388" y="366"/>
                  <a:pt x="400" y="337"/>
                  <a:pt x="400" y="304"/>
                </a:cubicBezTo>
                <a:lnTo>
                  <a:pt x="400" y="272"/>
                </a:lnTo>
                <a:cubicBezTo>
                  <a:pt x="400" y="245"/>
                  <a:pt x="393" y="220"/>
                  <a:pt x="380" y="199"/>
                </a:cubicBezTo>
                <a:cubicBezTo>
                  <a:pt x="391" y="194"/>
                  <a:pt x="403" y="192"/>
                  <a:pt x="416" y="192"/>
                </a:cubicBezTo>
                <a:cubicBezTo>
                  <a:pt x="469" y="192"/>
                  <a:pt x="512" y="235"/>
                  <a:pt x="512" y="288"/>
                </a:cubicBezTo>
                <a:lnTo>
                  <a:pt x="512" y="320"/>
                </a:lnTo>
                <a:cubicBezTo>
                  <a:pt x="512" y="344"/>
                  <a:pt x="499" y="364"/>
                  <a:pt x="480" y="375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400" y="480"/>
                </a:lnTo>
                <a:cubicBezTo>
                  <a:pt x="388" y="480"/>
                  <a:pt x="376" y="475"/>
                  <a:pt x="368" y="468"/>
                </a:cubicBezTo>
                <a:cubicBezTo>
                  <a:pt x="368" y="467"/>
                  <a:pt x="368" y="465"/>
                  <a:pt x="368" y="464"/>
                </a:cubicBezTo>
                <a:close/>
              </a:path>
              <a:path w="512" h="512">
                <a:moveTo>
                  <a:pt x="416" y="32"/>
                </a:moveTo>
                <a:cubicBezTo>
                  <a:pt x="447" y="32"/>
                  <a:pt x="472" y="57"/>
                  <a:pt x="472" y="88"/>
                </a:cubicBezTo>
                <a:cubicBezTo>
                  <a:pt x="472" y="119"/>
                  <a:pt x="447" y="144"/>
                  <a:pt x="416" y="144"/>
                </a:cubicBezTo>
                <a:cubicBezTo>
                  <a:pt x="385" y="144"/>
                  <a:pt x="360" y="119"/>
                  <a:pt x="360" y="88"/>
                </a:cubicBezTo>
                <a:cubicBezTo>
                  <a:pt x="360" y="57"/>
                  <a:pt x="385" y="32"/>
                  <a:pt x="416" y="32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20" name="h2"/>
          <p:cNvSpPr txBox="1"/>
          <p:nvPr/>
        </p:nvSpPr>
        <p:spPr>
          <a:xfrm>
            <a:off x="6350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Dirección</a:t>
            </a:r>
            <a:endParaRPr lang="en-US" sz="1900" noProof="1"/>
          </a:p>
        </p:txBody>
      </p:sp>
      <p:sp>
        <p:nvSpPr>
          <p:cNvPr id="21" name="b2"/>
          <p:cNvSpPr txBox="1"/>
          <p:nvPr/>
        </p:nvSpPr>
        <p:spPr>
          <a:xfrm>
            <a:off x="6350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Guía a las personas</a:t>
            </a:r>
            <a:endParaRPr lang="en-US" sz="1500" noProof="1"/>
          </a:p>
        </p:txBody>
      </p:sp>
      <p:sp>
        <p:nvSpPr>
          <p:cNvPr id="22" name="a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23" name="i3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207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4" name="h3"/>
          <p:cNvSpPr txBox="1"/>
          <p:nvPr/>
        </p:nvSpPr>
        <p:spPr>
          <a:xfrm>
            <a:off x="9144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Control</a:t>
            </a:r>
            <a:endParaRPr lang="en-US" sz="1900" noProof="1"/>
          </a:p>
        </p:txBody>
      </p:sp>
      <p:sp>
        <p:nvSpPr>
          <p:cNvPr id="25" name="b3"/>
          <p:cNvSpPr txBox="1"/>
          <p:nvPr/>
        </p:nvSpPr>
        <p:spPr>
          <a:xfrm>
            <a:off x="9144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Evalúa y corrige</a:t>
            </a:r>
            <a:endParaRPr lang="en-US" sz="1500" noProof="1"/>
          </a:p>
        </p:txBody>
      </p:sp>
      <p:sp>
        <p:nvSpPr>
          <p:cNvPr id="26" name="quote"/>
          <p:cNvSpPr/>
          <p:nvPr/>
        </p:nvSpPr>
        <p:spPr>
          <a:xfrm>
            <a:off x="762000" y="4533900"/>
            <a:ext cx="10668000" cy="10668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q"/>
          <p:cNvSpPr txBox="1"/>
          <p:nvPr/>
        </p:nvSpPr>
        <p:spPr>
          <a:xfrm>
            <a:off x="1066800" y="4749800"/>
            <a:ext cx="10033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Controlar no es solo detectar errores: es obtener información para corregir desviaciones, reforzar aciertos y ajustar los planes.</a:t>
            </a:r>
            <a:endParaRPr lang="en-US" sz="2000" noProof="1"/>
          </a:p>
        </p:txBody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PROCESO DE CONTROL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convierte una meta en acción correctiva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n0"/>
          <p:cNvSpPr txBox="1"/>
          <p:nvPr/>
        </p:nvSpPr>
        <p:spPr>
          <a:xfrm>
            <a:off x="825500" y="19177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2400" noProof="1"/>
          </a:p>
        </p:txBody>
      </p:sp>
      <p:sp>
        <p:nvSpPr>
          <p:cNvPr id="12" name="h0"/>
          <p:cNvSpPr txBox="1"/>
          <p:nvPr/>
        </p:nvSpPr>
        <p:spPr>
          <a:xfrm>
            <a:off x="1422400" y="19177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Establecer</a:t>
            </a:r>
            <a:endParaRPr lang="en-US" sz="2000" noProof="1"/>
          </a:p>
        </p:txBody>
      </p:sp>
      <p:sp>
        <p:nvSpPr>
          <p:cNvPr id="13" name="b0"/>
          <p:cNvSpPr txBox="1"/>
          <p:nvPr/>
        </p:nvSpPr>
        <p:spPr>
          <a:xfrm>
            <a:off x="3429000" y="19177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Definir el estándar y el rango aceptable.</a:t>
            </a:r>
            <a:endParaRPr lang="en-US" sz="1700" noProof="1"/>
          </a:p>
        </p:txBody>
      </p:sp>
      <p:sp>
        <p:nvSpPr>
          <p:cNvPr id="14" name="v0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24130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5" name="n1"/>
          <p:cNvSpPr txBox="1"/>
          <p:nvPr/>
        </p:nvSpPr>
        <p:spPr>
          <a:xfrm>
            <a:off x="825500" y="28829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2400" noProof="1"/>
          </a:p>
        </p:txBody>
      </p:sp>
      <p:sp>
        <p:nvSpPr>
          <p:cNvPr id="16" name="h1"/>
          <p:cNvSpPr txBox="1"/>
          <p:nvPr/>
        </p:nvSpPr>
        <p:spPr>
          <a:xfrm>
            <a:off x="1422400" y="28829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7" name="b1"/>
          <p:cNvSpPr txBox="1"/>
          <p:nvPr/>
        </p:nvSpPr>
        <p:spPr>
          <a:xfrm>
            <a:off x="3429000" y="28829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Registrar el desempeño real con datos.</a:t>
            </a:r>
            <a:endParaRPr lang="en-US" sz="1700" noProof="1"/>
          </a:p>
        </p:txBody>
      </p:sp>
      <p:sp>
        <p:nvSpPr>
          <p:cNvPr id="18" name="v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33782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9" name="n2"/>
          <p:cNvSpPr txBox="1"/>
          <p:nvPr/>
        </p:nvSpPr>
        <p:spPr>
          <a:xfrm>
            <a:off x="825500" y="38481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2400" noProof="1"/>
          </a:p>
        </p:txBody>
      </p:sp>
      <p:sp>
        <p:nvSpPr>
          <p:cNvPr id="20" name="h2"/>
          <p:cNvSpPr txBox="1"/>
          <p:nvPr/>
        </p:nvSpPr>
        <p:spPr>
          <a:xfrm>
            <a:off x="1422400" y="38481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Comparar</a:t>
            </a:r>
            <a:endParaRPr lang="en-US" sz="2000" noProof="1"/>
          </a:p>
        </p:txBody>
      </p:sp>
      <p:sp>
        <p:nvSpPr>
          <p:cNvPr id="21" name="b2"/>
          <p:cNvSpPr txBox="1"/>
          <p:nvPr/>
        </p:nvSpPr>
        <p:spPr>
          <a:xfrm>
            <a:off x="3429000" y="38481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Calcular la desviación y valorar su importancia.</a:t>
            </a:r>
            <a:endParaRPr lang="en-US" sz="1700" noProof="1"/>
          </a:p>
        </p:txBody>
      </p:sp>
      <p:sp>
        <p:nvSpPr>
          <p:cNvPr id="22" name="v2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43434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23" name="n3"/>
          <p:cNvSpPr txBox="1"/>
          <p:nvPr/>
        </p:nvSpPr>
        <p:spPr>
          <a:xfrm>
            <a:off x="825500" y="48133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2400" noProof="1"/>
          </a:p>
        </p:txBody>
      </p:sp>
      <p:sp>
        <p:nvSpPr>
          <p:cNvPr id="24" name="h3"/>
          <p:cNvSpPr txBox="1"/>
          <p:nvPr/>
        </p:nvSpPr>
        <p:spPr>
          <a:xfrm>
            <a:off x="1422400" y="48133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5" name="b3"/>
          <p:cNvSpPr txBox="1"/>
          <p:nvPr/>
        </p:nvSpPr>
        <p:spPr>
          <a:xfrm>
            <a:off x="3429000" y="48133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Corregir el proceso o revisar el estándar.</a:t>
            </a:r>
            <a:endParaRPr lang="en-US" sz="1700" noProof="1"/>
          </a:p>
        </p:txBody>
      </p:sp>
      <p:sp>
        <p:nvSpPr>
          <p:cNvPr id="26" name="check"/>
          <p:cNvSpPr txBox="1"/>
          <p:nvPr/>
        </p:nvSpPr>
        <p:spPr>
          <a:xfrm>
            <a:off x="7874000" y="5638800"/>
            <a:ext cx="355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Pregunta guía: ¿qué decisión permitirá tomar la medida?</a:t>
            </a:r>
            <a:endParaRPr lang="en-US" sz="1200" noProof="1"/>
          </a:p>
        </p:txBody>
      </p:sp>
      <p:sp>
        <p:nvSpPr>
          <p:cNvPr id="2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ESTÁNDARES DE DESEMPEÑO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Un buen estándar define qué resultado es aceptable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Chiavenato (2014).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eyJpY29uTmFtZSI6ImZhczpib3hlcy1zdGFja2VkIn0</pptd:icon>
              </p:ext>
            </p:extLst>
          </p:nvPr>
        </p:nvSpPr>
        <p:spPr>
          <a:xfrm>
            <a:off x="762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24" y="0"/>
                </a:moveTo>
                <a:lnTo>
                  <a:pt x="224" y="64"/>
                </a:lnTo>
                <a:cubicBezTo>
                  <a:pt x="224" y="73"/>
                  <a:pt x="231" y="80"/>
                  <a:pt x="240" y="80"/>
                </a:cubicBezTo>
                <a:lnTo>
                  <a:pt x="272" y="80"/>
                </a:lnTo>
                <a:cubicBezTo>
                  <a:pt x="281" y="80"/>
                  <a:pt x="288" y="73"/>
                  <a:pt x="288" y="64"/>
                </a:cubicBezTo>
                <a:lnTo>
                  <a:pt x="288" y="0"/>
                </a:lnTo>
                <a:lnTo>
                  <a:pt x="320" y="0"/>
                </a:lnTo>
                <a:cubicBezTo>
                  <a:pt x="355" y="0"/>
                  <a:pt x="384" y="29"/>
                  <a:pt x="384" y="64"/>
                </a:cubicBezTo>
                <a:lnTo>
                  <a:pt x="384" y="192"/>
                </a:lnTo>
                <a:cubicBezTo>
                  <a:pt x="384" y="198"/>
                  <a:pt x="383" y="203"/>
                  <a:pt x="382" y="208"/>
                </a:cubicBezTo>
                <a:lnTo>
                  <a:pt x="130" y="208"/>
                </a:lnTo>
                <a:cubicBezTo>
                  <a:pt x="129" y="203"/>
                  <a:pt x="128" y="198"/>
                  <a:pt x="128" y="192"/>
                </a:cubicBezTo>
                <a:lnTo>
                  <a:pt x="128" y="64"/>
                </a:lnTo>
                <a:cubicBezTo>
                  <a:pt x="128" y="29"/>
                  <a:pt x="157" y="0"/>
                  <a:pt x="192" y="0"/>
                </a:cubicBezTo>
                <a:lnTo>
                  <a:pt x="224" y="0"/>
                </a:lnTo>
                <a:close/>
              </a:path>
              <a:path w="512" h="512">
                <a:moveTo>
                  <a:pt x="320" y="512"/>
                </a:moveTo>
                <a:cubicBezTo>
                  <a:pt x="309" y="512"/>
                  <a:pt x="298" y="509"/>
                  <a:pt x="289" y="504"/>
                </a:cubicBezTo>
                <a:cubicBezTo>
                  <a:pt x="299" y="488"/>
                  <a:pt x="304" y="468"/>
                  <a:pt x="304" y="448"/>
                </a:cubicBezTo>
                <a:lnTo>
                  <a:pt x="304" y="320"/>
                </a:lnTo>
                <a:cubicBezTo>
                  <a:pt x="304" y="300"/>
                  <a:pt x="299" y="281"/>
                  <a:pt x="289" y="264"/>
                </a:cubicBezTo>
                <a:cubicBezTo>
                  <a:pt x="298" y="259"/>
                  <a:pt x="309" y="256"/>
                  <a:pt x="320" y="256"/>
                </a:cubicBezTo>
                <a:lnTo>
                  <a:pt x="352" y="256"/>
                </a:lnTo>
                <a:lnTo>
                  <a:pt x="352" y="320"/>
                </a:lnTo>
                <a:cubicBezTo>
                  <a:pt x="352" y="329"/>
                  <a:pt x="359" y="336"/>
                  <a:pt x="368" y="336"/>
                </a:cubicBezTo>
                <a:lnTo>
                  <a:pt x="400" y="336"/>
                </a:lnTo>
                <a:cubicBezTo>
                  <a:pt x="409" y="336"/>
                  <a:pt x="416" y="329"/>
                  <a:pt x="416" y="320"/>
                </a:cubicBezTo>
                <a:lnTo>
                  <a:pt x="416" y="256"/>
                </a:lnTo>
                <a:lnTo>
                  <a:pt x="448" y="256"/>
                </a:lnTo>
                <a:cubicBezTo>
                  <a:pt x="483" y="256"/>
                  <a:pt x="512" y="285"/>
                  <a:pt x="512" y="320"/>
                </a:cubicBezTo>
                <a:lnTo>
                  <a:pt x="512" y="448"/>
                </a:lnTo>
                <a:cubicBezTo>
                  <a:pt x="512" y="483"/>
                  <a:pt x="483" y="512"/>
                  <a:pt x="448" y="512"/>
                </a:cubicBezTo>
                <a:lnTo>
                  <a:pt x="320" y="512"/>
                </a:lnTo>
                <a:close/>
              </a:path>
              <a:path w="512" h="512">
                <a:moveTo>
                  <a:pt x="0" y="320"/>
                </a:moveTo>
                <a:cubicBezTo>
                  <a:pt x="0" y="285"/>
                  <a:pt x="29" y="256"/>
                  <a:pt x="64" y="256"/>
                </a:cubicBezTo>
                <a:lnTo>
                  <a:pt x="96" y="256"/>
                </a:lnTo>
                <a:lnTo>
                  <a:pt x="96" y="320"/>
                </a:lnTo>
                <a:cubicBezTo>
                  <a:pt x="96" y="329"/>
                  <a:pt x="103" y="336"/>
                  <a:pt x="112" y="336"/>
                </a:cubicBezTo>
                <a:lnTo>
                  <a:pt x="144" y="336"/>
                </a:lnTo>
                <a:cubicBezTo>
                  <a:pt x="153" y="336"/>
                  <a:pt x="160" y="329"/>
                  <a:pt x="160" y="320"/>
                </a:cubicBezTo>
                <a:lnTo>
                  <a:pt x="160" y="256"/>
                </a:lnTo>
                <a:lnTo>
                  <a:pt x="192" y="256"/>
                </a:lnTo>
                <a:cubicBezTo>
                  <a:pt x="227" y="256"/>
                  <a:pt x="256" y="285"/>
                  <a:pt x="256" y="320"/>
                </a:cubicBezTo>
                <a:lnTo>
                  <a:pt x="256" y="448"/>
                </a:lnTo>
                <a:cubicBezTo>
                  <a:pt x="256" y="483"/>
                  <a:pt x="227" y="512"/>
                  <a:pt x="192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320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1371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Cantidad</a:t>
            </a:r>
            <a:endParaRPr lang="en-US" sz="2000" noProof="1"/>
          </a:p>
        </p:txBody>
      </p:sp>
      <p:sp>
        <p:nvSpPr>
          <p:cNvPr id="13" name="q0"/>
          <p:cNvSpPr txBox="1"/>
          <p:nvPr/>
        </p:nvSpPr>
        <p:spPr>
          <a:xfrm>
            <a:off x="3429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¿Cuánto?</a:t>
            </a:r>
            <a:endParaRPr lang="en-US" sz="1400" noProof="1"/>
          </a:p>
        </p:txBody>
      </p:sp>
      <p:sp>
        <p:nvSpPr>
          <p:cNvPr id="14" name="b0"/>
          <p:cNvSpPr txBox="1"/>
          <p:nvPr/>
        </p:nvSpPr>
        <p:spPr>
          <a:xfrm>
            <a:off x="1371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Unidades producidas, pedidos atendidos.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i1"/>
          <p:cNvSpPr/>
          <p:nvPr>
            <p:extLst>
              <p:ext uri="{F5677B7D-0D2A-4D9B-9A5C-6D8D7D0E5A5D}">
                <pptd:icon encoding="base64url">eyJpY29uTmFtZSI6ImZhczpjaXJjbGUtY2hlY2sifQ</pptd:icon>
              </p:ext>
            </p:extLst>
          </p:nvPr>
        </p:nvSpPr>
        <p:spPr>
          <a:xfrm>
            <a:off x="6223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7" name="h1"/>
          <p:cNvSpPr txBox="1"/>
          <p:nvPr/>
        </p:nvSpPr>
        <p:spPr>
          <a:xfrm>
            <a:off x="6832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Calidad</a:t>
            </a:r>
            <a:endParaRPr lang="en-US" sz="2000" noProof="1"/>
          </a:p>
        </p:txBody>
      </p:sp>
      <p:sp>
        <p:nvSpPr>
          <p:cNvPr id="18" name="q1"/>
          <p:cNvSpPr txBox="1"/>
          <p:nvPr/>
        </p:nvSpPr>
        <p:spPr>
          <a:xfrm>
            <a:off x="8890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¿Qué tan bien?</a:t>
            </a:r>
            <a:endParaRPr lang="en-US" sz="1400" noProof="1"/>
          </a:p>
        </p:txBody>
      </p:sp>
      <p:sp>
        <p:nvSpPr>
          <p:cNvPr id="19" name="b1"/>
          <p:cNvSpPr txBox="1"/>
          <p:nvPr/>
        </p:nvSpPr>
        <p:spPr>
          <a:xfrm>
            <a:off x="6832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Exactitud, defectos, satisfacción.</a:t>
            </a:r>
            <a:endParaRPr lang="en-US" sz="16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i2"/>
          <p:cNvSpPr/>
          <p:nvPr>
            <p:extLst>
              <p:ext uri="{F5677B7D-0D2A-4D9B-9A5C-6D8D7D0E5A5D}">
                <pptd:icon encoding="base64url">eyJpY29uTmFtZSI6ImZhczpjbG9jayJ9</pptd:icon>
              </p:ext>
            </p:extLst>
          </p:nvPr>
        </p:nvSpPr>
        <p:spPr>
          <a:xfrm>
            <a:off x="762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lose/>
                <a:moveTo>
                  <a:pt x="232" y="120"/>
                </a:moveTo>
                <a:lnTo>
                  <a:pt x="232" y="256"/>
                </a:lnTo>
                <a:cubicBezTo>
                  <a:pt x="232" y="264"/>
                  <a:pt x="236" y="272"/>
                  <a:pt x="243" y="276"/>
                </a:cubicBezTo>
                <a:lnTo>
                  <a:pt x="339" y="340"/>
                </a:lnTo>
                <a:cubicBezTo>
                  <a:pt x="350" y="347"/>
                  <a:pt x="365" y="344"/>
                  <a:pt x="372" y="333"/>
                </a:cubicBezTo>
                <a:cubicBezTo>
                  <a:pt x="379" y="322"/>
                  <a:pt x="376" y="307"/>
                  <a:pt x="365" y="300"/>
                </a:cubicBezTo>
                <a:lnTo>
                  <a:pt x="280" y="243"/>
                </a:lnTo>
                <a:lnTo>
                  <a:pt x="280" y="120"/>
                </a:lnTo>
                <a:cubicBezTo>
                  <a:pt x="280" y="107"/>
                  <a:pt x="269" y="96"/>
                  <a:pt x="256" y="96"/>
                </a:cubicBezTo>
                <a:cubicBezTo>
                  <a:pt x="243" y="96"/>
                  <a:pt x="232" y="107"/>
                  <a:pt x="232" y="12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2" name="h2"/>
          <p:cNvSpPr txBox="1"/>
          <p:nvPr/>
        </p:nvSpPr>
        <p:spPr>
          <a:xfrm>
            <a:off x="1371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Tiempo</a:t>
            </a:r>
            <a:endParaRPr lang="en-US" sz="2000" noProof="1"/>
          </a:p>
        </p:txBody>
      </p:sp>
      <p:sp>
        <p:nvSpPr>
          <p:cNvPr id="23" name="q2"/>
          <p:cNvSpPr txBox="1"/>
          <p:nvPr/>
        </p:nvSpPr>
        <p:spPr>
          <a:xfrm>
            <a:off x="3429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¿Cuándo?</a:t>
            </a:r>
            <a:endParaRPr lang="en-US" sz="1400" noProof="1"/>
          </a:p>
        </p:txBody>
      </p:sp>
      <p:sp>
        <p:nvSpPr>
          <p:cNvPr id="24" name="b2"/>
          <p:cNvSpPr txBox="1"/>
          <p:nvPr/>
        </p:nvSpPr>
        <p:spPr>
          <a:xfrm>
            <a:off x="1371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Duración, puntualidad, plazo de entrega.</a:t>
            </a:r>
            <a:endParaRPr lang="en-US" sz="16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i3"/>
          <p:cNvSpPr/>
          <p:nvPr>
            <p:extLst>
              <p:ext uri="{F5677B7D-0D2A-4D9B-9A5C-6D8D7D0E5A5D}">
                <pptd:icon encoding="base64url">eyJpY29uTmFtZSI6ImZhczpjb2lucyJ9</pptd:icon>
              </p:ext>
            </p:extLst>
          </p:nvPr>
        </p:nvSpPr>
        <p:spPr>
          <a:xfrm>
            <a:off x="6223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96"/>
                </a:moveTo>
                <a:lnTo>
                  <a:pt x="128" y="80"/>
                </a:lnTo>
                <a:cubicBezTo>
                  <a:pt x="128" y="36"/>
                  <a:pt x="214" y="0"/>
                  <a:pt x="320" y="0"/>
                </a:cubicBezTo>
                <a:cubicBezTo>
                  <a:pt x="426" y="0"/>
                  <a:pt x="512" y="36"/>
                  <a:pt x="512" y="80"/>
                </a:cubicBezTo>
                <a:lnTo>
                  <a:pt x="512" y="96"/>
                </a:lnTo>
                <a:cubicBezTo>
                  <a:pt x="512" y="127"/>
                  <a:pt x="471" y="153"/>
                  <a:pt x="410" y="167"/>
                </a:cubicBezTo>
                <a:cubicBezTo>
                  <a:pt x="408" y="164"/>
                  <a:pt x="405" y="161"/>
                  <a:pt x="403" y="159"/>
                </a:cubicBezTo>
                <a:cubicBezTo>
                  <a:pt x="387" y="143"/>
                  <a:pt x="367" y="132"/>
                  <a:pt x="346" y="123"/>
                </a:cubicBezTo>
                <a:cubicBezTo>
                  <a:pt x="304" y="106"/>
                  <a:pt x="250" y="96"/>
                  <a:pt x="192" y="96"/>
                </a:cubicBezTo>
                <a:cubicBezTo>
                  <a:pt x="170" y="96"/>
                  <a:pt x="149" y="98"/>
                  <a:pt x="128" y="100"/>
                </a:cubicBezTo>
                <a:cubicBezTo>
                  <a:pt x="128" y="99"/>
                  <a:pt x="128" y="97"/>
                  <a:pt x="128" y="96"/>
                </a:cubicBezTo>
                <a:close/>
              </a:path>
              <a:path w="512" h="512">
                <a:moveTo>
                  <a:pt x="432" y="353"/>
                </a:moveTo>
                <a:lnTo>
                  <a:pt x="432" y="307"/>
                </a:lnTo>
                <a:cubicBezTo>
                  <a:pt x="447" y="303"/>
                  <a:pt x="461" y="298"/>
                  <a:pt x="474" y="293"/>
                </a:cubicBezTo>
                <a:cubicBezTo>
                  <a:pt x="487" y="287"/>
                  <a:pt x="500" y="281"/>
                  <a:pt x="512" y="273"/>
                </a:cubicBezTo>
                <a:lnTo>
                  <a:pt x="512" y="288"/>
                </a:lnTo>
                <a:cubicBezTo>
                  <a:pt x="512" y="315"/>
                  <a:pt x="481" y="339"/>
                  <a:pt x="432" y="353"/>
                </a:cubicBezTo>
                <a:close/>
              </a:path>
              <a:path w="512" h="512">
                <a:moveTo>
                  <a:pt x="432" y="257"/>
                </a:moveTo>
                <a:lnTo>
                  <a:pt x="432" y="224"/>
                </a:lnTo>
                <a:cubicBezTo>
                  <a:pt x="432" y="220"/>
                  <a:pt x="432" y="215"/>
                  <a:pt x="431" y="211"/>
                </a:cubicBezTo>
                <a:cubicBezTo>
                  <a:pt x="447" y="207"/>
                  <a:pt x="461" y="202"/>
                  <a:pt x="474" y="197"/>
                </a:cubicBezTo>
                <a:cubicBezTo>
                  <a:pt x="487" y="191"/>
                  <a:pt x="500" y="185"/>
                  <a:pt x="512" y="177"/>
                </a:cubicBezTo>
                <a:lnTo>
                  <a:pt x="512" y="192"/>
                </a:lnTo>
                <a:cubicBezTo>
                  <a:pt x="512" y="219"/>
                  <a:pt x="481" y="242"/>
                  <a:pt x="432" y="257"/>
                </a:cubicBezTo>
                <a:close/>
              </a:path>
              <a:path w="512" h="512">
                <a:moveTo>
                  <a:pt x="0" y="240"/>
                </a:moveTo>
                <a:lnTo>
                  <a:pt x="0" y="224"/>
                </a:lnTo>
                <a:cubicBezTo>
                  <a:pt x="0" y="180"/>
                  <a:pt x="86" y="144"/>
                  <a:pt x="192" y="144"/>
                </a:cubicBezTo>
                <a:cubicBezTo>
                  <a:pt x="298" y="144"/>
                  <a:pt x="384" y="180"/>
                  <a:pt x="384" y="224"/>
                </a:cubicBezTo>
                <a:lnTo>
                  <a:pt x="384" y="240"/>
                </a:lnTo>
                <a:cubicBezTo>
                  <a:pt x="384" y="284"/>
                  <a:pt x="298" y="320"/>
                  <a:pt x="192" y="320"/>
                </a:cubicBezTo>
                <a:cubicBezTo>
                  <a:pt x="86" y="320"/>
                  <a:pt x="0" y="284"/>
                  <a:pt x="0" y="240"/>
                </a:cubicBezTo>
                <a:close/>
              </a:path>
              <a:path w="512" h="512">
                <a:moveTo>
                  <a:pt x="384" y="336"/>
                </a:moveTo>
                <a:cubicBezTo>
                  <a:pt x="384" y="380"/>
                  <a:pt x="298" y="416"/>
                  <a:pt x="192" y="416"/>
                </a:cubicBezTo>
                <a:cubicBezTo>
                  <a:pt x="86" y="416"/>
                  <a:pt x="0" y="380"/>
                  <a:pt x="0" y="336"/>
                </a:cubicBezTo>
                <a:lnTo>
                  <a:pt x="0" y="321"/>
                </a:lnTo>
                <a:cubicBezTo>
                  <a:pt x="12" y="329"/>
                  <a:pt x="25" y="335"/>
                  <a:pt x="38" y="341"/>
                </a:cubicBezTo>
                <a:cubicBezTo>
                  <a:pt x="80" y="358"/>
                  <a:pt x="134" y="368"/>
                  <a:pt x="192" y="368"/>
                </a:cubicBezTo>
                <a:cubicBezTo>
                  <a:pt x="250" y="368"/>
                  <a:pt x="304" y="358"/>
                  <a:pt x="346" y="341"/>
                </a:cubicBezTo>
                <a:cubicBezTo>
                  <a:pt x="359" y="335"/>
                  <a:pt x="372" y="329"/>
                  <a:pt x="384" y="321"/>
                </a:cubicBezTo>
                <a:lnTo>
                  <a:pt x="384" y="336"/>
                </a:lnTo>
                <a:close/>
              </a:path>
              <a:path w="512" h="512">
                <a:moveTo>
                  <a:pt x="384" y="417"/>
                </a:moveTo>
                <a:lnTo>
                  <a:pt x="384" y="432"/>
                </a:lnTo>
                <a:cubicBezTo>
                  <a:pt x="384" y="476"/>
                  <a:pt x="298" y="512"/>
                  <a:pt x="192" y="512"/>
                </a:cubicBezTo>
                <a:cubicBezTo>
                  <a:pt x="86" y="512"/>
                  <a:pt x="0" y="476"/>
                  <a:pt x="0" y="432"/>
                </a:cubicBezTo>
                <a:lnTo>
                  <a:pt x="0" y="417"/>
                </a:lnTo>
                <a:cubicBezTo>
                  <a:pt x="12" y="425"/>
                  <a:pt x="25" y="431"/>
                  <a:pt x="38" y="437"/>
                </a:cubicBezTo>
                <a:cubicBezTo>
                  <a:pt x="80" y="454"/>
                  <a:pt x="134" y="464"/>
                  <a:pt x="192" y="464"/>
                </a:cubicBezTo>
                <a:cubicBezTo>
                  <a:pt x="250" y="464"/>
                  <a:pt x="304" y="454"/>
                  <a:pt x="346" y="437"/>
                </a:cubicBezTo>
                <a:cubicBezTo>
                  <a:pt x="359" y="431"/>
                  <a:pt x="372" y="425"/>
                  <a:pt x="384" y="417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7" name="h3"/>
          <p:cNvSpPr txBox="1"/>
          <p:nvPr/>
        </p:nvSpPr>
        <p:spPr>
          <a:xfrm>
            <a:off x="6832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Costo</a:t>
            </a:r>
            <a:endParaRPr lang="en-US" sz="2000" noProof="1"/>
          </a:p>
        </p:txBody>
      </p:sp>
      <p:sp>
        <p:nvSpPr>
          <p:cNvPr id="28" name="q3"/>
          <p:cNvSpPr txBox="1"/>
          <p:nvPr/>
        </p:nvSpPr>
        <p:spPr>
          <a:xfrm>
            <a:off x="8890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¿A qué costo?</a:t>
            </a:r>
            <a:endParaRPr lang="en-US" sz="1400" noProof="1"/>
          </a:p>
        </p:txBody>
      </p:sp>
      <p:sp>
        <p:nvSpPr>
          <p:cNvPr id="29" name="b3"/>
          <p:cNvSpPr txBox="1"/>
          <p:nvPr/>
        </p:nvSpPr>
        <p:spPr>
          <a:xfrm>
            <a:off x="6832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Costo por unidad, presupuesto ejecutado.</a:t>
            </a:r>
            <a:endParaRPr lang="en-US" sz="16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1" name="rule"/>
          <p:cNvSpPr txBox="1"/>
          <p:nvPr/>
        </p:nvSpPr>
        <p:spPr>
          <a:xfrm>
            <a:off x="787400" y="5575300"/>
            <a:ext cx="10541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Regla de calidad: específico · medible · alcanzable · relevante · vinculado con un plazo</a:t>
            </a:r>
            <a:endParaRPr lang="en-US" sz="16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EJEMPLO APLICADO · SERVICIO AL CLIENTE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Los KPI hacen visible la desviación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06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valores ilustrativos.</a:t>
            </a:r>
            <a:endParaRPr lang="en-US" sz="900" noProof="1"/>
          </a:p>
        </p:txBody>
      </p:sp>
      <p:sp>
        <p:nvSpPr>
          <p:cNvPr id="11" name="big0"/>
          <p:cNvSpPr txBox="1"/>
          <p:nvPr/>
        </p:nvSpPr>
        <p:spPr>
          <a:xfrm>
            <a:off x="91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6 min</a:t>
            </a:r>
            <a:endParaRPr lang="en-US" sz="4500" noProof="1"/>
          </a:p>
        </p:txBody>
      </p:sp>
      <p:sp>
        <p:nvSpPr>
          <p:cNvPr id="12" name="lab0"/>
          <p:cNvSpPr txBox="1"/>
          <p:nvPr/>
        </p:nvSpPr>
        <p:spPr>
          <a:xfrm>
            <a:off x="91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Tiempo promedio de respuesta</a:t>
            </a:r>
            <a:endParaRPr lang="en-US" sz="1700" noProof="1"/>
          </a:p>
        </p:txBody>
      </p:sp>
      <p:sp>
        <p:nvSpPr>
          <p:cNvPr id="13" name="tar0"/>
          <p:cNvSpPr txBox="1"/>
          <p:nvPr/>
        </p:nvSpPr>
        <p:spPr>
          <a:xfrm>
            <a:off x="91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≤ 5 min</a:t>
            </a:r>
            <a:endParaRPr lang="en-US" sz="1500" noProof="1"/>
          </a:p>
        </p:txBody>
      </p:sp>
      <p:sp>
        <p:nvSpPr>
          <p:cNvPr id="14" name="big1"/>
          <p:cNvSpPr txBox="1"/>
          <p:nvPr/>
        </p:nvSpPr>
        <p:spPr>
          <a:xfrm>
            <a:off x="472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90 %</a:t>
            </a:r>
            <a:endParaRPr lang="en-US" sz="4500" noProof="1"/>
          </a:p>
        </p:txBody>
      </p:sp>
      <p:sp>
        <p:nvSpPr>
          <p:cNvPr id="15" name="lab1"/>
          <p:cNvSpPr txBox="1"/>
          <p:nvPr/>
        </p:nvSpPr>
        <p:spPr>
          <a:xfrm>
            <a:off x="472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Satisfacción del cliente</a:t>
            </a:r>
            <a:endParaRPr lang="en-US" sz="1700" noProof="1"/>
          </a:p>
        </p:txBody>
      </p:sp>
      <p:sp>
        <p:nvSpPr>
          <p:cNvPr id="16" name="tar1"/>
          <p:cNvSpPr txBox="1"/>
          <p:nvPr/>
        </p:nvSpPr>
        <p:spPr>
          <a:xfrm>
            <a:off x="472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≥ 92 %</a:t>
            </a:r>
            <a:endParaRPr lang="en-US" sz="1500" noProof="1"/>
          </a:p>
        </p:txBody>
      </p:sp>
      <p:sp>
        <p:nvSpPr>
          <p:cNvPr id="17" name="deviation"/>
          <p:cNvSpPr/>
          <p:nvPr/>
        </p:nvSpPr>
        <p:spPr>
          <a:xfrm>
            <a:off x="8661400" y="1955800"/>
            <a:ext cx="2730500" cy="2159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8" name="dtitle"/>
          <p:cNvSpPr txBox="1"/>
          <p:nvPr/>
        </p:nvSpPr>
        <p:spPr>
          <a:xfrm>
            <a:off x="8915400" y="2209800"/>
            <a:ext cx="2222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DESVIACIÓN</a:t>
            </a:r>
            <a:endParaRPr lang="en-US" sz="1300" noProof="1"/>
          </a:p>
        </p:txBody>
      </p:sp>
      <p:sp>
        <p:nvSpPr>
          <p:cNvPr id="19" name="dtext"/>
          <p:cNvSpPr txBox="1"/>
          <p:nvPr/>
        </p:nvSpPr>
        <p:spPr>
          <a:xfrm>
            <a:off x="8915400" y="2667000"/>
            <a:ext cx="2209800" cy="1054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1 min por encima y 2 puntos por debajo de la meta.</a:t>
            </a:r>
            <a:endParaRPr lang="en-US" sz="2000" noProof="1"/>
          </a:p>
        </p:txBody>
      </p:sp>
      <p:sp>
        <p:nvSpPr>
          <p:cNvPr id="20" name="bottom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95800"/>
            <a:ext cx="104648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cision"/>
          <p:cNvSpPr txBox="1"/>
          <p:nvPr/>
        </p:nvSpPr>
        <p:spPr>
          <a:xfrm>
            <a:off x="914400" y="4787900"/>
            <a:ext cx="23495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DECISIÓN POSIBLE</a:t>
            </a:r>
            <a:endParaRPr lang="en-US" sz="1200" noProof="1"/>
          </a:p>
        </p:txBody>
      </p:sp>
      <p:sp>
        <p:nvSpPr>
          <p:cNvPr id="22" name="action"/>
          <p:cNvSpPr txBox="1"/>
          <p:nvPr/>
        </p:nvSpPr>
        <p:spPr>
          <a:xfrm>
            <a:off x="914400" y="52070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Revisar la distribución de turnos y las causas de espera antes de cambiar la meta o sancionar al personal.</a:t>
            </a:r>
            <a:endParaRPr lang="en-US" sz="19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SISTEMÁTICA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Benchmarking: comparar para aprender, no para copiar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(1989); Robbins y Coulter (2018).</a:t>
            </a:r>
            <a:endParaRPr lang="en-US" sz="900" noProof="1"/>
          </a:p>
        </p:txBody>
      </p:sp>
      <p:sp>
        <p:nvSpPr>
          <p:cNvPr id="11" name="def"/>
          <p:cNvSpPr txBox="1"/>
          <p:nvPr/>
        </p:nvSpPr>
        <p:spPr>
          <a:xfrm>
            <a:off x="787400" y="1841500"/>
            <a:ext cx="10541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Proceso sistemático de comparar productos, servicios o prácticas con referentes pertinentes para identificar oportunidades de mejora.</a:t>
            </a:r>
            <a:endParaRPr lang="en-US" sz="1900" noProof="1"/>
          </a:p>
        </p:txBody>
      </p:sp>
      <p:sp>
        <p:nvSpPr>
          <p:cNvPr id="12" name="n0"/>
          <p:cNvSpPr txBox="1"/>
          <p:nvPr/>
        </p:nvSpPr>
        <p:spPr>
          <a:xfrm>
            <a:off x="825500" y="2933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400" noProof="1"/>
          </a:p>
        </p:txBody>
      </p:sp>
      <p:sp>
        <p:nvSpPr>
          <p:cNvPr id="13" name="h0"/>
          <p:cNvSpPr txBox="1"/>
          <p:nvPr/>
        </p:nvSpPr>
        <p:spPr>
          <a:xfrm>
            <a:off x="1422400" y="2908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Interno</a:t>
            </a:r>
            <a:endParaRPr lang="en-US" sz="1800" noProof="1"/>
          </a:p>
        </p:txBody>
      </p:sp>
      <p:sp>
        <p:nvSpPr>
          <p:cNvPr id="14" name="b0"/>
          <p:cNvSpPr txBox="1"/>
          <p:nvPr/>
        </p:nvSpPr>
        <p:spPr>
          <a:xfrm>
            <a:off x="3479800" y="2933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Entre unidades de la misma organización.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3416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n1"/>
          <p:cNvSpPr txBox="1"/>
          <p:nvPr/>
        </p:nvSpPr>
        <p:spPr>
          <a:xfrm>
            <a:off x="825500" y="3632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400" noProof="1"/>
          </a:p>
        </p:txBody>
      </p:sp>
      <p:sp>
        <p:nvSpPr>
          <p:cNvPr id="17" name="h1"/>
          <p:cNvSpPr txBox="1"/>
          <p:nvPr/>
        </p:nvSpPr>
        <p:spPr>
          <a:xfrm>
            <a:off x="1422400" y="3606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Competitivo</a:t>
            </a:r>
            <a:endParaRPr lang="en-US" sz="1800" noProof="1"/>
          </a:p>
        </p:txBody>
      </p:sp>
      <p:sp>
        <p:nvSpPr>
          <p:cNvPr id="18" name="b1"/>
          <p:cNvSpPr txBox="1"/>
          <p:nvPr/>
        </p:nvSpPr>
        <p:spPr>
          <a:xfrm>
            <a:off x="3479800" y="3632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competidores directos.</a:t>
            </a:r>
            <a:endParaRPr lang="en-US" sz="16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114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n2"/>
          <p:cNvSpPr txBox="1"/>
          <p:nvPr/>
        </p:nvSpPr>
        <p:spPr>
          <a:xfrm>
            <a:off x="825500" y="4330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400" noProof="1"/>
          </a:p>
        </p:txBody>
      </p:sp>
      <p:sp>
        <p:nvSpPr>
          <p:cNvPr id="21" name="h2"/>
          <p:cNvSpPr txBox="1"/>
          <p:nvPr/>
        </p:nvSpPr>
        <p:spPr>
          <a:xfrm>
            <a:off x="1422400" y="4305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Funcional</a:t>
            </a:r>
            <a:endParaRPr lang="en-US" sz="1800" noProof="1"/>
          </a:p>
        </p:txBody>
      </p:sp>
      <p:sp>
        <p:nvSpPr>
          <p:cNvPr id="22" name="b2"/>
          <p:cNvSpPr txBox="1"/>
          <p:nvPr/>
        </p:nvSpPr>
        <p:spPr>
          <a:xfrm>
            <a:off x="3479800" y="4330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líderes de otras industrias en una función similar.</a:t>
            </a:r>
            <a:endParaRPr lang="en-US" sz="1600" noProof="1"/>
          </a:p>
        </p:txBody>
      </p:sp>
      <p:sp>
        <p:nvSpPr>
          <p:cNvPr id="23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813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4" name="n3"/>
          <p:cNvSpPr txBox="1"/>
          <p:nvPr/>
        </p:nvSpPr>
        <p:spPr>
          <a:xfrm>
            <a:off x="825500" y="5029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400" noProof="1"/>
          </a:p>
        </p:txBody>
      </p:sp>
      <p:sp>
        <p:nvSpPr>
          <p:cNvPr id="25" name="h3"/>
          <p:cNvSpPr txBox="1"/>
          <p:nvPr/>
        </p:nvSpPr>
        <p:spPr>
          <a:xfrm>
            <a:off x="1422400" y="5003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Genérico</a:t>
            </a:r>
            <a:endParaRPr lang="en-US" sz="1800" noProof="1"/>
          </a:p>
        </p:txBody>
      </p:sp>
      <p:sp>
        <p:nvSpPr>
          <p:cNvPr id="26" name="b3"/>
          <p:cNvSpPr txBox="1"/>
          <p:nvPr/>
        </p:nvSpPr>
        <p:spPr>
          <a:xfrm>
            <a:off x="3479800" y="5029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procesos comparables de cualquier organización.</a:t>
            </a:r>
            <a:endParaRPr lang="en-US" sz="1600" noProof="1"/>
          </a:p>
        </p:txBody>
      </p:sp>
      <p:sp>
        <p:nvSpPr>
          <p:cNvPr id="27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5511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DE BENCHMARKING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Cinco pasos convierten una comparación en una mejora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08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(1989).</a:t>
            </a:r>
            <a:endParaRPr lang="en-US" sz="900" noProof="1"/>
          </a:p>
        </p:txBody>
      </p:sp>
      <p:sp>
        <p:nvSpPr>
          <p:cNvPr id="11" name="c0"/>
          <p:cNvSpPr/>
          <p:nvPr/>
        </p:nvSpPr>
        <p:spPr>
          <a:xfrm>
            <a:off x="6858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2" name="n0"/>
          <p:cNvSpPr txBox="1"/>
          <p:nvPr/>
        </p:nvSpPr>
        <p:spPr>
          <a:xfrm>
            <a:off x="6858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1</a:t>
            </a:r>
            <a:endParaRPr lang="en-US" sz="1800" noProof="1"/>
          </a:p>
        </p:txBody>
      </p:sp>
      <p:sp>
        <p:nvSpPr>
          <p:cNvPr id="13" name="h0"/>
          <p:cNvSpPr txBox="1"/>
          <p:nvPr/>
        </p:nvSpPr>
        <p:spPr>
          <a:xfrm>
            <a:off x="6350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Delimitar</a:t>
            </a:r>
            <a:endParaRPr lang="en-US" sz="1900" noProof="1"/>
          </a:p>
        </p:txBody>
      </p:sp>
      <p:sp>
        <p:nvSpPr>
          <p:cNvPr id="14" name="b0"/>
          <p:cNvSpPr txBox="1"/>
          <p:nvPr/>
        </p:nvSpPr>
        <p:spPr>
          <a:xfrm>
            <a:off x="6350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¿Qué proceso y qué indicador se compararán?</a:t>
            </a:r>
            <a:endParaRPr lang="en-US" sz="15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2954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16" name="c1"/>
          <p:cNvSpPr/>
          <p:nvPr/>
        </p:nvSpPr>
        <p:spPr>
          <a:xfrm>
            <a:off x="29210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n1"/>
          <p:cNvSpPr txBox="1"/>
          <p:nvPr/>
        </p:nvSpPr>
        <p:spPr>
          <a:xfrm>
            <a:off x="29210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2</a:t>
            </a:r>
            <a:endParaRPr lang="en-US" sz="1800" noProof="1"/>
          </a:p>
        </p:txBody>
      </p:sp>
      <p:sp>
        <p:nvSpPr>
          <p:cNvPr id="18" name="h1"/>
          <p:cNvSpPr txBox="1"/>
          <p:nvPr/>
        </p:nvSpPr>
        <p:spPr>
          <a:xfrm>
            <a:off x="28702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Recopilar</a:t>
            </a:r>
            <a:endParaRPr lang="en-US" sz="1900" noProof="1"/>
          </a:p>
        </p:txBody>
      </p:sp>
      <p:sp>
        <p:nvSpPr>
          <p:cNvPr id="19" name="b1"/>
          <p:cNvSpPr txBox="1"/>
          <p:nvPr/>
        </p:nvSpPr>
        <p:spPr>
          <a:xfrm>
            <a:off x="28702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Obtener datos internos y externos confiables.</a:t>
            </a:r>
            <a:endParaRPr lang="en-US" sz="15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5306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1" name="c2"/>
          <p:cNvSpPr/>
          <p:nvPr/>
        </p:nvSpPr>
        <p:spPr>
          <a:xfrm>
            <a:off x="51562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2" name="n2"/>
          <p:cNvSpPr txBox="1"/>
          <p:nvPr/>
        </p:nvSpPr>
        <p:spPr>
          <a:xfrm>
            <a:off x="51562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3</a:t>
            </a:r>
            <a:endParaRPr lang="en-US" sz="1800" noProof="1"/>
          </a:p>
        </p:txBody>
      </p:sp>
      <p:sp>
        <p:nvSpPr>
          <p:cNvPr id="23" name="h2"/>
          <p:cNvSpPr txBox="1"/>
          <p:nvPr/>
        </p:nvSpPr>
        <p:spPr>
          <a:xfrm>
            <a:off x="51054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Analizar</a:t>
            </a:r>
            <a:endParaRPr lang="en-US" sz="1900" noProof="1"/>
          </a:p>
        </p:txBody>
      </p:sp>
      <p:sp>
        <p:nvSpPr>
          <p:cNvPr id="24" name="b2"/>
          <p:cNvSpPr txBox="1"/>
          <p:nvPr/>
        </p:nvSpPr>
        <p:spPr>
          <a:xfrm>
            <a:off x="51054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Identificar brechas y sus causas.</a:t>
            </a:r>
            <a:endParaRPr lang="en-US" sz="15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7658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6" name="c3"/>
          <p:cNvSpPr/>
          <p:nvPr/>
        </p:nvSpPr>
        <p:spPr>
          <a:xfrm>
            <a:off x="73914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n3"/>
          <p:cNvSpPr txBox="1"/>
          <p:nvPr/>
        </p:nvSpPr>
        <p:spPr>
          <a:xfrm>
            <a:off x="73914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4</a:t>
            </a:r>
            <a:endParaRPr lang="en-US" sz="1800" noProof="1"/>
          </a:p>
        </p:txBody>
      </p:sp>
      <p:sp>
        <p:nvSpPr>
          <p:cNvPr id="28" name="h3"/>
          <p:cNvSpPr txBox="1"/>
          <p:nvPr/>
        </p:nvSpPr>
        <p:spPr>
          <a:xfrm>
            <a:off x="73406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Adaptar</a:t>
            </a:r>
            <a:endParaRPr lang="en-US" sz="1900" noProof="1"/>
          </a:p>
        </p:txBody>
      </p:sp>
      <p:sp>
        <p:nvSpPr>
          <p:cNvPr id="29" name="b3"/>
          <p:cNvSpPr txBox="1"/>
          <p:nvPr/>
        </p:nvSpPr>
        <p:spPr>
          <a:xfrm>
            <a:off x="73406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Diseñar acciones según el contexto propio.</a:t>
            </a:r>
            <a:endParaRPr lang="en-US" sz="15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0010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31" name="c4"/>
          <p:cNvSpPr/>
          <p:nvPr/>
        </p:nvSpPr>
        <p:spPr>
          <a:xfrm>
            <a:off x="96266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2" name="n4"/>
          <p:cNvSpPr txBox="1"/>
          <p:nvPr/>
        </p:nvSpPr>
        <p:spPr>
          <a:xfrm>
            <a:off x="96266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5</a:t>
            </a:r>
            <a:endParaRPr lang="en-US" sz="1800" noProof="1"/>
          </a:p>
        </p:txBody>
      </p:sp>
      <p:sp>
        <p:nvSpPr>
          <p:cNvPr id="33" name="h4"/>
          <p:cNvSpPr txBox="1"/>
          <p:nvPr/>
        </p:nvSpPr>
        <p:spPr>
          <a:xfrm>
            <a:off x="95758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Implantar</a:t>
            </a:r>
            <a:endParaRPr lang="en-US" sz="1900" noProof="1"/>
          </a:p>
        </p:txBody>
      </p:sp>
      <p:sp>
        <p:nvSpPr>
          <p:cNvPr id="34" name="b4"/>
          <p:cNvSpPr txBox="1"/>
          <p:nvPr/>
        </p:nvSpPr>
        <p:spPr>
          <a:xfrm>
            <a:off x="95758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Ejecutar, medir y ajustar.</a:t>
            </a:r>
            <a:endParaRPr lang="en-US" sz="1500" noProof="1"/>
          </a:p>
        </p:txBody>
      </p:sp>
      <p:sp>
        <p:nvSpPr>
          <p:cNvPr id="35" name="ethics"/>
          <p:cNvSpPr/>
          <p:nvPr/>
        </p:nvSpPr>
        <p:spPr>
          <a:xfrm>
            <a:off x="736600" y="4902200"/>
            <a:ext cx="10668000" cy="8382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6" name="e"/>
          <p:cNvSpPr txBox="1"/>
          <p:nvPr/>
        </p:nvSpPr>
        <p:spPr>
          <a:xfrm>
            <a:off x="1041400" y="5105400"/>
            <a:ext cx="100584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Criterio ético: usar información obtenida legítimamente y adaptar las prácticas; no copiar ni divulgar datos confidenciales.</a:t>
            </a:r>
            <a:endParaRPr lang="en-US" sz="17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MAPA DE HERRAMIENTAS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Cada herramienta responde a una pregunta distinta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09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787400" y="18796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Benchmarking</a:t>
            </a:r>
            <a:endParaRPr lang="en-US" sz="2000" noProof="1"/>
          </a:p>
        </p:txBody>
      </p:sp>
      <p:sp>
        <p:nvSpPr>
          <p:cNvPr id="11" name="q0"/>
          <p:cNvSpPr txBox="1"/>
          <p:nvPr/>
        </p:nvSpPr>
        <p:spPr>
          <a:xfrm>
            <a:off x="3619500" y="18796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nivel de desempeño deberíamos alcanzar?</a:t>
            </a:r>
            <a:endParaRPr lang="en-US" sz="1700" noProof="1"/>
          </a:p>
        </p:txBody>
      </p:sp>
      <p:sp>
        <p:nvSpPr>
          <p:cNvPr id="12" name="a0"/>
          <p:cNvSpPr txBox="1"/>
          <p:nvPr/>
        </p:nvSpPr>
        <p:spPr>
          <a:xfrm>
            <a:off x="8864600" y="18796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Referentes y brechas</a:t>
            </a:r>
            <a:endParaRPr lang="en-US" sz="1500" noProof="1"/>
          </a:p>
        </p:txBody>
      </p:sp>
      <p:sp>
        <p:nvSpPr>
          <p:cNvPr id="13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26035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4" name="h1"/>
          <p:cNvSpPr txBox="1"/>
          <p:nvPr/>
        </p:nvSpPr>
        <p:spPr>
          <a:xfrm>
            <a:off x="787400" y="28702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Gantt</a:t>
            </a:r>
            <a:endParaRPr lang="en-US" sz="2000" noProof="1"/>
          </a:p>
        </p:txBody>
      </p:sp>
      <p:sp>
        <p:nvSpPr>
          <p:cNvPr id="15" name="q1"/>
          <p:cNvSpPr txBox="1"/>
          <p:nvPr/>
        </p:nvSpPr>
        <p:spPr>
          <a:xfrm>
            <a:off x="3619500" y="28702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ocurren y cuándo?</a:t>
            </a:r>
            <a:endParaRPr lang="en-US" sz="1700" noProof="1"/>
          </a:p>
        </p:txBody>
      </p:sp>
      <p:sp>
        <p:nvSpPr>
          <p:cNvPr id="16" name="a1"/>
          <p:cNvSpPr txBox="1"/>
          <p:nvPr/>
        </p:nvSpPr>
        <p:spPr>
          <a:xfrm>
            <a:off x="8864600" y="28702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Calendario y avance</a:t>
            </a:r>
            <a:endParaRPr lang="en-US" sz="1500" noProof="1"/>
          </a:p>
        </p:txBody>
      </p:sp>
      <p:sp>
        <p:nvSpPr>
          <p:cNvPr id="17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35941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8" name="h2"/>
          <p:cNvSpPr txBox="1"/>
          <p:nvPr/>
        </p:nvSpPr>
        <p:spPr>
          <a:xfrm>
            <a:off x="787400" y="3860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PERT</a:t>
            </a:r>
            <a:endParaRPr lang="en-US" sz="2000" noProof="1"/>
          </a:p>
        </p:txBody>
      </p:sp>
      <p:sp>
        <p:nvSpPr>
          <p:cNvPr id="19" name="q2"/>
          <p:cNvSpPr txBox="1"/>
          <p:nvPr/>
        </p:nvSpPr>
        <p:spPr>
          <a:xfrm>
            <a:off x="3619500" y="38608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¿Cómo planificar con duraciones inciertas?</a:t>
            </a:r>
            <a:endParaRPr lang="en-US" sz="1700" noProof="1"/>
          </a:p>
        </p:txBody>
      </p:sp>
      <p:sp>
        <p:nvSpPr>
          <p:cNvPr id="20" name="a2"/>
          <p:cNvSpPr txBox="1"/>
          <p:nvPr/>
        </p:nvSpPr>
        <p:spPr>
          <a:xfrm>
            <a:off x="8864600" y="38608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Red, estimados y probabilidad</a:t>
            </a:r>
            <a:endParaRPr lang="en-US" sz="1500" noProof="1"/>
          </a:p>
        </p:txBody>
      </p:sp>
      <p:sp>
        <p:nvSpPr>
          <p:cNvPr id="21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45847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h3"/>
          <p:cNvSpPr txBox="1"/>
          <p:nvPr/>
        </p:nvSpPr>
        <p:spPr>
          <a:xfrm>
            <a:off x="787400" y="48514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Ruta crítica · CPM</a:t>
            </a:r>
            <a:endParaRPr lang="en-US" sz="2000" noProof="1"/>
          </a:p>
        </p:txBody>
      </p:sp>
      <p:sp>
        <p:nvSpPr>
          <p:cNvPr id="23" name="q3"/>
          <p:cNvSpPr txBox="1"/>
          <p:nvPr/>
        </p:nvSpPr>
        <p:spPr>
          <a:xfrm>
            <a:off x="3619500" y="48514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determinan la duración total?</a:t>
            </a:r>
            <a:endParaRPr lang="en-US" sz="1700" noProof="1"/>
          </a:p>
        </p:txBody>
      </p:sp>
      <p:sp>
        <p:nvSpPr>
          <p:cNvPr id="24" name="a3"/>
          <p:cNvSpPr txBox="1"/>
          <p:nvPr/>
        </p:nvSpPr>
        <p:spPr>
          <a:xfrm>
            <a:off x="8864600" y="48514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Dependencias y holguras</a:t>
            </a:r>
            <a:endParaRPr lang="en-US" sz="1500" noProof="1"/>
          </a:p>
        </p:txBody>
      </p:sp>
      <p:sp>
        <p:nvSpPr>
          <p:cNvPr id="25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55753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8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DIAGRAMA DE GANTT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Gantt permite contrastar el plan con el avance real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10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didáctico: feria de salud comunitaria.</a:t>
            </a:r>
            <a:endParaRPr lang="en-US" sz="900" noProof="1"/>
          </a:p>
        </p:txBody>
      </p:sp>
      <p:sp>
        <p:nvSpPr>
          <p:cNvPr id="11" name="w0"/>
          <p:cNvSpPr txBox="1"/>
          <p:nvPr/>
        </p:nvSpPr>
        <p:spPr>
          <a:xfrm>
            <a:off x="4572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S1</a:t>
            </a:r>
            <a:endParaRPr lang="en-US" sz="1100" noProof="1"/>
          </a:p>
        </p:txBody>
      </p:sp>
      <p:sp>
        <p:nvSpPr>
          <p:cNvPr id="12" name="w1"/>
          <p:cNvSpPr txBox="1"/>
          <p:nvPr/>
        </p:nvSpPr>
        <p:spPr>
          <a:xfrm>
            <a:off x="5308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S2</a:t>
            </a:r>
            <a:endParaRPr lang="en-US" sz="1100" noProof="1"/>
          </a:p>
        </p:txBody>
      </p:sp>
      <p:sp>
        <p:nvSpPr>
          <p:cNvPr id="13" name="w2"/>
          <p:cNvSpPr txBox="1"/>
          <p:nvPr/>
        </p:nvSpPr>
        <p:spPr>
          <a:xfrm>
            <a:off x="6045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S3</a:t>
            </a:r>
            <a:endParaRPr lang="en-US" sz="1100" noProof="1"/>
          </a:p>
        </p:txBody>
      </p:sp>
      <p:sp>
        <p:nvSpPr>
          <p:cNvPr id="14" name="w3"/>
          <p:cNvSpPr txBox="1"/>
          <p:nvPr/>
        </p:nvSpPr>
        <p:spPr>
          <a:xfrm>
            <a:off x="67818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S4</a:t>
            </a:r>
            <a:endParaRPr lang="en-US" sz="1100" noProof="1"/>
          </a:p>
        </p:txBody>
      </p:sp>
      <p:sp>
        <p:nvSpPr>
          <p:cNvPr id="15" name="w4"/>
          <p:cNvSpPr txBox="1"/>
          <p:nvPr/>
        </p:nvSpPr>
        <p:spPr>
          <a:xfrm>
            <a:off x="75184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S5</a:t>
            </a:r>
            <a:endParaRPr lang="en-US" sz="1100" noProof="1"/>
          </a:p>
        </p:txBody>
      </p:sp>
      <p:sp>
        <p:nvSpPr>
          <p:cNvPr id="16" name="w5"/>
          <p:cNvSpPr txBox="1"/>
          <p:nvPr/>
        </p:nvSpPr>
        <p:spPr>
          <a:xfrm>
            <a:off x="8255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S6</a:t>
            </a:r>
            <a:endParaRPr lang="en-US" sz="1100" noProof="1"/>
          </a:p>
        </p:txBody>
      </p:sp>
      <p:sp>
        <p:nvSpPr>
          <p:cNvPr id="17" name="w6"/>
          <p:cNvSpPr txBox="1"/>
          <p:nvPr/>
        </p:nvSpPr>
        <p:spPr>
          <a:xfrm>
            <a:off x="8991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S7</a:t>
            </a:r>
            <a:endParaRPr lang="en-US" sz="1100" noProof="1"/>
          </a:p>
        </p:txBody>
      </p:sp>
      <p:sp>
        <p:nvSpPr>
          <p:cNvPr id="18" name="w7"/>
          <p:cNvSpPr txBox="1"/>
          <p:nvPr/>
        </p:nvSpPr>
        <p:spPr>
          <a:xfrm>
            <a:off x="9728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S8</a:t>
            </a:r>
            <a:endParaRPr lang="en-US" sz="1100" noProof="1"/>
          </a:p>
        </p:txBody>
      </p:sp>
      <p:sp>
        <p:nvSpPr>
          <p:cNvPr id="19" name="a0"/>
          <p:cNvSpPr txBox="1"/>
          <p:nvPr/>
        </p:nvSpPr>
        <p:spPr>
          <a:xfrm>
            <a:off x="889000" y="2413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Permisos</a:t>
            </a:r>
            <a:endParaRPr lang="en-US" sz="1700" noProof="1"/>
          </a:p>
        </p:txBody>
      </p:sp>
      <p:sp>
        <p:nvSpPr>
          <p:cNvPr id="20" name="grid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26797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plan0"/>
          <p:cNvSpPr/>
          <p:nvPr/>
        </p:nvSpPr>
        <p:spPr>
          <a:xfrm>
            <a:off x="4572000" y="2463800"/>
            <a:ext cx="13716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2" name="act0"/>
          <p:cNvSpPr/>
          <p:nvPr/>
        </p:nvSpPr>
        <p:spPr>
          <a:xfrm>
            <a:off x="4572000" y="2768600"/>
            <a:ext cx="13716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3" name="a1"/>
          <p:cNvSpPr txBox="1"/>
          <p:nvPr/>
        </p:nvSpPr>
        <p:spPr>
          <a:xfrm>
            <a:off x="889000" y="31242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Voluntarios</a:t>
            </a:r>
            <a:endParaRPr lang="en-US" sz="1700" noProof="1"/>
          </a:p>
        </p:txBody>
      </p:sp>
      <p:sp>
        <p:nvSpPr>
          <p:cNvPr id="24" name="grid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33909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plan1"/>
          <p:cNvSpPr/>
          <p:nvPr/>
        </p:nvSpPr>
        <p:spPr>
          <a:xfrm>
            <a:off x="5308600" y="3175000"/>
            <a:ext cx="21082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6" name="act1"/>
          <p:cNvSpPr/>
          <p:nvPr/>
        </p:nvSpPr>
        <p:spPr>
          <a:xfrm>
            <a:off x="5308600" y="34798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a2"/>
          <p:cNvSpPr txBox="1"/>
          <p:nvPr/>
        </p:nvSpPr>
        <p:spPr>
          <a:xfrm>
            <a:off x="889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Promoción</a:t>
            </a:r>
            <a:endParaRPr lang="en-US" sz="1700" noProof="1"/>
          </a:p>
        </p:txBody>
      </p:sp>
      <p:sp>
        <p:nvSpPr>
          <p:cNvPr id="28" name="grid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1021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9" name="plan2"/>
          <p:cNvSpPr/>
          <p:nvPr/>
        </p:nvSpPr>
        <p:spPr>
          <a:xfrm>
            <a:off x="6781800" y="3886200"/>
            <a:ext cx="28448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0" name="act2"/>
          <p:cNvSpPr/>
          <p:nvPr/>
        </p:nvSpPr>
        <p:spPr>
          <a:xfrm>
            <a:off x="6781800" y="41910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1" name="a3"/>
          <p:cNvSpPr txBox="1"/>
          <p:nvPr/>
        </p:nvSpPr>
        <p:spPr>
          <a:xfrm>
            <a:off x="8890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Feria</a:t>
            </a:r>
            <a:endParaRPr lang="en-US" sz="1700" noProof="1"/>
          </a:p>
        </p:txBody>
      </p:sp>
      <p:sp>
        <p:nvSpPr>
          <p:cNvPr id="32" name="grid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8133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3" name="plan3"/>
          <p:cNvSpPr/>
          <p:nvPr/>
        </p:nvSpPr>
        <p:spPr>
          <a:xfrm>
            <a:off x="9728200" y="4597400"/>
            <a:ext cx="6350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4" name="today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8255000" y="2247900"/>
            <a:ext cx="12700" cy="28321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F06449"/>
            </a:solidFill>
          </a:ln>
        </p:spPr>
      </p:sp>
      <p:sp>
        <p:nvSpPr>
          <p:cNvPr id="35" name="todayt"/>
          <p:cNvSpPr txBox="1"/>
          <p:nvPr/>
        </p:nvSpPr>
        <p:spPr>
          <a:xfrm>
            <a:off x="7670800" y="5080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Seguimiento: semana 6</a:t>
            </a:r>
            <a:endParaRPr lang="en-US" sz="1200" noProof="1"/>
          </a:p>
        </p:txBody>
      </p:sp>
      <p:sp>
        <p:nvSpPr>
          <p:cNvPr id="36" name="legend"/>
          <p:cNvSpPr txBox="1"/>
          <p:nvPr/>
        </p:nvSpPr>
        <p:spPr>
          <a:xfrm>
            <a:off x="889000" y="5511800"/>
            <a:ext cx="10414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Barra oscura: plan   ·   Línea naranja: avance real   ·   La lectura rápida facilita reprogramar y comunicar.</a:t>
            </a:r>
            <a:endParaRPr lang="en-US" sz="15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TÉCNICA PERT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mide la incertidumbre con tres estimados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11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Malcolm et al. (1959); Kerzner (2017).</a:t>
            </a:r>
            <a:endParaRPr lang="en-US" sz="900" noProof="1"/>
          </a:p>
        </p:txBody>
      </p:sp>
      <p:sp>
        <p:nvSpPr>
          <p:cNvPr id="11" name="s0"/>
          <p:cNvSpPr txBox="1"/>
          <p:nvPr/>
        </p:nvSpPr>
        <p:spPr>
          <a:xfrm>
            <a:off x="863600" y="19177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a</a:t>
            </a:r>
            <a:endParaRPr lang="en-US" sz="2500" noProof="1"/>
          </a:p>
        </p:txBody>
      </p:sp>
      <p:sp>
        <p:nvSpPr>
          <p:cNvPr id="12" name="h0"/>
          <p:cNvSpPr txBox="1"/>
          <p:nvPr/>
        </p:nvSpPr>
        <p:spPr>
          <a:xfrm>
            <a:off x="1524000" y="19177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Optimista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3937000" y="19177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las condiciones son favorables</a:t>
            </a:r>
            <a:endParaRPr lang="en-US" sz="1600" noProof="1"/>
          </a:p>
        </p:txBody>
      </p:sp>
      <p:sp>
        <p:nvSpPr>
          <p:cNvPr id="14" name="s1"/>
          <p:cNvSpPr txBox="1"/>
          <p:nvPr/>
        </p:nvSpPr>
        <p:spPr>
          <a:xfrm>
            <a:off x="863600" y="27686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m</a:t>
            </a:r>
            <a:endParaRPr lang="en-US" sz="2500" noProof="1"/>
          </a:p>
        </p:txBody>
      </p:sp>
      <p:sp>
        <p:nvSpPr>
          <p:cNvPr id="15" name="h1"/>
          <p:cNvSpPr txBox="1"/>
          <p:nvPr/>
        </p:nvSpPr>
        <p:spPr>
          <a:xfrm>
            <a:off x="1524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Más probable</a:t>
            </a:r>
            <a:endParaRPr lang="en-US" sz="1900" noProof="1"/>
          </a:p>
        </p:txBody>
      </p:sp>
      <p:sp>
        <p:nvSpPr>
          <p:cNvPr id="16" name="b1"/>
          <p:cNvSpPr txBox="1"/>
          <p:nvPr/>
        </p:nvSpPr>
        <p:spPr>
          <a:xfrm>
            <a:off x="3937000" y="27686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 condiciones normales</a:t>
            </a:r>
            <a:endParaRPr lang="en-US" sz="1600" noProof="1"/>
          </a:p>
        </p:txBody>
      </p:sp>
      <p:sp>
        <p:nvSpPr>
          <p:cNvPr id="17" name="s2"/>
          <p:cNvSpPr txBox="1"/>
          <p:nvPr/>
        </p:nvSpPr>
        <p:spPr>
          <a:xfrm>
            <a:off x="863600" y="36195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b</a:t>
            </a:r>
            <a:endParaRPr lang="en-US" sz="2500" noProof="1"/>
          </a:p>
        </p:txBody>
      </p:sp>
      <p:sp>
        <p:nvSpPr>
          <p:cNvPr id="18" name="h2"/>
          <p:cNvSpPr txBox="1"/>
          <p:nvPr/>
        </p:nvSpPr>
        <p:spPr>
          <a:xfrm>
            <a:off x="1524000" y="36195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Pesimista</a:t>
            </a:r>
            <a:endParaRPr lang="en-US" sz="1900" noProof="1"/>
          </a:p>
        </p:txBody>
      </p:sp>
      <p:sp>
        <p:nvSpPr>
          <p:cNvPr id="19" name="b2"/>
          <p:cNvSpPr txBox="1"/>
          <p:nvPr/>
        </p:nvSpPr>
        <p:spPr>
          <a:xfrm>
            <a:off x="3937000" y="36195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ocurren dificultades</a:t>
            </a:r>
            <a:endParaRPr lang="en-US" sz="1600" noProof="1"/>
          </a:p>
        </p:txBody>
      </p:sp>
      <p:sp>
        <p:nvSpPr>
          <p:cNvPr id="20" name="formula"/>
          <p:cNvSpPr/>
          <p:nvPr/>
        </p:nvSpPr>
        <p:spPr>
          <a:xfrm>
            <a:off x="7874000" y="1955800"/>
            <a:ext cx="3530600" cy="22860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1" name="ft"/>
          <p:cNvSpPr txBox="1"/>
          <p:nvPr/>
        </p:nvSpPr>
        <p:spPr>
          <a:xfrm>
            <a:off x="8229600" y="22733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 b="1">
                <a:solidFill>
                  <a:srgbClr val="FFFFFF"/>
                </a:solidFill>
                <a:latin typeface="Aptos"/>
                <a:ea typeface="Aptos"/>
              </a:rPr>
              <a:t>TIEMPO ESPERADO</a:t>
            </a:r>
            <a:endParaRPr lang="en-US" sz="1200" noProof="1"/>
          </a:p>
        </p:txBody>
      </p:sp>
      <p:sp>
        <p:nvSpPr>
          <p:cNvPr id="22" name="f"/>
          <p:cNvSpPr txBox="1"/>
          <p:nvPr/>
        </p:nvSpPr>
        <p:spPr>
          <a:xfrm>
            <a:off x="8128000" y="2844800"/>
            <a:ext cx="30226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FFFFFF"/>
                </a:solidFill>
                <a:latin typeface="Aptos"/>
                <a:ea typeface="Aptos"/>
              </a:rPr>
              <a:t>te = (a + 4m + b) / 6</a:t>
            </a:r>
            <a:endParaRPr lang="en-US" sz="2500" noProof="1"/>
          </a:p>
        </p:txBody>
      </p:sp>
      <p:sp>
        <p:nvSpPr>
          <p:cNvPr id="23" name="example"/>
          <p:cNvSpPr txBox="1"/>
          <p:nvPr/>
        </p:nvSpPr>
        <p:spPr>
          <a:xfrm>
            <a:off x="8229600" y="3644900"/>
            <a:ext cx="27940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F4C8AE"/>
                </a:solidFill>
                <a:latin typeface="Aptos"/>
                <a:ea typeface="Aptos"/>
              </a:rPr>
              <a:t>Ej.: (4 + 24 + 14) / 6 = 7 días</a:t>
            </a:r>
            <a:endParaRPr lang="en-US" sz="1300" noProof="1"/>
          </a:p>
        </p:txBody>
      </p:sp>
      <p:sp>
        <p:nvSpPr>
          <p:cNvPr id="24" name="note"/>
          <p:cNvSpPr txBox="1"/>
          <p:nvPr/>
        </p:nvSpPr>
        <p:spPr>
          <a:xfrm>
            <a:off x="889000" y="4940300"/>
            <a:ext cx="1003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El peso mayor del estimado más probable evita que los extremos dominen el cálculo. La fórmula resume una aproximación, no elimina la incertidumbre.</a:t>
            </a:r>
            <a:endParaRPr lang="en-US" sz="1700" noProof="1"/>
          </a:p>
        </p:txBody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ELEMENTOS DE LA RED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red muestra qué depende de qué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12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del trabajo escrito: organización de una actividad comunitaria (datos hipotéticos).</a:t>
            </a:r>
            <a:endParaRPr lang="en-US" sz="900" noProof="1"/>
          </a:p>
        </p:txBody>
      </p:sp>
      <p:sp>
        <p:nvSpPr>
          <p:cNvPr id="11" name="eAB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1968500" y="2528149"/>
            <a:ext cx="1537091" cy="100245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2" name="eAC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1968500" y="3530600"/>
            <a:ext cx="1537091" cy="100245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22225">
            <a:solidFill>
              <a:srgbClr val="9AA8A4"/>
            </a:solidFill>
            <a:tailEnd type="triangle" w="med" len="med"/>
          </a:ln>
        </p:spPr>
      </p:sp>
      <p:sp>
        <p:nvSpPr>
          <p:cNvPr id="13" name="eB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4254500" y="2578100"/>
            <a:ext cx="180594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4" name="eCE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4254500" y="3510622"/>
            <a:ext cx="4343731" cy="972477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22225">
            <a:solidFill>
              <a:srgbClr val="9AA8A4"/>
            </a:solidFill>
            <a:tailEnd type="triangle" w="med" len="med"/>
          </a:ln>
        </p:spPr>
      </p:sp>
      <p:sp>
        <p:nvSpPr>
          <p:cNvPr id="15" name="eDE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6794500" y="2578100"/>
            <a:ext cx="1794432" cy="996907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6" name="nA"/>
          <p:cNvSpPr/>
          <p:nvPr/>
        </p:nvSpPr>
        <p:spPr>
          <a:xfrm>
            <a:off x="1270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tA"/>
          <p:cNvSpPr txBox="1"/>
          <p:nvPr/>
        </p:nvSpPr>
        <p:spPr>
          <a:xfrm>
            <a:off x="1270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A</a:t>
            </a:r>
            <a:endParaRPr lang="en-US" sz="2200" noProof="1"/>
          </a:p>
        </p:txBody>
      </p:sp>
      <p:sp>
        <p:nvSpPr>
          <p:cNvPr id="18" name="lA"/>
          <p:cNvSpPr txBox="1"/>
          <p:nvPr/>
        </p:nvSpPr>
        <p:spPr>
          <a:xfrm>
            <a:off x="678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Planificación · 3 d</a:t>
            </a:r>
            <a:endParaRPr lang="en-US" sz="1200" noProof="1"/>
          </a:p>
        </p:txBody>
      </p:sp>
      <p:sp>
        <p:nvSpPr>
          <p:cNvPr id="19" name="nB"/>
          <p:cNvSpPr/>
          <p:nvPr/>
        </p:nvSpPr>
        <p:spPr>
          <a:xfrm>
            <a:off x="355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0" name="tB"/>
          <p:cNvSpPr txBox="1"/>
          <p:nvPr/>
        </p:nvSpPr>
        <p:spPr>
          <a:xfrm>
            <a:off x="355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B</a:t>
            </a:r>
            <a:endParaRPr lang="en-US" sz="2200" noProof="1"/>
          </a:p>
        </p:txBody>
      </p:sp>
      <p:sp>
        <p:nvSpPr>
          <p:cNvPr id="21" name="lB"/>
          <p:cNvSpPr txBox="1"/>
          <p:nvPr/>
        </p:nvSpPr>
        <p:spPr>
          <a:xfrm>
            <a:off x="323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Permisos · 4 d</a:t>
            </a:r>
            <a:endParaRPr lang="en-US" sz="1200" noProof="1"/>
          </a:p>
        </p:txBody>
      </p:sp>
      <p:sp>
        <p:nvSpPr>
          <p:cNvPr id="22" name="nC"/>
          <p:cNvSpPr/>
          <p:nvPr/>
        </p:nvSpPr>
        <p:spPr>
          <a:xfrm>
            <a:off x="3556000" y="4127500"/>
            <a:ext cx="939800" cy="711200"/>
          </a:xfrm>
          <a:prstGeom prst="ellipse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3" name="tC"/>
          <p:cNvSpPr txBox="1"/>
          <p:nvPr/>
        </p:nvSpPr>
        <p:spPr>
          <a:xfrm>
            <a:off x="3556000" y="4254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C</a:t>
            </a:r>
            <a:endParaRPr lang="en-US" sz="2200" noProof="1"/>
          </a:p>
        </p:txBody>
      </p:sp>
      <p:sp>
        <p:nvSpPr>
          <p:cNvPr id="24" name="lC"/>
          <p:cNvSpPr txBox="1"/>
          <p:nvPr/>
        </p:nvSpPr>
        <p:spPr>
          <a:xfrm>
            <a:off x="3238500" y="4953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Materiales · 2 d</a:t>
            </a:r>
            <a:endParaRPr lang="en-US" sz="1200" noProof="1"/>
          </a:p>
        </p:txBody>
      </p:sp>
      <p:sp>
        <p:nvSpPr>
          <p:cNvPr id="25" name="nD"/>
          <p:cNvSpPr/>
          <p:nvPr/>
        </p:nvSpPr>
        <p:spPr>
          <a:xfrm>
            <a:off x="609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6" name="tD"/>
          <p:cNvSpPr txBox="1"/>
          <p:nvPr/>
        </p:nvSpPr>
        <p:spPr>
          <a:xfrm>
            <a:off x="609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D</a:t>
            </a:r>
            <a:endParaRPr lang="en-US" sz="2200" noProof="1"/>
          </a:p>
        </p:txBody>
      </p:sp>
      <p:sp>
        <p:nvSpPr>
          <p:cNvPr id="27" name="lD"/>
          <p:cNvSpPr txBox="1"/>
          <p:nvPr/>
        </p:nvSpPr>
        <p:spPr>
          <a:xfrm>
            <a:off x="577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Montaje · 5 d</a:t>
            </a:r>
            <a:endParaRPr lang="en-US" sz="1200" noProof="1"/>
          </a:p>
        </p:txBody>
      </p:sp>
      <p:sp>
        <p:nvSpPr>
          <p:cNvPr id="28" name="nE"/>
          <p:cNvSpPr/>
          <p:nvPr/>
        </p:nvSpPr>
        <p:spPr>
          <a:xfrm>
            <a:off x="8636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9" name="tE"/>
          <p:cNvSpPr txBox="1"/>
          <p:nvPr/>
        </p:nvSpPr>
        <p:spPr>
          <a:xfrm>
            <a:off x="8636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E</a:t>
            </a:r>
            <a:endParaRPr lang="en-US" sz="2200" noProof="1"/>
          </a:p>
        </p:txBody>
      </p:sp>
      <p:sp>
        <p:nvSpPr>
          <p:cNvPr id="30" name="lE"/>
          <p:cNvSpPr txBox="1"/>
          <p:nvPr/>
        </p:nvSpPr>
        <p:spPr>
          <a:xfrm>
            <a:off x="8044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Ejecución y cierre · 3 d</a:t>
            </a:r>
            <a:endParaRPr lang="en-US" sz="1200" noProof="1"/>
          </a:p>
        </p:txBody>
      </p:sp>
      <p:sp>
        <p:nvSpPr>
          <p:cNvPr id="31" name="critical"/>
          <p:cNvSpPr txBox="1"/>
          <p:nvPr/>
        </p:nvSpPr>
        <p:spPr>
          <a:xfrm>
            <a:off x="965200" y="5499100"/>
            <a:ext cx="10287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Ruta crítica: A → B → D → E = 15 días  ·  Una demora en esta secuencia mueve la fecha final.</a:t>
            </a:r>
            <a:endParaRPr lang="en-US" sz="17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PERT · INTERPRETACIÓN DEL PLAZO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probabilidad ayuda a evaluar si un plazo es realista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supuestos simplificados: σ = 2 semanas.</a:t>
            </a:r>
            <a:endParaRPr lang="en-US" sz="900" noProof="1"/>
          </a:p>
        </p:txBody>
      </p:sp>
      <p:sp>
        <p:nvSpPr>
          <p:cNvPr id="11" name="given"/>
          <p:cNvSpPr txBox="1"/>
          <p:nvPr/>
        </p:nvSpPr>
        <p:spPr>
          <a:xfrm>
            <a:off x="812800" y="1905000"/>
            <a:ext cx="10287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Tiempo esperado del proyecto: 20 semanas. Se evalúa cumplir en 22 o en 18 semanas.</a:t>
            </a:r>
            <a:endParaRPr lang="en-US" sz="1900" noProof="1"/>
          </a:p>
        </p:txBody>
      </p:sp>
      <p:sp>
        <p:nvSpPr>
          <p:cNvPr id="12" name="w0"/>
          <p:cNvSpPr txBox="1"/>
          <p:nvPr/>
        </p:nvSpPr>
        <p:spPr>
          <a:xfrm>
            <a:off x="8890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22 semanas</a:t>
            </a:r>
            <a:endParaRPr lang="en-US" sz="2200" noProof="1"/>
          </a:p>
        </p:txBody>
      </p:sp>
      <p:sp>
        <p:nvSpPr>
          <p:cNvPr id="13" name="z0"/>
          <p:cNvSpPr txBox="1"/>
          <p:nvPr/>
        </p:nvSpPr>
        <p:spPr>
          <a:xfrm>
            <a:off x="8890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+1</a:t>
            </a:r>
            <a:endParaRPr lang="en-US" sz="1700" noProof="1"/>
          </a:p>
        </p:txBody>
      </p:sp>
      <p:sp>
        <p:nvSpPr>
          <p:cNvPr id="14" name="p0"/>
          <p:cNvSpPr txBox="1"/>
          <p:nvPr/>
        </p:nvSpPr>
        <p:spPr>
          <a:xfrm>
            <a:off x="8890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173F3A"/>
                </a:solidFill>
                <a:latin typeface="Aptos"/>
                <a:ea typeface="Aptos"/>
              </a:rPr>
              <a:t>84 %</a:t>
            </a:r>
            <a:endParaRPr lang="en-US" sz="4400" noProof="1"/>
          </a:p>
        </p:txBody>
      </p:sp>
      <p:sp>
        <p:nvSpPr>
          <p:cNvPr id="15" name="l0"/>
          <p:cNvSpPr txBox="1"/>
          <p:nvPr/>
        </p:nvSpPr>
        <p:spPr>
          <a:xfrm>
            <a:off x="8890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Plazo relativamente favorable</a:t>
            </a:r>
            <a:endParaRPr lang="en-US" sz="1600" noProof="1"/>
          </a:p>
        </p:txBody>
      </p:sp>
      <p:sp>
        <p:nvSpPr>
          <p:cNvPr id="16" name="w1"/>
          <p:cNvSpPr txBox="1"/>
          <p:nvPr/>
        </p:nvSpPr>
        <p:spPr>
          <a:xfrm>
            <a:off x="64135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B84A44"/>
                </a:solidFill>
                <a:latin typeface="Aptos"/>
                <a:ea typeface="Aptos"/>
              </a:rPr>
              <a:t>18 semanas</a:t>
            </a:r>
            <a:endParaRPr lang="en-US" sz="2200" noProof="1"/>
          </a:p>
        </p:txBody>
      </p:sp>
      <p:sp>
        <p:nvSpPr>
          <p:cNvPr id="17" name="z1"/>
          <p:cNvSpPr txBox="1"/>
          <p:nvPr/>
        </p:nvSpPr>
        <p:spPr>
          <a:xfrm>
            <a:off x="64135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−1</a:t>
            </a:r>
            <a:endParaRPr lang="en-US" sz="1700" noProof="1"/>
          </a:p>
        </p:txBody>
      </p:sp>
      <p:sp>
        <p:nvSpPr>
          <p:cNvPr id="18" name="p1"/>
          <p:cNvSpPr txBox="1"/>
          <p:nvPr/>
        </p:nvSpPr>
        <p:spPr>
          <a:xfrm>
            <a:off x="64135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B84A44"/>
                </a:solidFill>
                <a:latin typeface="Aptos"/>
                <a:ea typeface="Aptos"/>
              </a:rPr>
              <a:t>16 %</a:t>
            </a:r>
            <a:endParaRPr lang="en-US" sz="4400" noProof="1"/>
          </a:p>
        </p:txBody>
      </p:sp>
      <p:sp>
        <p:nvSpPr>
          <p:cNvPr id="19" name="l1"/>
          <p:cNvSpPr txBox="1"/>
          <p:nvPr/>
        </p:nvSpPr>
        <p:spPr>
          <a:xfrm>
            <a:off x="64135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B84A44"/>
                </a:solidFill>
                <a:latin typeface="Aptos"/>
                <a:ea typeface="Aptos"/>
              </a:rPr>
              <a:t>Plazo poco probable</a:t>
            </a:r>
            <a:endParaRPr lang="en-US" sz="1600" noProof="1"/>
          </a:p>
        </p:txBody>
      </p:sp>
      <p:sp>
        <p:nvSpPr>
          <p:cNvPr id="20" name="caution"/>
          <p:cNvSpPr txBox="1"/>
          <p:nvPr/>
        </p:nvSpPr>
        <p:spPr>
          <a:xfrm>
            <a:off x="863600" y="5626100"/>
            <a:ext cx="1041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>
                <a:solidFill>
                  <a:srgbClr val="6B7C77"/>
                </a:solidFill>
                <a:latin typeface="Aptos"/>
                <a:ea typeface="Aptos"/>
              </a:rPr>
              <a:t>La cifra orienta la conversación sobre recursos y compromisos; depende de la calidad de los estimados.</a:t>
            </a:r>
            <a:endParaRPr lang="en-US" sz="1400" noProof="1"/>
          </a:p>
        </p:txBody>
      </p:sp>
      <p:sp>
        <p:nvSpPr>
          <p:cNvPr id="21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2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3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VENTAJAS Y LÍMITES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ayuda a decidir, pero exige actualizarse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Kerzner (2017).</a:t>
            </a:r>
            <a:endParaRPr lang="en-US" sz="900" noProof="1"/>
          </a:p>
        </p:txBody>
      </p:sp>
      <p:sp>
        <p:nvSpPr>
          <p:cNvPr id="11" name="v"/>
          <p:cNvSpPr txBox="1"/>
          <p:nvPr/>
        </p:nvSpPr>
        <p:spPr>
          <a:xfrm>
            <a:off x="8636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QUÉ APORTA</a:t>
            </a:r>
            <a:endParaRPr lang="en-US" sz="1400" noProof="1"/>
          </a:p>
        </p:txBody>
      </p:sp>
      <p:sp>
        <p:nvSpPr>
          <p:cNvPr id="12" name="l"/>
          <p:cNvSpPr txBox="1"/>
          <p:nvPr/>
        </p:nvSpPr>
        <p:spPr>
          <a:xfrm>
            <a:off x="67310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B84A44"/>
                </a:solidFill>
                <a:latin typeface="Aptos"/>
                <a:ea typeface="Aptos"/>
              </a:rPr>
              <a:t>QUÉ DEBE CUIDARSE</a:t>
            </a:r>
            <a:endParaRPr lang="en-US" sz="1400" noProof="1"/>
          </a:p>
        </p:txBody>
      </p:sp>
      <p:sp>
        <p:nvSpPr>
          <p:cNvPr id="13" name="ic680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4" name="t680"/>
          <p:cNvSpPr txBox="1"/>
          <p:nvPr/>
        </p:nvSpPr>
        <p:spPr>
          <a:xfrm>
            <a:off x="12700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Hace explícitas las dependencias.</a:t>
            </a:r>
            <a:endParaRPr lang="en-US" sz="1600" noProof="1"/>
          </a:p>
        </p:txBody>
      </p:sp>
      <p:sp>
        <p:nvSpPr>
          <p:cNvPr id="15" name="ic681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t681"/>
          <p:cNvSpPr txBox="1"/>
          <p:nvPr/>
        </p:nvSpPr>
        <p:spPr>
          <a:xfrm>
            <a:off x="12700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Permite analizar escenarios de duración.</a:t>
            </a:r>
            <a:endParaRPr lang="en-US" sz="1600" noProof="1"/>
          </a:p>
        </p:txBody>
      </p:sp>
      <p:sp>
        <p:nvSpPr>
          <p:cNvPr id="17" name="ic682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8" name="t682"/>
          <p:cNvSpPr txBox="1"/>
          <p:nvPr/>
        </p:nvSpPr>
        <p:spPr>
          <a:xfrm>
            <a:off x="12700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Ayuda a priorizar actividades críticas.</a:t>
            </a:r>
            <a:endParaRPr lang="en-US" sz="1600" noProof="1"/>
          </a:p>
        </p:txBody>
      </p:sp>
      <p:sp>
        <p:nvSpPr>
          <p:cNvPr id="19" name="ic683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0" name="t683"/>
          <p:cNvSpPr txBox="1"/>
          <p:nvPr/>
        </p:nvSpPr>
        <p:spPr>
          <a:xfrm>
            <a:off x="12700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Facilita conversar sobre riesgos y plazos.</a:t>
            </a:r>
            <a:endParaRPr lang="en-US" sz="1600" noProof="1"/>
          </a:p>
        </p:txBody>
      </p:sp>
      <p:sp>
        <p:nvSpPr>
          <p:cNvPr id="21" name="ic5300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2" name="t5300"/>
          <p:cNvSpPr txBox="1"/>
          <p:nvPr/>
        </p:nvSpPr>
        <p:spPr>
          <a:xfrm>
            <a:off x="71374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Los estimados pueden ser subjetivos.</a:t>
            </a:r>
            <a:endParaRPr lang="en-US" sz="1600" noProof="1"/>
          </a:p>
        </p:txBody>
      </p:sp>
      <p:sp>
        <p:nvSpPr>
          <p:cNvPr id="23" name="ic5301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4" name="t5301"/>
          <p:cNvSpPr txBox="1"/>
          <p:nvPr/>
        </p:nvSpPr>
        <p:spPr>
          <a:xfrm>
            <a:off x="71374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Supone independencia entre estimados.</a:t>
            </a:r>
            <a:endParaRPr lang="en-US" sz="1600" noProof="1"/>
          </a:p>
        </p:txBody>
      </p:sp>
      <p:sp>
        <p:nvSpPr>
          <p:cNvPr id="25" name="ic5302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6" name="t5302"/>
          <p:cNvSpPr txBox="1"/>
          <p:nvPr/>
        </p:nvSpPr>
        <p:spPr>
          <a:xfrm>
            <a:off x="71374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La red exige mantenimiento durante el proyecto.</a:t>
            </a:r>
            <a:endParaRPr lang="en-US" sz="1600" noProof="1"/>
          </a:p>
        </p:txBody>
      </p:sp>
      <p:sp>
        <p:nvSpPr>
          <p:cNvPr id="27" name="ic5303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8" name="t5303"/>
          <p:cNvSpPr txBox="1"/>
          <p:nvPr/>
        </p:nvSpPr>
        <p:spPr>
          <a:xfrm>
            <a:off x="71374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No reemplaza el juicio ni la gestión de recursos.</a:t>
            </a:r>
            <a:endParaRPr lang="en-US" sz="1600" noProof="1"/>
          </a:p>
        </p:txBody>
      </p:sp>
      <p:sp>
        <p:nvSpPr>
          <p:cNvPr id="29" name="mid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6096000" y="1917700"/>
            <a:ext cx="12700" cy="35306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CPM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ruta crítica muestra qué demora afecta todo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Kelley y Walker (1959); PMI (2021).</a:t>
            </a:r>
            <a:endParaRPr lang="en-US" sz="900" noProof="1"/>
          </a:p>
        </p:txBody>
      </p:sp>
      <p:sp>
        <p:nvSpPr>
          <p:cNvPr id="11" name="p0"/>
          <p:cNvSpPr txBox="1"/>
          <p:nvPr/>
        </p:nvSpPr>
        <p:spPr>
          <a:xfrm>
            <a:off x="889000" y="2095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F06449"/>
                </a:solidFill>
                <a:latin typeface="Aptos"/>
                <a:ea typeface="Aptos"/>
              </a:rPr>
              <a:t>Ruta A–B–D–E</a:t>
            </a:r>
            <a:endParaRPr lang="en-US" sz="2200" noProof="1"/>
          </a:p>
        </p:txBody>
      </p:sp>
      <p:sp>
        <p:nvSpPr>
          <p:cNvPr id="12" name="d0"/>
          <p:cNvSpPr txBox="1"/>
          <p:nvPr/>
        </p:nvSpPr>
        <p:spPr>
          <a:xfrm>
            <a:off x="5397500" y="2095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F06449"/>
                </a:solidFill>
                <a:latin typeface="Aptos"/>
                <a:ea typeface="Aptos"/>
              </a:rPr>
              <a:t>15 días</a:t>
            </a:r>
            <a:endParaRPr lang="en-US" sz="2900" noProof="1"/>
          </a:p>
        </p:txBody>
      </p:sp>
      <p:sp>
        <p:nvSpPr>
          <p:cNvPr id="13" name="h0"/>
          <p:cNvSpPr txBox="1"/>
          <p:nvPr/>
        </p:nvSpPr>
        <p:spPr>
          <a:xfrm>
            <a:off x="7747000" y="2095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0 días de holgura</a:t>
            </a:r>
            <a:endParaRPr lang="en-US" sz="1800" noProof="1"/>
          </a:p>
        </p:txBody>
      </p:sp>
      <p:sp>
        <p:nvSpPr>
          <p:cNvPr id="14" name="tag0"/>
          <p:cNvSpPr txBox="1"/>
          <p:nvPr/>
        </p:nvSpPr>
        <p:spPr>
          <a:xfrm>
            <a:off x="7747000" y="2603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CRÍTICA</a:t>
            </a:r>
            <a:endParaRPr lang="en-US" sz="12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3136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p1"/>
          <p:cNvSpPr txBox="1"/>
          <p:nvPr/>
        </p:nvSpPr>
        <p:spPr>
          <a:xfrm>
            <a:off x="889000" y="3746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Ruta A–C–E</a:t>
            </a:r>
            <a:endParaRPr lang="en-US" sz="2200" noProof="1"/>
          </a:p>
        </p:txBody>
      </p:sp>
      <p:sp>
        <p:nvSpPr>
          <p:cNvPr id="17" name="d1"/>
          <p:cNvSpPr txBox="1"/>
          <p:nvPr/>
        </p:nvSpPr>
        <p:spPr>
          <a:xfrm>
            <a:off x="5397500" y="3746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8 días</a:t>
            </a:r>
            <a:endParaRPr lang="en-US" sz="2900" noProof="1"/>
          </a:p>
        </p:txBody>
      </p:sp>
      <p:sp>
        <p:nvSpPr>
          <p:cNvPr id="18" name="h1"/>
          <p:cNvSpPr txBox="1"/>
          <p:nvPr/>
        </p:nvSpPr>
        <p:spPr>
          <a:xfrm>
            <a:off x="7747000" y="3746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7 días de holgura</a:t>
            </a:r>
            <a:endParaRPr lang="en-US" sz="1800" noProof="1"/>
          </a:p>
        </p:txBody>
      </p:sp>
      <p:sp>
        <p:nvSpPr>
          <p:cNvPr id="19" name="tag1"/>
          <p:cNvSpPr txBox="1"/>
          <p:nvPr/>
        </p:nvSpPr>
        <p:spPr>
          <a:xfrm>
            <a:off x="7747000" y="4254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173F3A"/>
                </a:solidFill>
                <a:latin typeface="Aptos"/>
                <a:ea typeface="Aptos"/>
              </a:rPr>
              <a:t>NO CRÍTICA</a:t>
            </a:r>
            <a:endParaRPr lang="en-US" sz="12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4787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f"/>
          <p:cNvSpPr txBox="1"/>
          <p:nvPr/>
        </p:nvSpPr>
        <p:spPr>
          <a:xfrm>
            <a:off x="889000" y="5511800"/>
            <a:ext cx="10287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Holgura: tiempo que una actividad puede retrasarse sin modificar la fecha de terminación del proyecto.</a:t>
            </a:r>
            <a:endParaRPr lang="en-US" sz="1600" noProof="1"/>
          </a:p>
        </p:txBody>
      </p:sp>
      <p:sp>
        <p:nvSpPr>
          <p:cNvPr id="2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PARA ELEGIR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herramienta depende del problema a resolver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16</a:t>
            </a:r>
            <a:endParaRPr lang="en-US" sz="1100" noProof="1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736600" y="1917700"/>
          <a:ext cx="10718800" cy="3632200"/>
        </p:xfrm>
        <a:graphic>
          <a:graphicData uri="http://schemas.openxmlformats.org/drawingml/2006/table">
            <a:tbl>
              <a:tblPr/>
              <a:tblGrid>
                <a:gridCol w="2358136"/>
                <a:gridCol w="3430016"/>
                <a:gridCol w="2894076"/>
                <a:gridCol w="2036572"/>
              </a:tblGrid>
              <a:tr h="653796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Herramienta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Pregunta principal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Aporta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Ideal cuando…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Benchmarking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nivel aspirar?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Referentes y brechas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prácticas comparables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Gantt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¿Cuándo se ejecuta?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Calendario visible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El proyecto es sencillo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PERT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duración esperar?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Escenarios e incertidumbre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poca experiencia previa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CPM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no puede retrasarse?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Ruta crítica y holguras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Las dependencias son claras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ule"/>
          <p:cNvSpPr txBox="1"/>
          <p:nvPr/>
        </p:nvSpPr>
        <p:spPr>
          <a:xfrm>
            <a:off x="825500" y="5816600"/>
            <a:ext cx="1041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En la práctica pueden complementarse: benchmarking para la meta; Gantt, PERT o CPM para ejecutar y controlar.</a:t>
            </a:r>
            <a:endParaRPr lang="en-US" sz="1400" noProof="1"/>
          </a:p>
        </p:txBody>
      </p:sp>
      <p:sp>
        <p:nvSpPr>
          <p:cNvPr id="1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PRÁCTICA GRUPAL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Caso: una feria universitaria se atrasa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Escenario ficticio para discusión en clase.</a:t>
            </a:r>
            <a:endParaRPr lang="en-US" sz="900" noProof="1"/>
          </a:p>
        </p:txBody>
      </p:sp>
      <p:sp>
        <p:nvSpPr>
          <p:cNvPr id="11" name="case"/>
          <p:cNvSpPr/>
          <p:nvPr/>
        </p:nvSpPr>
        <p:spPr>
          <a:xfrm>
            <a:off x="736600" y="1879600"/>
            <a:ext cx="3873500" cy="3556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2" name="ct"/>
          <p:cNvSpPr txBox="1"/>
          <p:nvPr/>
        </p:nvSpPr>
        <p:spPr>
          <a:xfrm>
            <a:off x="1016000" y="21717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SITUACIÓN</a:t>
            </a:r>
            <a:endParaRPr lang="en-US" sz="1300" noProof="1"/>
          </a:p>
        </p:txBody>
      </p:sp>
      <p:sp>
        <p:nvSpPr>
          <p:cNvPr id="13" name="cb"/>
          <p:cNvSpPr txBox="1"/>
          <p:nvPr/>
        </p:nvSpPr>
        <p:spPr>
          <a:xfrm>
            <a:off x="1016000" y="2628900"/>
            <a:ext cx="3238500" cy="220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500" noProof="1">
                <a:solidFill>
                  <a:srgbClr val="173F3A"/>
                </a:solidFill>
                <a:latin typeface="Aptos"/>
                <a:ea typeface="Aptos"/>
              </a:rPr>
              <a:t>Faltan 4 semanas para la feria.
La promoción lleva una semana de retraso y dos proveedores aún no confirman.
El equipo dispone de un presupuesto limitado.</a:t>
            </a:r>
            <a:endParaRPr lang="en-US" sz="1800" noProof="1"/>
          </a:p>
        </p:txBody>
      </p:sp>
      <p:sp>
        <p:nvSpPr>
          <p:cNvPr id="14" name="task"/>
          <p:cNvSpPr txBox="1"/>
          <p:nvPr/>
        </p:nvSpPr>
        <p:spPr>
          <a:xfrm>
            <a:off x="5143500" y="1943100"/>
            <a:ext cx="584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DECISIONES QUE DEBEN JUSTIFICAR</a:t>
            </a:r>
            <a:endParaRPr lang="en-US" sz="1400" noProof="1"/>
          </a:p>
        </p:txBody>
      </p:sp>
      <p:sp>
        <p:nvSpPr>
          <p:cNvPr id="15" name="n0"/>
          <p:cNvSpPr txBox="1"/>
          <p:nvPr/>
        </p:nvSpPr>
        <p:spPr>
          <a:xfrm>
            <a:off x="5168900" y="26035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1700" noProof="1"/>
          </a:p>
        </p:txBody>
      </p:sp>
      <p:sp>
        <p:nvSpPr>
          <p:cNvPr id="16" name="q0"/>
          <p:cNvSpPr txBox="1"/>
          <p:nvPr/>
        </p:nvSpPr>
        <p:spPr>
          <a:xfrm>
            <a:off x="5715000" y="25781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estándar e indicador revisarían primero?</a:t>
            </a:r>
            <a:endParaRPr lang="en-US" sz="1700" noProof="1"/>
          </a:p>
        </p:txBody>
      </p:sp>
      <p:sp>
        <p:nvSpPr>
          <p:cNvPr id="17" name="n1"/>
          <p:cNvSpPr txBox="1"/>
          <p:nvPr/>
        </p:nvSpPr>
        <p:spPr>
          <a:xfrm>
            <a:off x="5168900" y="33782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1700" noProof="1"/>
          </a:p>
        </p:txBody>
      </p:sp>
      <p:sp>
        <p:nvSpPr>
          <p:cNvPr id="18" name="q1"/>
          <p:cNvSpPr txBox="1"/>
          <p:nvPr/>
        </p:nvSpPr>
        <p:spPr>
          <a:xfrm>
            <a:off x="5715000" y="33528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 parece crítica y qué datos faltan para confirmarlo?</a:t>
            </a:r>
            <a:endParaRPr lang="en-US" sz="1700" noProof="1"/>
          </a:p>
        </p:txBody>
      </p:sp>
      <p:sp>
        <p:nvSpPr>
          <p:cNvPr id="19" name="n2"/>
          <p:cNvSpPr txBox="1"/>
          <p:nvPr/>
        </p:nvSpPr>
        <p:spPr>
          <a:xfrm>
            <a:off x="5168900" y="41529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1700" noProof="1"/>
          </a:p>
        </p:txBody>
      </p:sp>
      <p:sp>
        <p:nvSpPr>
          <p:cNvPr id="20" name="q2"/>
          <p:cNvSpPr txBox="1"/>
          <p:nvPr/>
        </p:nvSpPr>
        <p:spPr>
          <a:xfrm>
            <a:off x="5715000" y="41275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herramienta usarían para replanificar y por qué?</a:t>
            </a:r>
            <a:endParaRPr lang="en-US" sz="1700" noProof="1"/>
          </a:p>
        </p:txBody>
      </p:sp>
      <p:sp>
        <p:nvSpPr>
          <p:cNvPr id="21" name="n3"/>
          <p:cNvSpPr txBox="1"/>
          <p:nvPr/>
        </p:nvSpPr>
        <p:spPr>
          <a:xfrm>
            <a:off x="5168900" y="4927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1700" noProof="1"/>
          </a:p>
        </p:txBody>
      </p:sp>
      <p:sp>
        <p:nvSpPr>
          <p:cNvPr id="22" name="q3"/>
          <p:cNvSpPr txBox="1"/>
          <p:nvPr/>
        </p:nvSpPr>
        <p:spPr>
          <a:xfrm>
            <a:off x="5715000" y="49022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acción correctiva proponen sin comprometer la calidad?</a:t>
            </a:r>
            <a:endParaRPr lang="en-US" sz="17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RETROALIMENTACIÓN DEL CASO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Respuesta sólida: evidencia, prioridad y acción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18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825500" y="19050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1" name="b0"/>
          <p:cNvSpPr txBox="1"/>
          <p:nvPr/>
        </p:nvSpPr>
        <p:spPr>
          <a:xfrm>
            <a:off x="2603500" y="18796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Confirmar el avance real de promoción y proveedores; comparar contra el plan semanal.</a:t>
            </a:r>
            <a:endParaRPr lang="en-US" sz="1700" noProof="1"/>
          </a:p>
        </p:txBody>
      </p:sp>
      <p:sp>
        <p:nvSpPr>
          <p:cNvPr id="12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26035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3" name="h1"/>
          <p:cNvSpPr txBox="1"/>
          <p:nvPr/>
        </p:nvSpPr>
        <p:spPr>
          <a:xfrm>
            <a:off x="825500" y="28702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Priorizar</a:t>
            </a:r>
            <a:endParaRPr lang="en-US" sz="2000" noProof="1"/>
          </a:p>
        </p:txBody>
      </p:sp>
      <p:sp>
        <p:nvSpPr>
          <p:cNvPr id="14" name="b1"/>
          <p:cNvSpPr txBox="1"/>
          <p:nvPr/>
        </p:nvSpPr>
        <p:spPr>
          <a:xfrm>
            <a:off x="2603500" y="28448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Revisar dependencias y holguras antes de declarar una actividad como crítica.</a:t>
            </a:r>
            <a:endParaRPr lang="en-US" sz="1700" noProof="1"/>
          </a:p>
        </p:txBody>
      </p:sp>
      <p:sp>
        <p:nvSpPr>
          <p:cNvPr id="15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35687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h2"/>
          <p:cNvSpPr txBox="1"/>
          <p:nvPr/>
        </p:nvSpPr>
        <p:spPr>
          <a:xfrm>
            <a:off x="825500" y="38354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Decidir</a:t>
            </a:r>
            <a:endParaRPr lang="en-US" sz="2000" noProof="1"/>
          </a:p>
        </p:txBody>
      </p:sp>
      <p:sp>
        <p:nvSpPr>
          <p:cNvPr id="17" name="b2"/>
          <p:cNvSpPr txBox="1"/>
          <p:nvPr/>
        </p:nvSpPr>
        <p:spPr>
          <a:xfrm>
            <a:off x="2603500" y="38100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Actualizar el Gantt y, si las duraciones son inciertas, estimar escenarios con PERT.</a:t>
            </a:r>
            <a:endParaRPr lang="en-US" sz="1700" noProof="1"/>
          </a:p>
        </p:txBody>
      </p:sp>
      <p:sp>
        <p:nvSpPr>
          <p:cNvPr id="18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45339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9" name="h3"/>
          <p:cNvSpPr txBox="1"/>
          <p:nvPr/>
        </p:nvSpPr>
        <p:spPr>
          <a:xfrm>
            <a:off x="825500" y="48006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0" name="b3"/>
          <p:cNvSpPr txBox="1"/>
          <p:nvPr/>
        </p:nvSpPr>
        <p:spPr>
          <a:xfrm>
            <a:off x="2603500" y="47752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Reasignar apoyo a promoción, negociar confirmaciones y definir un responsable de seguimiento.</a:t>
            </a:r>
            <a:endParaRPr lang="en-US" sz="1700" noProof="1"/>
          </a:p>
        </p:txBody>
      </p:sp>
      <p:sp>
        <p:nvSpPr>
          <p:cNvPr id="21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4991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error"/>
          <p:cNvSpPr txBox="1"/>
          <p:nvPr/>
        </p:nvSpPr>
        <p:spPr>
          <a:xfrm>
            <a:off x="863600" y="57912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B84A44"/>
                </a:solidFill>
                <a:latin typeface="Aptos"/>
                <a:ea typeface="Aptos"/>
              </a:rPr>
              <a:t>Error frecuente: acelerar todas las tareas por igual en lugar de atender la restricción que realmente afecta la entrega.</a:t>
            </a:r>
            <a:endParaRPr lang="en-US" sz="13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CONCLUSIONES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Controlar es decidir mejor con información oportuna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19</a:t>
            </a:r>
            <a:endParaRPr lang="en-US" sz="1100" noProof="1"/>
          </a:p>
        </p:txBody>
      </p:sp>
      <p:sp>
        <p:nvSpPr>
          <p:cNvPr id="10" name="n0"/>
          <p:cNvSpPr txBox="1"/>
          <p:nvPr/>
        </p:nvSpPr>
        <p:spPr>
          <a:xfrm>
            <a:off x="863600" y="1854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1" name="t0"/>
          <p:cNvSpPr txBox="1"/>
          <p:nvPr/>
        </p:nvSpPr>
        <p:spPr>
          <a:xfrm>
            <a:off x="1651000" y="18288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El estándar hace evaluable una meta.</a:t>
            </a:r>
            <a:endParaRPr lang="en-US" sz="1900" noProof="1"/>
          </a:p>
        </p:txBody>
      </p:sp>
      <p:sp>
        <p:nvSpPr>
          <p:cNvPr id="12" name="n1"/>
          <p:cNvSpPr txBox="1"/>
          <p:nvPr/>
        </p:nvSpPr>
        <p:spPr>
          <a:xfrm>
            <a:off x="863600" y="26289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3" name="t1"/>
          <p:cNvSpPr txBox="1"/>
          <p:nvPr/>
        </p:nvSpPr>
        <p:spPr>
          <a:xfrm>
            <a:off x="1651000" y="26035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La medición solo sirve si conduce a una decisión.</a:t>
            </a:r>
            <a:endParaRPr lang="en-US" sz="1900" noProof="1"/>
          </a:p>
        </p:txBody>
      </p:sp>
      <p:sp>
        <p:nvSpPr>
          <p:cNvPr id="14" name="n2"/>
          <p:cNvSpPr txBox="1"/>
          <p:nvPr/>
        </p:nvSpPr>
        <p:spPr>
          <a:xfrm>
            <a:off x="863600" y="3403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15" name="t2"/>
          <p:cNvSpPr txBox="1"/>
          <p:nvPr/>
        </p:nvSpPr>
        <p:spPr>
          <a:xfrm>
            <a:off x="1651000" y="33782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Benchmarking abre referentes; no ofrece recetas universales.</a:t>
            </a:r>
            <a:endParaRPr lang="en-US" sz="1900" noProof="1"/>
          </a:p>
        </p:txBody>
      </p:sp>
      <p:sp>
        <p:nvSpPr>
          <p:cNvPr id="16" name="n3"/>
          <p:cNvSpPr txBox="1"/>
          <p:nvPr/>
        </p:nvSpPr>
        <p:spPr>
          <a:xfrm>
            <a:off x="863600" y="41783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500" noProof="1"/>
          </a:p>
        </p:txBody>
      </p:sp>
      <p:sp>
        <p:nvSpPr>
          <p:cNvPr id="17" name="t3"/>
          <p:cNvSpPr txBox="1"/>
          <p:nvPr/>
        </p:nvSpPr>
        <p:spPr>
          <a:xfrm>
            <a:off x="1651000" y="41529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Gantt ordena el tiempo; PERT y CPM, incertidumbre y dependencias.</a:t>
            </a:r>
            <a:endParaRPr lang="en-US" sz="1900" noProof="1"/>
          </a:p>
        </p:txBody>
      </p:sp>
      <p:sp>
        <p:nvSpPr>
          <p:cNvPr id="18" name="n4"/>
          <p:cNvSpPr txBox="1"/>
          <p:nvPr/>
        </p:nvSpPr>
        <p:spPr>
          <a:xfrm>
            <a:off x="863600" y="4953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05</a:t>
            </a:r>
            <a:endParaRPr lang="en-US" sz="1500" noProof="1"/>
          </a:p>
        </p:txBody>
      </p:sp>
      <p:sp>
        <p:nvSpPr>
          <p:cNvPr id="19" name="t4"/>
          <p:cNvSpPr txBox="1"/>
          <p:nvPr/>
        </p:nvSpPr>
        <p:spPr>
          <a:xfrm>
            <a:off x="1651000" y="49276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La herramienta se elige según la pregunta de gestión.</a:t>
            </a:r>
            <a:endParaRPr lang="en-US" sz="1900" noProof="1"/>
          </a:p>
        </p:txBody>
      </p:sp>
      <p:sp>
        <p:nvSpPr>
          <p:cNvPr id="2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FUENTES CONSULTADAS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Referencias y cierre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20</a:t>
            </a:r>
            <a:endParaRPr lang="en-US" sz="1100" noProof="1"/>
          </a:p>
        </p:txBody>
      </p:sp>
      <p:sp>
        <p:nvSpPr>
          <p:cNvPr id="10" name="refs"/>
          <p:cNvSpPr txBox="1"/>
          <p:nvPr/>
        </p:nvSpPr>
        <p:spPr>
          <a:xfrm>
            <a:off x="825500" y="1737360"/>
            <a:ext cx="10414000" cy="3977639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Camp, R. C. (1989).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Benchmarking: The search for industry best practices that lead to superior performance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ASQC Quality Press.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Chiavenato, I. (2014).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Introducción a la teoría general de la 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(8.ª ed.). McGraw-Hill Interamericana.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Clark, W. (1922).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The Gantt chart: A working tool of management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The Ronald Press Company.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Kelley, J. E., y Walker, M. R. (1959). Critical-path planning and scheduling. En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Proceedings of the Eastern Joint Computer Conference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(pp. 160–173). Association for Computing Machinery.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Kerzner, H.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Project management: A systems approach to planning, scheduling, and controlling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(12.ª ed.). Wiley.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Koontz, H., Weihrich, H., y Cannice, M.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Administración: Una perspectiva global, empresarial y de innovación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(15.ª ed.). McGraw-Hill Education.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Malcolm, D. G., Roseboom, J. H., Clark, C. E., y Fazar, W. (1959). Application of a technique for research and development program evaluation.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Operations Research, 7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(5), 646–669.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Project Management Institute. (2021).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 guide to the project management body of knowledge (PMBOK guide)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(7.ª ed.).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Robbins, S. P., y Coulter, M. (2018).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(13.ª ed.). Pearson Educación.</a:t>
            </a:r>
            <a:endParaRPr lang="en-US" sz="1300" noProof="1"/>
          </a:p>
        </p:txBody>
      </p:sp>
      <p:sp>
        <p:nvSpPr>
          <p:cNvPr id="11" name="en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854700"/>
            <a:ext cx="1047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2" name="thanks"/>
          <p:cNvSpPr txBox="1"/>
          <p:nvPr/>
        </p:nvSpPr>
        <p:spPr>
          <a:xfrm>
            <a:off x="825500" y="6057900"/>
            <a:ext cx="825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Gracias · ¿Preguntas?</a:t>
            </a:r>
            <a:endParaRPr lang="en-US" sz="2000" noProof="1"/>
          </a:p>
        </p:txBody>
      </p:sp>
      <p:sp>
        <p:nvSpPr>
          <p:cNvPr id="1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20</Slides>
</Properties>
</file>

<file path=docProps/core.xml><?xml version="1.0" encoding="utf-8"?>
<cp:coreProperties xmlns:dc="http://purl.org/dc/elements/1.1/" xmlns:cp="http://schemas.openxmlformats.org/package/2006/metadata/core-properties">
  <dc:title>Tipos de control administrativo — Edición estilo Canva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